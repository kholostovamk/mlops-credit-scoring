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8" r:id="rId9"/>
    <p:sldId id="263" r:id="rId10"/>
    <p:sldId id="269" r:id="rId11"/>
    <p:sldId id="264" r:id="rId12"/>
    <p:sldId id="265" r:id="rId13"/>
    <p:sldId id="270" r:id="rId14"/>
    <p:sldId id="266" r:id="rId15"/>
    <p:sldId id="267"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76"/>
  </p:normalViewPr>
  <p:slideViewPr>
    <p:cSldViewPr snapToGrid="0" snapToObjects="1">
      <p:cViewPr varScale="1">
        <p:scale>
          <a:sx n="158" d="100"/>
          <a:sy n="158" d="100"/>
        </p:scale>
        <p:origin x="5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2364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Margo, and today I'm going to walk you through my final project — a full end-to-end machine learning system for credit scoring. And when I say end-to-end, I mean it — I didn't just train a model, I built the entire production pipeline around it: how data flows in, how the model gets trained and deployed, how it stays healthy once it's live, and how the whole thing runs automatically without me touching anything. Let me take you through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we're solving is credit card default prediction. A bank wants to know — before extending credit — whether a customer is likely to miss their next payment. Miss too many of these calls and you're writing off billions in losses. I used a real dataset from a Taiwanese bank: 30,000 customers, each described by 23 features — payment history, outstanding balances, credit limit, demographic info. The target variable is binary: did this person default the following month, yes or no. About 22% of customers did, which creates a class imbalance — the model sees far more non-defaults than defaults during training, which actually makes prediction harder and means we have to be careful about which metrics we optimize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system architecture. The core pipeline runs top-to-bottom: ingest the raw data, validate it, train and tune the model, then evaluate it. Those four stages are wired together using a tool called DVC — think of it like a Makefile for machine learning, where each stage declares its inputs and outputs, and only reruns when something actually changed. Wrapping around that pipeline are three cross-cutting layers: CI/CD on GitHub Actions handles automated testing and deployment; Prometheus and Grafana handle real-time monitoring once the model is live; and a governance layer maintains an audit trail and incident runbooks. Everything runs on AWS in the us-east-1 region.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four pipeline stages. Stage one — data ingestion — downloads the UCI dataset from a public URL, extracts it from an Excel file, cleans the column names, and writes it out as a CSV. Stage two — data validation — runs a set of programmatic checks: are any values out of expected range? Are there null values? Is the class balance consistent with what we trained on? If any critical check fails, the stage exits with a non-zero code and the entire pipeline stops — nothing proceeds downstream. Stage three trains the model. Stage four evaluates it and writes metrics to disk. The key thing DVC adds here is reproducibility — every artifact, every dataset version, every model file is tracked by its content hash, so you can always reconstruct exactly what produced a given result.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 I used XGBoost — a gradient-boosted decision tree algorithm that consistently performs well on structured tabular data. But rather than manually tuning hyperparameters, I used Optuna, a framework for automated hyperparameter optimization. It runs 20 trials, each with a different configuration — things like tree depth, learning rate, number of estimators — and evaluates each one using 5-fold cross-validation on the training set. It uses a smart search strategy called TPE — Tree-structured Parzen Estimator — which learns from previous trials to focus on the most promising regions of the search space. Every trial is automatically logged to MLflow — an experiment tracking tool that stores parameters, metrics, and artifacts so you can compare runs later. The best model hit an AUC-ROC of 0.778, which is a solid result for this dataset. I also ran a fairness audit — checking that model performance doesn't degrade significantly for specific demographic groups.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model is trained, it needs to be packaged for deployment. I used Docker for this. The idea is that you describe your entire runtime environment — the OS layer, the Python dependencies, your code, your model file — in a Dockerfile, and Docker builds it into a self-contained image that runs identically anywhere. I used a two-stage build: a builder stage that compiles heavy dependencies like XGBoost, and a slim runtime stage that only includes what's actually needed at inference time, keeping the image small and fast. The model is baked directly into the image. The container exposes a Flask server on port 8080 with two endpoints — GET /ping for health checks and POST /invocations for inference.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deployment I used Amazon SageMaker, which is AWS's managed machine learning serving platform. You give it a Docker image, tell it what instance type to run on, and it handles everything else — provisioning, scaling, health monitoring. The CD pipeline automates the whole flow: build the image, push it to Amazon ECR — their container registry — then create a SageMaker model resource, an endpoint configuration, and finally the endpoint itself. One interesting constraint: the course IAM account didn't have S3 write permissions, so I couldn't use SageMaker's standard model-from-S3 approach. The workaround was baking the model into the Docker image, which actually makes the deployment simpler. There's also error handling for stale endpoints — if a previous deployment left the endpoint in a Failed state, the pipeline detects it, deletes it, and starts fresh.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CI/CD stands for Continuous Integration and Continuous Deployment — it's the practice of automating your testing and release process so that every code change is validated and deployed without manual intervention. On the CI side, which runs on every push or pull request: first, flake8 checks the code for style issues and unused imports. Then pytest runs 13 unit tests covering data validation logic, inference hooks, and metrics computation. Finally, a sanity training job runs the full four-stage pipeline on just 200 rows with 5 Optuna trials — enough to confirm nothing is broken end-to-end, in under two minutes. On the CD side, which triggers only on merges to main: the full pipeline reruns on all the data, the Docker image is built and pushed to ECR, and SageMaker deploys the new endpoint. Total runtime is about 10 minutes. Zero manual steps.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bonus components. The first is governance — which in a production ML context means maintaining accountability for every model version that gets deployed. Every deployment automatically writes a structured audit log entry: which model version, what training date, what dataset hash, what hyperparameters, what performance metrics, how it did on the fairness audit, and who approved it. This is the kind of documentation a bank's risk or compliance team would actually require. The second bonus is an incident playbook — five runbooks, one for each failure mode: endpoint down, feature drift detected, concept drift or model decay, fairness violation, and CI/CD pipeline failure. Each runbook defines the detection signal, the immediate response steps, the escalation path, and the remediation procedure.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optional enhancements are experiment tracking and monitoring. On the left — MLflow. Every Optuna trial is logged as a child run under a parent experiment, so you can see the full history of what was tried and what worked. The best trial's artifacts get promoted to the parent run, and the final model is registered in the MLflow Model Registry with a version number — so you have a clean history of what's been deployed and when. On the right — the monitoring stack. Prometheus scrapes metrics from the inference server every 10 seconds. Those metrics include request throughput, p95 latency, error rate, and prediction probability. Grafana visualizes all of this in a live dashboard. There's also a drift detection sidecar — a separate process running alongside the inference server that maintains a rolling buffer of recent predictions and computes PSI, Population Stability Index, against the training baseline. PSI is a statistical measure of how much a distribution has shifted — if it goes above 0.2, an alert fires.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I'd do differently or think about differently next time. First — IAM permission constraints shaped the architecture in ways I didn't anticipate. Not having S3 write access pushed me toward baking the model into Docker, which turned out to be a cleaner solution, but it's the kind of thing you want to understand upfront. Second — without CloudWatch access, I had no visibility into what was happening inside the container once it was deployed. Adding a local /ping smoke test in CI caught real failures before they ever hit production. Third — DVC and GitHub Actions compose really well. Using the Artifacts API to pass pipeline outputs between jobs was simpler than I expected and removed the need for a dedicated artifact store. Fourth — fairness auditing needs to be built into the evaluation script from day one, not retrofitted later. If it's not automated, it won't happen consistently.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I built a full production ML pipeline that takes raw financial data and produces a live, monitored, automatically redeploying credit scoring service. The model hits 0.778 AUC-ROC, the system tests itself on every commit, and deploys itself to SageMaker on every merge to main. The full code, DVC pipeline, CI/CD configs, Docker setup, monitoring stack, and governance documents are all on GitHub at the link on screen. Thanks.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And here it is in the AWS console — the endpoint is InService, meaning it's live and accepting requests. This was deployed fully automatically by the CD pipeline on merge to main.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Here's the actual CI run from the pull request — all three jobs passed in 2 minutes 31 seconds. Lint, unit tests, sanity training — all green. This triggered automatically the moment I opened the PR.</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And here's the live dashboard during a test traffic burst. You can see requests per second spiking, p95 latency around 10 milliseconds, the rolling mean prediction probability, and system CPU and memory from node-exporter — all updating in real time.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6217920" y="-914400"/>
            <a:ext cx="4754880" cy="4754880"/>
          </a:xfrm>
          <a:prstGeom prst="ellipse">
            <a:avLst/>
          </a:prstGeom>
          <a:solidFill>
            <a:srgbClr val="0D9488">
              <a:alpha val="12000"/>
            </a:srgbClr>
          </a:solidFill>
          <a:ln w="12700">
            <a:solidFill>
              <a:srgbClr val="14B8A6">
                <a:alpha val="30000"/>
              </a:srgbClr>
            </a:solidFill>
            <a:prstDash val="solid"/>
          </a:ln>
        </p:spPr>
        <p:txBody>
          <a:bodyPr/>
          <a:lstStyle/>
          <a:p>
            <a:endParaRPr lang="en-US"/>
          </a:p>
        </p:txBody>
      </p:sp>
      <p:sp>
        <p:nvSpPr>
          <p:cNvPr id="4" name="Shape 2"/>
          <p:cNvSpPr/>
          <p:nvPr/>
        </p:nvSpPr>
        <p:spPr>
          <a:xfrm>
            <a:off x="7498080" y="2926080"/>
            <a:ext cx="2560320" cy="2560320"/>
          </a:xfrm>
          <a:prstGeom prst="ellipse">
            <a:avLst/>
          </a:prstGeom>
          <a:solidFill>
            <a:srgbClr val="0D9488">
              <a:alpha val="8000"/>
            </a:srgbClr>
          </a:solidFill>
          <a:ln w="6350">
            <a:solidFill>
              <a:srgbClr val="14B8A6">
                <a:alpha val="20000"/>
              </a:srgbClr>
            </a:solidFill>
            <a:prstDash val="solid"/>
          </a:ln>
        </p:spPr>
        <p:txBody>
          <a:bodyPr/>
          <a:lstStyle/>
          <a:p>
            <a:endParaRPr lang="en-US"/>
          </a:p>
        </p:txBody>
      </p:sp>
      <p:sp>
        <p:nvSpPr>
          <p:cNvPr id="5" name="Shape 3"/>
          <p:cNvSpPr/>
          <p:nvPr/>
        </p:nvSpPr>
        <p:spPr>
          <a:xfrm>
            <a:off x="457200" y="960120"/>
            <a:ext cx="2103120" cy="347472"/>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457200" y="960120"/>
            <a:ext cx="2103120"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FINAL PROJECT  ·  MLOPS</a:t>
            </a:r>
            <a:endParaRPr lang="en-US" sz="900" dirty="0"/>
          </a:p>
        </p:txBody>
      </p:sp>
      <p:sp>
        <p:nvSpPr>
          <p:cNvPr id="7" name="Text 5"/>
          <p:cNvSpPr/>
          <p:nvPr/>
        </p:nvSpPr>
        <p:spPr>
          <a:xfrm>
            <a:off x="457200" y="1417320"/>
            <a:ext cx="7315200" cy="1920240"/>
          </a:xfrm>
          <a:prstGeom prst="rect">
            <a:avLst/>
          </a:prstGeom>
          <a:noFill/>
          <a:ln/>
        </p:spPr>
        <p:txBody>
          <a:bodyPr wrap="square" lIns="0" tIns="0" rIns="0" bIns="0" rtlCol="0" anchor="t"/>
          <a:lstStyle/>
          <a:p>
            <a:pPr marL="0" indent="0" algn="l">
              <a:buNone/>
            </a:pPr>
            <a:r>
              <a:rPr lang="en-US" sz="4800" b="1" dirty="0">
                <a:solidFill>
                  <a:srgbClr val="FFFFFF"/>
                </a:solidFill>
                <a:latin typeface="Georgia" pitchFamily="34" charset="0"/>
                <a:ea typeface="Georgia" pitchFamily="34" charset="-122"/>
                <a:cs typeface="Georgia" pitchFamily="34" charset="-120"/>
              </a:rPr>
              <a:t>MLOps Credit</a:t>
            </a:r>
            <a:endParaRPr lang="en-US" sz="4800" dirty="0"/>
          </a:p>
          <a:p>
            <a:pPr marL="0" indent="0" algn="l">
              <a:buNone/>
            </a:pPr>
            <a:r>
              <a:rPr lang="en-US" sz="4800" b="1" dirty="0">
                <a:solidFill>
                  <a:srgbClr val="FFFFFF"/>
                </a:solidFill>
                <a:latin typeface="Georgia" pitchFamily="34" charset="0"/>
                <a:ea typeface="Georgia" pitchFamily="34" charset="-122"/>
                <a:cs typeface="Georgia" pitchFamily="34" charset="-120"/>
              </a:rPr>
              <a:t>Scoring Pipeline</a:t>
            </a:r>
            <a:endParaRPr lang="en-US" sz="4800" dirty="0"/>
          </a:p>
        </p:txBody>
      </p:sp>
      <p:sp>
        <p:nvSpPr>
          <p:cNvPr id="8" name="Text 6"/>
          <p:cNvSpPr/>
          <p:nvPr/>
        </p:nvSpPr>
        <p:spPr>
          <a:xfrm>
            <a:off x="457200" y="3429000"/>
            <a:ext cx="7498080" cy="502920"/>
          </a:xfrm>
          <a:prstGeom prst="rect">
            <a:avLst/>
          </a:prstGeom>
          <a:noFill/>
          <a:ln/>
        </p:spPr>
        <p:txBody>
          <a:bodyPr wrap="square" lIns="0" tIns="0" rIns="0" bIns="0" rtlCol="0" anchor="ctr"/>
          <a:lstStyle/>
          <a:p>
            <a:pPr marL="0" indent="0" algn="l">
              <a:buNone/>
            </a:pPr>
            <a:r>
              <a:rPr lang="en-US" sz="1400" dirty="0">
                <a:solidFill>
                  <a:srgbClr val="14B8A6"/>
                </a:solidFill>
                <a:latin typeface="Calibri" pitchFamily="34" charset="0"/>
                <a:ea typeface="Calibri" pitchFamily="34" charset="-122"/>
                <a:cs typeface="Calibri" pitchFamily="34" charset="-120"/>
              </a:rPr>
              <a:t>End-to-End ML Engineering: Data → DVC → Train → Docker → SageMaker → Monitor</a:t>
            </a:r>
            <a:endParaRPr lang="en-US" sz="1400" dirty="0"/>
          </a:p>
        </p:txBody>
      </p:sp>
      <p:sp>
        <p:nvSpPr>
          <p:cNvPr id="9" name="Text 7"/>
          <p:cNvSpPr/>
          <p:nvPr/>
        </p:nvSpPr>
        <p:spPr>
          <a:xfrm>
            <a:off x="457200" y="4498848"/>
            <a:ext cx="4572000" cy="347472"/>
          </a:xfrm>
          <a:prstGeom prst="rect">
            <a:avLst/>
          </a:prstGeom>
          <a:noFill/>
          <a:ln/>
        </p:spPr>
        <p:txBody>
          <a:bodyPr wrap="square" lIns="0" tIns="0" rIns="0" bIns="0" rtlCol="0" anchor="ctr"/>
          <a:lstStyle/>
          <a:p>
            <a:pPr marL="0" indent="0" algn="l">
              <a:buNone/>
            </a:pPr>
            <a:r>
              <a:rPr lang="en-US" sz="1200" dirty="0">
                <a:solidFill>
                  <a:srgbClr val="64748B"/>
                </a:solidFill>
                <a:latin typeface="Calibri" pitchFamily="34" charset="0"/>
                <a:ea typeface="Calibri" pitchFamily="34" charset="-122"/>
                <a:cs typeface="Calibri" pitchFamily="34" charset="-120"/>
              </a:rPr>
              <a:t>Margo Kholostova  ·  April 2026</a:t>
            </a:r>
            <a:endParaRPr lang="en-US" sz="1200" dirty="0"/>
          </a:p>
        </p:txBody>
      </p:sp>
      <p:sp>
        <p:nvSpPr>
          <p:cNvPr id="10" name="Shape 8"/>
          <p:cNvSpPr/>
          <p:nvPr/>
        </p:nvSpPr>
        <p:spPr>
          <a:xfrm>
            <a:off x="5943600" y="4434840"/>
            <a:ext cx="2926080" cy="411480"/>
          </a:xfrm>
          <a:prstGeom prst="rect">
            <a:avLst/>
          </a:prstGeom>
          <a:solidFill>
            <a:srgbClr val="1E3A5F"/>
          </a:solidFill>
          <a:ln w="12700">
            <a:solidFill>
              <a:srgbClr val="0D9488"/>
            </a:solidFill>
            <a:prstDash val="solid"/>
          </a:ln>
        </p:spPr>
        <p:txBody>
          <a:bodyPr/>
          <a:lstStyle/>
          <a:p>
            <a:endParaRPr lang="en-US"/>
          </a:p>
        </p:txBody>
      </p:sp>
      <p:sp>
        <p:nvSpPr>
          <p:cNvPr id="11" name="Text 9"/>
          <p:cNvSpPr/>
          <p:nvPr/>
        </p:nvSpPr>
        <p:spPr>
          <a:xfrm>
            <a:off x="5943600" y="4434840"/>
            <a:ext cx="2926080" cy="411480"/>
          </a:xfrm>
          <a:prstGeom prst="rect">
            <a:avLst/>
          </a:prstGeom>
          <a:noFill/>
          <a:ln/>
        </p:spPr>
        <p:txBody>
          <a:bodyPr wrap="square" lIns="0" tIns="0" rIns="0" bIns="0" rtlCol="0" anchor="ctr"/>
          <a:lstStyle/>
          <a:p>
            <a:pPr marL="0" indent="0" algn="ctr">
              <a:buNone/>
            </a:pPr>
            <a:r>
              <a:rPr lang="en-US" sz="900" dirty="0">
                <a:solidFill>
                  <a:srgbClr val="14B8A6"/>
                </a:solidFill>
                <a:latin typeface="Calibri" pitchFamily="34" charset="0"/>
                <a:ea typeface="Calibri" pitchFamily="34" charset="-122"/>
                <a:cs typeface="Calibri" pitchFamily="34" charset="-120"/>
              </a:rPr>
              <a:t>github.com/kholostovamk/mlops-credit-scoring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65760" y="0"/>
            <a:ext cx="841248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01  Introduction &amp; Problem Statement</a:t>
            </a:r>
            <a:endParaRPr lang="en-US" sz="2600" dirty="0"/>
          </a:p>
        </p:txBody>
      </p:sp>
      <p:sp>
        <p:nvSpPr>
          <p:cNvPr id="5" name="Shape 3"/>
          <p:cNvSpPr/>
          <p:nvPr/>
        </p:nvSpPr>
        <p:spPr>
          <a:xfrm>
            <a:off x="320040" y="1234440"/>
            <a:ext cx="502920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6" name="Shape 4"/>
          <p:cNvSpPr/>
          <p:nvPr/>
        </p:nvSpPr>
        <p:spPr>
          <a:xfrm>
            <a:off x="320040" y="1234440"/>
            <a:ext cx="5029200" cy="73152"/>
          </a:xfrm>
          <a:prstGeom prst="rect">
            <a:avLst/>
          </a:prstGeom>
          <a:solidFill>
            <a:srgbClr val="1B2A4A"/>
          </a:solidFill>
          <a:ln w="12700">
            <a:solidFill>
              <a:srgbClr val="1B2A4A"/>
            </a:solidFill>
            <a:prstDash val="solid"/>
          </a:ln>
        </p:spPr>
        <p:txBody>
          <a:bodyPr/>
          <a:lstStyle/>
          <a:p>
            <a:endParaRPr lang="en-US"/>
          </a:p>
        </p:txBody>
      </p:sp>
      <p:sp>
        <p:nvSpPr>
          <p:cNvPr id="7" name="Shape 5"/>
          <p:cNvSpPr/>
          <p:nvPr/>
        </p:nvSpPr>
        <p:spPr>
          <a:xfrm>
            <a:off x="320040" y="1234440"/>
            <a:ext cx="91440" cy="3566160"/>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548640" y="1389888"/>
            <a:ext cx="4663440" cy="384048"/>
          </a:xfrm>
          <a:prstGeom prst="rect">
            <a:avLst/>
          </a:prstGeom>
          <a:noFill/>
          <a:ln/>
        </p:spPr>
        <p:txBody>
          <a:bodyPr wrap="square" lIns="0" tIns="0" rIns="0" bIns="0" rtlCol="0" anchor="ctr"/>
          <a:lstStyle/>
          <a:p>
            <a:pPr marL="0" indent="0" algn="l">
              <a:buNone/>
            </a:pPr>
            <a:r>
              <a:rPr lang="en-US" sz="1600" b="1" dirty="0">
                <a:solidFill>
                  <a:srgbClr val="1B2A4A"/>
                </a:solidFill>
                <a:latin typeface="Georgia" pitchFamily="34" charset="0"/>
                <a:ea typeface="Georgia" pitchFamily="34" charset="-122"/>
                <a:cs typeface="Georgia" pitchFamily="34" charset="-120"/>
              </a:rPr>
              <a:t>The Problem</a:t>
            </a:r>
            <a:endParaRPr lang="en-US" sz="1600" dirty="0"/>
          </a:p>
        </p:txBody>
      </p:sp>
      <p:sp>
        <p:nvSpPr>
          <p:cNvPr id="9" name="Text 7"/>
          <p:cNvSpPr/>
          <p:nvPr/>
        </p:nvSpPr>
        <p:spPr>
          <a:xfrm>
            <a:off x="548640" y="1828800"/>
            <a:ext cx="4572000" cy="777240"/>
          </a:xfrm>
          <a:prstGeom prst="rect">
            <a:avLst/>
          </a:prstGeom>
          <a:noFill/>
          <a:ln/>
        </p:spPr>
        <p:txBody>
          <a:bodyPr wrap="square" lIns="0" tIns="0" rIns="0" bIns="0" rtlCol="0" anchor="ctr"/>
          <a:lstStyle/>
          <a:p>
            <a:pPr marL="0" indent="0" algn="l">
              <a:buNone/>
            </a:pPr>
            <a:r>
              <a:rPr lang="en-US" sz="1250" dirty="0">
                <a:solidFill>
                  <a:srgbClr val="1E293B"/>
                </a:solidFill>
                <a:latin typeface="Calibri" pitchFamily="34" charset="0"/>
                <a:ea typeface="Calibri" pitchFamily="34" charset="-122"/>
                <a:cs typeface="Calibri" pitchFamily="34" charset="-120"/>
              </a:rPr>
              <a:t>Financial institutions must predict credit card default risk before extending credit. Late or missed payments cost billions annually in write-offs and provisioning costs.</a:t>
            </a:r>
            <a:endParaRPr lang="en-US" sz="1250" dirty="0"/>
          </a:p>
        </p:txBody>
      </p:sp>
      <p:sp>
        <p:nvSpPr>
          <p:cNvPr id="10" name="Text 8"/>
          <p:cNvSpPr/>
          <p:nvPr/>
        </p:nvSpPr>
        <p:spPr>
          <a:xfrm>
            <a:off x="548640" y="2697480"/>
            <a:ext cx="4572000" cy="347472"/>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Dataset</a:t>
            </a:r>
            <a:endParaRPr lang="en-US" sz="1400" dirty="0"/>
          </a:p>
        </p:txBody>
      </p:sp>
      <p:sp>
        <p:nvSpPr>
          <p:cNvPr id="11" name="Text 9"/>
          <p:cNvSpPr/>
          <p:nvPr/>
        </p:nvSpPr>
        <p:spPr>
          <a:xfrm>
            <a:off x="548640" y="3090672"/>
            <a:ext cx="4572000" cy="1508760"/>
          </a:xfrm>
          <a:prstGeom prst="rect">
            <a:avLst/>
          </a:prstGeom>
          <a:noFill/>
          <a:ln/>
        </p:spPr>
        <p:txBody>
          <a:bodyPr wrap="square" lIns="0" tIns="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UCI Default of Credit Card Clients</a:t>
            </a:r>
            <a:endParaRPr lang="en-US" sz="1200" dirty="0"/>
          </a:p>
          <a:p>
            <a:pPr marL="0" indent="0" algn="l">
              <a:buNone/>
            </a:pPr>
            <a:r>
              <a:rPr lang="en-US" sz="1200" dirty="0">
                <a:solidFill>
                  <a:srgbClr val="1E293B"/>
                </a:solidFill>
                <a:latin typeface="Calibri" pitchFamily="34" charset="0"/>
                <a:ea typeface="Calibri" pitchFamily="34" charset="-122"/>
                <a:cs typeface="Calibri" pitchFamily="34" charset="-120"/>
              </a:rPr>
              <a:t>Taiwan bank, 2005  ·  Target: will this customer default next month?</a:t>
            </a:r>
            <a:endParaRPr lang="en-US" sz="1200" dirty="0"/>
          </a:p>
          <a:p>
            <a:pPr marL="0" indent="0" algn="l">
              <a:buNone/>
            </a:pPr>
            <a:endParaRPr lang="en-US" sz="1200" dirty="0"/>
          </a:p>
          <a:p>
            <a:pPr marL="0" indent="0" algn="l">
              <a:buNone/>
            </a:pPr>
            <a:r>
              <a:rPr lang="en-US" sz="1200" dirty="0">
                <a:solidFill>
                  <a:srgbClr val="1E293B"/>
                </a:solidFill>
                <a:latin typeface="Calibri" pitchFamily="34" charset="0"/>
                <a:ea typeface="Calibri" pitchFamily="34" charset="-122"/>
                <a:cs typeface="Calibri" pitchFamily="34" charset="-120"/>
              </a:rPr>
              <a:t>Features: payment history, bill amounts, demographics (23 total)</a:t>
            </a:r>
            <a:endParaRPr lang="en-US" sz="1200" dirty="0"/>
          </a:p>
        </p:txBody>
      </p:sp>
      <p:sp>
        <p:nvSpPr>
          <p:cNvPr id="12" name="Shape 10"/>
          <p:cNvSpPr/>
          <p:nvPr/>
        </p:nvSpPr>
        <p:spPr>
          <a:xfrm>
            <a:off x="5623560" y="1234440"/>
            <a:ext cx="3200400" cy="1042416"/>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13" name="Shape 11"/>
          <p:cNvSpPr/>
          <p:nvPr/>
        </p:nvSpPr>
        <p:spPr>
          <a:xfrm>
            <a:off x="5623560" y="1234440"/>
            <a:ext cx="3200400" cy="64008"/>
          </a:xfrm>
          <a:prstGeom prst="rect">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5623560" y="1307592"/>
            <a:ext cx="3200400" cy="594360"/>
          </a:xfrm>
          <a:prstGeom prst="rect">
            <a:avLst/>
          </a:prstGeom>
          <a:noFill/>
          <a:ln/>
        </p:spPr>
        <p:txBody>
          <a:bodyPr wrap="square" lIns="0" tIns="0" rIns="0" bIns="0" rtlCol="0" anchor="ctr"/>
          <a:lstStyle/>
          <a:p>
            <a:pPr marL="0" indent="0" algn="ctr">
              <a:buNone/>
            </a:pPr>
            <a:r>
              <a:rPr lang="en-US" sz="3600" b="1" dirty="0">
                <a:solidFill>
                  <a:srgbClr val="0D9488"/>
                </a:solidFill>
                <a:latin typeface="Georgia" pitchFamily="34" charset="0"/>
                <a:ea typeface="Georgia" pitchFamily="34" charset="-122"/>
                <a:cs typeface="Georgia" pitchFamily="34" charset="-120"/>
              </a:rPr>
              <a:t>30,000</a:t>
            </a:r>
            <a:endParaRPr lang="en-US" sz="3600" dirty="0"/>
          </a:p>
        </p:txBody>
      </p:sp>
      <p:sp>
        <p:nvSpPr>
          <p:cNvPr id="15" name="Text 13"/>
          <p:cNvSpPr/>
          <p:nvPr/>
        </p:nvSpPr>
        <p:spPr>
          <a:xfrm>
            <a:off x="5623560" y="1901952"/>
            <a:ext cx="320040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Customer Records</a:t>
            </a:r>
            <a:endParaRPr lang="en-US" sz="1100" dirty="0"/>
          </a:p>
        </p:txBody>
      </p:sp>
      <p:sp>
        <p:nvSpPr>
          <p:cNvPr id="16" name="Shape 14"/>
          <p:cNvSpPr/>
          <p:nvPr/>
        </p:nvSpPr>
        <p:spPr>
          <a:xfrm>
            <a:off x="5623560" y="2404872"/>
            <a:ext cx="3200400" cy="1042416"/>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17" name="Shape 15"/>
          <p:cNvSpPr/>
          <p:nvPr/>
        </p:nvSpPr>
        <p:spPr>
          <a:xfrm>
            <a:off x="5623560" y="2404872"/>
            <a:ext cx="3200400" cy="64008"/>
          </a:xfrm>
          <a:prstGeom prst="rect">
            <a:avLst/>
          </a:prstGeom>
          <a:solidFill>
            <a:srgbClr val="1B2A4A"/>
          </a:solidFill>
          <a:ln w="12700">
            <a:solidFill>
              <a:srgbClr val="1B2A4A"/>
            </a:solidFill>
            <a:prstDash val="solid"/>
          </a:ln>
        </p:spPr>
        <p:txBody>
          <a:bodyPr/>
          <a:lstStyle/>
          <a:p>
            <a:endParaRPr lang="en-US"/>
          </a:p>
        </p:txBody>
      </p:sp>
      <p:sp>
        <p:nvSpPr>
          <p:cNvPr id="18" name="Text 16"/>
          <p:cNvSpPr/>
          <p:nvPr/>
        </p:nvSpPr>
        <p:spPr>
          <a:xfrm>
            <a:off x="5623560" y="2478024"/>
            <a:ext cx="3200400" cy="594360"/>
          </a:xfrm>
          <a:prstGeom prst="rect">
            <a:avLst/>
          </a:prstGeom>
          <a:noFill/>
          <a:ln/>
        </p:spPr>
        <p:txBody>
          <a:bodyPr wrap="square" lIns="0" tIns="0" rIns="0" bIns="0" rtlCol="0" anchor="ctr"/>
          <a:lstStyle/>
          <a:p>
            <a:pPr marL="0" indent="0" algn="ctr">
              <a:buNone/>
            </a:pPr>
            <a:r>
              <a:rPr lang="en-US" sz="3600" b="1" dirty="0">
                <a:solidFill>
                  <a:srgbClr val="1B2A4A"/>
                </a:solidFill>
                <a:latin typeface="Georgia" pitchFamily="34" charset="0"/>
                <a:ea typeface="Georgia" pitchFamily="34" charset="-122"/>
                <a:cs typeface="Georgia" pitchFamily="34" charset="-120"/>
              </a:rPr>
              <a:t>23</a:t>
            </a:r>
            <a:endParaRPr lang="en-US" sz="3600" dirty="0"/>
          </a:p>
        </p:txBody>
      </p:sp>
      <p:sp>
        <p:nvSpPr>
          <p:cNvPr id="19" name="Text 17"/>
          <p:cNvSpPr/>
          <p:nvPr/>
        </p:nvSpPr>
        <p:spPr>
          <a:xfrm>
            <a:off x="5623560" y="3072384"/>
            <a:ext cx="320040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Input Features</a:t>
            </a:r>
            <a:endParaRPr lang="en-US" sz="1100" dirty="0"/>
          </a:p>
        </p:txBody>
      </p:sp>
      <p:sp>
        <p:nvSpPr>
          <p:cNvPr id="20" name="Shape 18"/>
          <p:cNvSpPr/>
          <p:nvPr/>
        </p:nvSpPr>
        <p:spPr>
          <a:xfrm>
            <a:off x="5623560" y="3575304"/>
            <a:ext cx="3200400" cy="1042416"/>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21" name="Shape 19"/>
          <p:cNvSpPr/>
          <p:nvPr/>
        </p:nvSpPr>
        <p:spPr>
          <a:xfrm>
            <a:off x="5623560" y="3575304"/>
            <a:ext cx="3200400" cy="64008"/>
          </a:xfrm>
          <a:prstGeom prst="rect">
            <a:avLst/>
          </a:prstGeom>
          <a:solidFill>
            <a:srgbClr val="B45309"/>
          </a:solidFill>
          <a:ln w="12700">
            <a:solidFill>
              <a:srgbClr val="B45309"/>
            </a:solidFill>
            <a:prstDash val="solid"/>
          </a:ln>
        </p:spPr>
        <p:txBody>
          <a:bodyPr/>
          <a:lstStyle/>
          <a:p>
            <a:endParaRPr lang="en-US"/>
          </a:p>
        </p:txBody>
      </p:sp>
      <p:sp>
        <p:nvSpPr>
          <p:cNvPr id="22" name="Text 20"/>
          <p:cNvSpPr/>
          <p:nvPr/>
        </p:nvSpPr>
        <p:spPr>
          <a:xfrm>
            <a:off x="5623560" y="3648456"/>
            <a:ext cx="3200400" cy="594360"/>
          </a:xfrm>
          <a:prstGeom prst="rect">
            <a:avLst/>
          </a:prstGeom>
          <a:noFill/>
          <a:ln/>
        </p:spPr>
        <p:txBody>
          <a:bodyPr wrap="square" lIns="0" tIns="0" rIns="0" bIns="0" rtlCol="0" anchor="ctr"/>
          <a:lstStyle/>
          <a:p>
            <a:pPr marL="0" indent="0" algn="ctr">
              <a:buNone/>
            </a:pPr>
            <a:r>
              <a:rPr lang="en-US" sz="3600" b="1" dirty="0">
                <a:solidFill>
                  <a:srgbClr val="B45309"/>
                </a:solidFill>
                <a:latin typeface="Georgia" pitchFamily="34" charset="0"/>
                <a:ea typeface="Georgia" pitchFamily="34" charset="-122"/>
                <a:cs typeface="Georgia" pitchFamily="34" charset="-120"/>
              </a:rPr>
              <a:t>22.1%</a:t>
            </a:r>
            <a:endParaRPr lang="en-US" sz="3600" dirty="0"/>
          </a:p>
        </p:txBody>
      </p:sp>
      <p:sp>
        <p:nvSpPr>
          <p:cNvPr id="23" name="Text 21"/>
          <p:cNvSpPr/>
          <p:nvPr/>
        </p:nvSpPr>
        <p:spPr>
          <a:xfrm>
            <a:off x="5623560" y="4242816"/>
            <a:ext cx="320040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Default Rate (imbalanced)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365760" y="109728"/>
            <a:ext cx="841248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02  System Architecture</a:t>
            </a:r>
            <a:endParaRPr lang="en-US" sz="2600" dirty="0"/>
          </a:p>
        </p:txBody>
      </p:sp>
      <p:sp>
        <p:nvSpPr>
          <p:cNvPr id="4" name="Shape 2"/>
          <p:cNvSpPr/>
          <p:nvPr/>
        </p:nvSpPr>
        <p:spPr>
          <a:xfrm>
            <a:off x="374904" y="1005840"/>
            <a:ext cx="1261872" cy="1508760"/>
          </a:xfrm>
          <a:prstGeom prst="rect">
            <a:avLst/>
          </a:prstGeom>
          <a:solidFill>
            <a:srgbClr val="0D9488">
              <a:alpha val="85000"/>
            </a:srgbClr>
          </a:solidFill>
          <a:ln w="25400">
            <a:solidFill>
              <a:srgbClr val="0D9488"/>
            </a:solidFill>
            <a:prstDash val="solid"/>
          </a:ln>
        </p:spPr>
        <p:txBody>
          <a:bodyPr/>
          <a:lstStyle/>
          <a:p>
            <a:endParaRPr lang="en-US"/>
          </a:p>
        </p:txBody>
      </p:sp>
      <p:sp>
        <p:nvSpPr>
          <p:cNvPr id="5" name="Text 3"/>
          <p:cNvSpPr/>
          <p:nvPr/>
        </p:nvSpPr>
        <p:spPr>
          <a:xfrm>
            <a:off x="374904" y="1115568"/>
            <a:ext cx="126187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Data</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Ingestion</a:t>
            </a:r>
            <a:endParaRPr lang="en-US" sz="1200" dirty="0"/>
          </a:p>
        </p:txBody>
      </p:sp>
      <p:sp>
        <p:nvSpPr>
          <p:cNvPr id="6" name="Shape 4"/>
          <p:cNvSpPr/>
          <p:nvPr/>
        </p:nvSpPr>
        <p:spPr>
          <a:xfrm>
            <a:off x="539496" y="1828800"/>
            <a:ext cx="932688" cy="0"/>
          </a:xfrm>
          <a:prstGeom prst="line">
            <a:avLst/>
          </a:prstGeom>
          <a:noFill/>
          <a:ln w="6350">
            <a:solidFill>
              <a:srgbClr val="FFFFFF">
                <a:alpha val="40000"/>
              </a:srgbClr>
            </a:solidFill>
            <a:prstDash val="solid"/>
          </a:ln>
        </p:spPr>
        <p:txBody>
          <a:bodyPr/>
          <a:lstStyle/>
          <a:p>
            <a:endParaRPr lang="en-US"/>
          </a:p>
        </p:txBody>
      </p:sp>
      <p:sp>
        <p:nvSpPr>
          <p:cNvPr id="7" name="Text 5"/>
          <p:cNvSpPr/>
          <p:nvPr/>
        </p:nvSpPr>
        <p:spPr>
          <a:xfrm>
            <a:off x="374904" y="1883664"/>
            <a:ext cx="1261872" cy="566928"/>
          </a:xfrm>
          <a:prstGeom prst="rect">
            <a:avLst/>
          </a:prstGeom>
          <a:noFill/>
          <a:ln/>
        </p:spPr>
        <p:txBody>
          <a:bodyPr wrap="square" lIns="0" tIns="0" rIns="0" bIns="0" rtlCol="0" anchor="ctr"/>
          <a:lstStyle/>
          <a:p>
            <a:pPr marL="0" indent="0" algn="ctr">
              <a:buNone/>
            </a:pPr>
            <a:r>
              <a:rPr lang="en-US" sz="950" dirty="0">
                <a:solidFill>
                  <a:srgbClr val="CCFBF1"/>
                </a:solidFill>
                <a:latin typeface="Calibri" pitchFamily="34" charset="0"/>
                <a:ea typeface="Calibri" pitchFamily="34" charset="-122"/>
                <a:cs typeface="Calibri" pitchFamily="34" charset="-120"/>
              </a:rPr>
              <a:t>UCI API</a:t>
            </a:r>
            <a:endParaRPr lang="en-US" sz="950" dirty="0"/>
          </a:p>
          <a:p>
            <a:pPr marL="0" indent="0" algn="ctr">
              <a:buNone/>
            </a:pPr>
            <a:r>
              <a:rPr lang="en-US" sz="950" dirty="0">
                <a:solidFill>
                  <a:srgbClr val="CCFBF1"/>
                </a:solidFill>
                <a:latin typeface="Calibri" pitchFamily="34" charset="0"/>
                <a:ea typeface="Calibri" pitchFamily="34" charset="-122"/>
                <a:cs typeface="Calibri" pitchFamily="34" charset="-120"/>
              </a:rPr>
              <a:t>DVC Cache</a:t>
            </a:r>
            <a:endParaRPr lang="en-US" sz="950" dirty="0"/>
          </a:p>
        </p:txBody>
      </p:sp>
      <p:sp>
        <p:nvSpPr>
          <p:cNvPr id="8" name="Shape 6"/>
          <p:cNvSpPr/>
          <p:nvPr/>
        </p:nvSpPr>
        <p:spPr>
          <a:xfrm>
            <a:off x="1636776" y="1760220"/>
            <a:ext cx="164592" cy="0"/>
          </a:xfrm>
          <a:prstGeom prst="line">
            <a:avLst/>
          </a:prstGeom>
          <a:noFill/>
          <a:ln w="25400">
            <a:solidFill>
              <a:srgbClr val="14B8A6"/>
            </a:solidFill>
            <a:prstDash val="solid"/>
          </a:ln>
        </p:spPr>
        <p:txBody>
          <a:bodyPr/>
          <a:lstStyle/>
          <a:p>
            <a:endParaRPr lang="en-US"/>
          </a:p>
        </p:txBody>
      </p:sp>
      <p:sp>
        <p:nvSpPr>
          <p:cNvPr id="9" name="Shape 7"/>
          <p:cNvSpPr/>
          <p:nvPr/>
        </p:nvSpPr>
        <p:spPr>
          <a:xfrm>
            <a:off x="1801368" y="1005840"/>
            <a:ext cx="1261872" cy="1508760"/>
          </a:xfrm>
          <a:prstGeom prst="rect">
            <a:avLst/>
          </a:prstGeom>
          <a:solidFill>
            <a:srgbClr val="0891B2">
              <a:alpha val="85000"/>
            </a:srgbClr>
          </a:solidFill>
          <a:ln w="25400">
            <a:solidFill>
              <a:srgbClr val="0891B2"/>
            </a:solidFill>
            <a:prstDash val="solid"/>
          </a:ln>
        </p:spPr>
        <p:txBody>
          <a:bodyPr/>
          <a:lstStyle/>
          <a:p>
            <a:endParaRPr lang="en-US"/>
          </a:p>
        </p:txBody>
      </p:sp>
      <p:sp>
        <p:nvSpPr>
          <p:cNvPr id="10" name="Text 8"/>
          <p:cNvSpPr/>
          <p:nvPr/>
        </p:nvSpPr>
        <p:spPr>
          <a:xfrm>
            <a:off x="1801368" y="1115568"/>
            <a:ext cx="126187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Validate</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&amp; Version</a:t>
            </a:r>
            <a:endParaRPr lang="en-US" sz="1200" dirty="0"/>
          </a:p>
        </p:txBody>
      </p:sp>
      <p:sp>
        <p:nvSpPr>
          <p:cNvPr id="11" name="Shape 9"/>
          <p:cNvSpPr/>
          <p:nvPr/>
        </p:nvSpPr>
        <p:spPr>
          <a:xfrm>
            <a:off x="1965960" y="1828800"/>
            <a:ext cx="932688" cy="0"/>
          </a:xfrm>
          <a:prstGeom prst="line">
            <a:avLst/>
          </a:prstGeom>
          <a:noFill/>
          <a:ln w="6350">
            <a:solidFill>
              <a:srgbClr val="FFFFFF">
                <a:alpha val="40000"/>
              </a:srgbClr>
            </a:solidFill>
            <a:prstDash val="solid"/>
          </a:ln>
        </p:spPr>
        <p:txBody>
          <a:bodyPr/>
          <a:lstStyle/>
          <a:p>
            <a:endParaRPr lang="en-US"/>
          </a:p>
        </p:txBody>
      </p:sp>
      <p:sp>
        <p:nvSpPr>
          <p:cNvPr id="12" name="Text 10"/>
          <p:cNvSpPr/>
          <p:nvPr/>
        </p:nvSpPr>
        <p:spPr>
          <a:xfrm>
            <a:off x="1801368" y="1883664"/>
            <a:ext cx="1261872" cy="566928"/>
          </a:xfrm>
          <a:prstGeom prst="rect">
            <a:avLst/>
          </a:prstGeom>
          <a:noFill/>
          <a:ln/>
        </p:spPr>
        <p:txBody>
          <a:bodyPr wrap="square" lIns="0" tIns="0" rIns="0" bIns="0" rtlCol="0" anchor="ctr"/>
          <a:lstStyle/>
          <a:p>
            <a:pPr marL="0" indent="0" algn="ctr">
              <a:buNone/>
            </a:pPr>
            <a:r>
              <a:rPr lang="en-US" sz="950" dirty="0">
                <a:solidFill>
                  <a:srgbClr val="CCFBF1"/>
                </a:solidFill>
                <a:latin typeface="Calibri" pitchFamily="34" charset="0"/>
                <a:ea typeface="Calibri" pitchFamily="34" charset="-122"/>
                <a:cs typeface="Calibri" pitchFamily="34" charset="-120"/>
              </a:rPr>
              <a:t>Schema Checks</a:t>
            </a:r>
            <a:endParaRPr lang="en-US" sz="950" dirty="0"/>
          </a:p>
          <a:p>
            <a:pPr marL="0" indent="0" algn="ctr">
              <a:buNone/>
            </a:pPr>
            <a:r>
              <a:rPr lang="en-US" sz="950" dirty="0">
                <a:solidFill>
                  <a:srgbClr val="CCFBF1"/>
                </a:solidFill>
                <a:latin typeface="Calibri" pitchFamily="34" charset="0"/>
                <a:ea typeface="Calibri" pitchFamily="34" charset="-122"/>
                <a:cs typeface="Calibri" pitchFamily="34" charset="-120"/>
              </a:rPr>
              <a:t>DVC Stage</a:t>
            </a:r>
            <a:endParaRPr lang="en-US" sz="950" dirty="0"/>
          </a:p>
        </p:txBody>
      </p:sp>
      <p:sp>
        <p:nvSpPr>
          <p:cNvPr id="13" name="Shape 11"/>
          <p:cNvSpPr/>
          <p:nvPr/>
        </p:nvSpPr>
        <p:spPr>
          <a:xfrm>
            <a:off x="3063240" y="1760220"/>
            <a:ext cx="164592" cy="0"/>
          </a:xfrm>
          <a:prstGeom prst="line">
            <a:avLst/>
          </a:prstGeom>
          <a:noFill/>
          <a:ln w="25400">
            <a:solidFill>
              <a:srgbClr val="14B8A6"/>
            </a:solidFill>
            <a:prstDash val="solid"/>
          </a:ln>
        </p:spPr>
        <p:txBody>
          <a:bodyPr/>
          <a:lstStyle/>
          <a:p>
            <a:endParaRPr lang="en-US"/>
          </a:p>
        </p:txBody>
      </p:sp>
      <p:sp>
        <p:nvSpPr>
          <p:cNvPr id="14" name="Shape 12"/>
          <p:cNvSpPr/>
          <p:nvPr/>
        </p:nvSpPr>
        <p:spPr>
          <a:xfrm>
            <a:off x="3227832" y="1005840"/>
            <a:ext cx="1261872" cy="1508760"/>
          </a:xfrm>
          <a:prstGeom prst="rect">
            <a:avLst/>
          </a:prstGeom>
          <a:solidFill>
            <a:srgbClr val="0D9488">
              <a:alpha val="85000"/>
            </a:srgbClr>
          </a:solidFill>
          <a:ln w="25400">
            <a:solidFill>
              <a:srgbClr val="0D9488"/>
            </a:solidFill>
            <a:prstDash val="solid"/>
          </a:ln>
        </p:spPr>
        <p:txBody>
          <a:bodyPr/>
          <a:lstStyle/>
          <a:p>
            <a:endParaRPr lang="en-US"/>
          </a:p>
        </p:txBody>
      </p:sp>
      <p:sp>
        <p:nvSpPr>
          <p:cNvPr id="15" name="Text 13"/>
          <p:cNvSpPr/>
          <p:nvPr/>
        </p:nvSpPr>
        <p:spPr>
          <a:xfrm>
            <a:off x="3227832" y="1115568"/>
            <a:ext cx="126187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Train &amp;</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Tune</a:t>
            </a:r>
            <a:endParaRPr lang="en-US" sz="1200" dirty="0"/>
          </a:p>
        </p:txBody>
      </p:sp>
      <p:sp>
        <p:nvSpPr>
          <p:cNvPr id="16" name="Shape 14"/>
          <p:cNvSpPr/>
          <p:nvPr/>
        </p:nvSpPr>
        <p:spPr>
          <a:xfrm>
            <a:off x="3392424" y="1828800"/>
            <a:ext cx="932688" cy="0"/>
          </a:xfrm>
          <a:prstGeom prst="line">
            <a:avLst/>
          </a:prstGeom>
          <a:noFill/>
          <a:ln w="6350">
            <a:solidFill>
              <a:srgbClr val="FFFFFF">
                <a:alpha val="40000"/>
              </a:srgbClr>
            </a:solidFill>
            <a:prstDash val="solid"/>
          </a:ln>
        </p:spPr>
        <p:txBody>
          <a:bodyPr/>
          <a:lstStyle/>
          <a:p>
            <a:endParaRPr lang="en-US"/>
          </a:p>
        </p:txBody>
      </p:sp>
      <p:sp>
        <p:nvSpPr>
          <p:cNvPr id="17" name="Text 15"/>
          <p:cNvSpPr/>
          <p:nvPr/>
        </p:nvSpPr>
        <p:spPr>
          <a:xfrm>
            <a:off x="3227832" y="1883664"/>
            <a:ext cx="1261872" cy="566928"/>
          </a:xfrm>
          <a:prstGeom prst="rect">
            <a:avLst/>
          </a:prstGeom>
          <a:noFill/>
          <a:ln/>
        </p:spPr>
        <p:txBody>
          <a:bodyPr wrap="square" lIns="0" tIns="0" rIns="0" bIns="0" rtlCol="0" anchor="ctr"/>
          <a:lstStyle/>
          <a:p>
            <a:pPr marL="0" indent="0" algn="ctr">
              <a:buNone/>
            </a:pPr>
            <a:r>
              <a:rPr lang="en-US" sz="950" dirty="0">
                <a:solidFill>
                  <a:srgbClr val="CCFBF1"/>
                </a:solidFill>
                <a:latin typeface="Calibri" pitchFamily="34" charset="0"/>
                <a:ea typeface="Calibri" pitchFamily="34" charset="-122"/>
                <a:cs typeface="Calibri" pitchFamily="34" charset="-120"/>
              </a:rPr>
              <a:t>XGBoost</a:t>
            </a:r>
            <a:endParaRPr lang="en-US" sz="950" dirty="0"/>
          </a:p>
          <a:p>
            <a:pPr marL="0" indent="0" algn="ctr">
              <a:buNone/>
            </a:pPr>
            <a:r>
              <a:rPr lang="en-US" sz="950" dirty="0">
                <a:solidFill>
                  <a:srgbClr val="CCFBF1"/>
                </a:solidFill>
                <a:latin typeface="Calibri" pitchFamily="34" charset="0"/>
                <a:ea typeface="Calibri" pitchFamily="34" charset="-122"/>
                <a:cs typeface="Calibri" pitchFamily="34" charset="-120"/>
              </a:rPr>
              <a:t>Optuna HPO</a:t>
            </a:r>
            <a:endParaRPr lang="en-US" sz="950" dirty="0"/>
          </a:p>
        </p:txBody>
      </p:sp>
      <p:sp>
        <p:nvSpPr>
          <p:cNvPr id="18" name="Shape 16"/>
          <p:cNvSpPr/>
          <p:nvPr/>
        </p:nvSpPr>
        <p:spPr>
          <a:xfrm>
            <a:off x="4489704" y="1760220"/>
            <a:ext cx="164592" cy="0"/>
          </a:xfrm>
          <a:prstGeom prst="line">
            <a:avLst/>
          </a:prstGeom>
          <a:noFill/>
          <a:ln w="25400">
            <a:solidFill>
              <a:srgbClr val="14B8A6"/>
            </a:solidFill>
            <a:prstDash val="solid"/>
          </a:ln>
        </p:spPr>
        <p:txBody>
          <a:bodyPr/>
          <a:lstStyle/>
          <a:p>
            <a:endParaRPr lang="en-US"/>
          </a:p>
        </p:txBody>
      </p:sp>
      <p:sp>
        <p:nvSpPr>
          <p:cNvPr id="19" name="Shape 17"/>
          <p:cNvSpPr/>
          <p:nvPr/>
        </p:nvSpPr>
        <p:spPr>
          <a:xfrm>
            <a:off x="4654296" y="1005840"/>
            <a:ext cx="1261872" cy="1508760"/>
          </a:xfrm>
          <a:prstGeom prst="rect">
            <a:avLst/>
          </a:prstGeom>
          <a:solidFill>
            <a:srgbClr val="0891B2">
              <a:alpha val="85000"/>
            </a:srgbClr>
          </a:solidFill>
          <a:ln w="25400">
            <a:solidFill>
              <a:srgbClr val="0891B2"/>
            </a:solidFill>
            <a:prstDash val="solid"/>
          </a:ln>
        </p:spPr>
        <p:txBody>
          <a:bodyPr/>
          <a:lstStyle/>
          <a:p>
            <a:endParaRPr lang="en-US"/>
          </a:p>
        </p:txBody>
      </p:sp>
      <p:sp>
        <p:nvSpPr>
          <p:cNvPr id="20" name="Text 18"/>
          <p:cNvSpPr/>
          <p:nvPr/>
        </p:nvSpPr>
        <p:spPr>
          <a:xfrm>
            <a:off x="4654296" y="1115568"/>
            <a:ext cx="126187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Evaluate</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&amp; Track</a:t>
            </a:r>
            <a:endParaRPr lang="en-US" sz="1200" dirty="0"/>
          </a:p>
        </p:txBody>
      </p:sp>
      <p:sp>
        <p:nvSpPr>
          <p:cNvPr id="21" name="Shape 19"/>
          <p:cNvSpPr/>
          <p:nvPr/>
        </p:nvSpPr>
        <p:spPr>
          <a:xfrm>
            <a:off x="4818888" y="1828800"/>
            <a:ext cx="932688" cy="0"/>
          </a:xfrm>
          <a:prstGeom prst="line">
            <a:avLst/>
          </a:prstGeom>
          <a:noFill/>
          <a:ln w="6350">
            <a:solidFill>
              <a:srgbClr val="FFFFFF">
                <a:alpha val="40000"/>
              </a:srgbClr>
            </a:solidFill>
            <a:prstDash val="solid"/>
          </a:ln>
        </p:spPr>
        <p:txBody>
          <a:bodyPr/>
          <a:lstStyle/>
          <a:p>
            <a:endParaRPr lang="en-US"/>
          </a:p>
        </p:txBody>
      </p:sp>
      <p:sp>
        <p:nvSpPr>
          <p:cNvPr id="22" name="Text 20"/>
          <p:cNvSpPr/>
          <p:nvPr/>
        </p:nvSpPr>
        <p:spPr>
          <a:xfrm>
            <a:off x="4654296" y="1883664"/>
            <a:ext cx="1261872" cy="566928"/>
          </a:xfrm>
          <a:prstGeom prst="rect">
            <a:avLst/>
          </a:prstGeom>
          <a:noFill/>
          <a:ln/>
        </p:spPr>
        <p:txBody>
          <a:bodyPr wrap="square" lIns="0" tIns="0" rIns="0" bIns="0" rtlCol="0" anchor="ctr"/>
          <a:lstStyle/>
          <a:p>
            <a:pPr marL="0" indent="0" algn="ctr">
              <a:buNone/>
            </a:pPr>
            <a:r>
              <a:rPr lang="en-US" sz="950" dirty="0">
                <a:solidFill>
                  <a:srgbClr val="CCFBF1"/>
                </a:solidFill>
                <a:latin typeface="Calibri" pitchFamily="34" charset="0"/>
                <a:ea typeface="Calibri" pitchFamily="34" charset="-122"/>
                <a:cs typeface="Calibri" pitchFamily="34" charset="-120"/>
              </a:rPr>
              <a:t>MLflow</a:t>
            </a:r>
            <a:endParaRPr lang="en-US" sz="950" dirty="0"/>
          </a:p>
          <a:p>
            <a:pPr marL="0" indent="0" algn="ctr">
              <a:buNone/>
            </a:pPr>
            <a:r>
              <a:rPr lang="en-US" sz="950" dirty="0">
                <a:solidFill>
                  <a:srgbClr val="CCFBF1"/>
                </a:solidFill>
                <a:latin typeface="Calibri" pitchFamily="34" charset="0"/>
                <a:ea typeface="Calibri" pitchFamily="34" charset="-122"/>
                <a:cs typeface="Calibri" pitchFamily="34" charset="-120"/>
              </a:rPr>
              <a:t>Fairness Audit</a:t>
            </a:r>
            <a:endParaRPr lang="en-US" sz="950" dirty="0"/>
          </a:p>
        </p:txBody>
      </p:sp>
      <p:sp>
        <p:nvSpPr>
          <p:cNvPr id="23" name="Shape 21"/>
          <p:cNvSpPr/>
          <p:nvPr/>
        </p:nvSpPr>
        <p:spPr>
          <a:xfrm>
            <a:off x="5916168" y="1760220"/>
            <a:ext cx="164592" cy="0"/>
          </a:xfrm>
          <a:prstGeom prst="line">
            <a:avLst/>
          </a:prstGeom>
          <a:noFill/>
          <a:ln w="25400">
            <a:solidFill>
              <a:srgbClr val="14B8A6"/>
            </a:solidFill>
            <a:prstDash val="solid"/>
          </a:ln>
        </p:spPr>
        <p:txBody>
          <a:bodyPr/>
          <a:lstStyle/>
          <a:p>
            <a:endParaRPr lang="en-US"/>
          </a:p>
        </p:txBody>
      </p:sp>
      <p:sp>
        <p:nvSpPr>
          <p:cNvPr id="24" name="Shape 22"/>
          <p:cNvSpPr/>
          <p:nvPr/>
        </p:nvSpPr>
        <p:spPr>
          <a:xfrm>
            <a:off x="6080760" y="1005840"/>
            <a:ext cx="1261872" cy="1508760"/>
          </a:xfrm>
          <a:prstGeom prst="rect">
            <a:avLst/>
          </a:prstGeom>
          <a:solidFill>
            <a:srgbClr val="0D9488">
              <a:alpha val="85000"/>
            </a:srgbClr>
          </a:solidFill>
          <a:ln w="25400">
            <a:solidFill>
              <a:srgbClr val="0D9488"/>
            </a:solidFill>
            <a:prstDash val="solid"/>
          </a:ln>
        </p:spPr>
        <p:txBody>
          <a:bodyPr/>
          <a:lstStyle/>
          <a:p>
            <a:endParaRPr lang="en-US"/>
          </a:p>
        </p:txBody>
      </p:sp>
      <p:sp>
        <p:nvSpPr>
          <p:cNvPr id="25" name="Text 23"/>
          <p:cNvSpPr/>
          <p:nvPr/>
        </p:nvSpPr>
        <p:spPr>
          <a:xfrm>
            <a:off x="6080760" y="1115568"/>
            <a:ext cx="126187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Docker</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Container</a:t>
            </a:r>
            <a:endParaRPr lang="en-US" sz="1200" dirty="0"/>
          </a:p>
        </p:txBody>
      </p:sp>
      <p:sp>
        <p:nvSpPr>
          <p:cNvPr id="26" name="Shape 24"/>
          <p:cNvSpPr/>
          <p:nvPr/>
        </p:nvSpPr>
        <p:spPr>
          <a:xfrm>
            <a:off x="6245352" y="1828800"/>
            <a:ext cx="932688" cy="0"/>
          </a:xfrm>
          <a:prstGeom prst="line">
            <a:avLst/>
          </a:prstGeom>
          <a:noFill/>
          <a:ln w="6350">
            <a:solidFill>
              <a:srgbClr val="FFFFFF">
                <a:alpha val="40000"/>
              </a:srgbClr>
            </a:solidFill>
            <a:prstDash val="solid"/>
          </a:ln>
        </p:spPr>
        <p:txBody>
          <a:bodyPr/>
          <a:lstStyle/>
          <a:p>
            <a:endParaRPr lang="en-US"/>
          </a:p>
        </p:txBody>
      </p:sp>
      <p:sp>
        <p:nvSpPr>
          <p:cNvPr id="27" name="Text 25"/>
          <p:cNvSpPr/>
          <p:nvPr/>
        </p:nvSpPr>
        <p:spPr>
          <a:xfrm>
            <a:off x="6080760" y="1883664"/>
            <a:ext cx="1261872" cy="566928"/>
          </a:xfrm>
          <a:prstGeom prst="rect">
            <a:avLst/>
          </a:prstGeom>
          <a:noFill/>
          <a:ln/>
        </p:spPr>
        <p:txBody>
          <a:bodyPr wrap="square" lIns="0" tIns="0" rIns="0" bIns="0" rtlCol="0" anchor="ctr"/>
          <a:lstStyle/>
          <a:p>
            <a:pPr marL="0" indent="0" algn="ctr">
              <a:buNone/>
            </a:pPr>
            <a:r>
              <a:rPr lang="en-US" sz="950" dirty="0">
                <a:solidFill>
                  <a:srgbClr val="CCFBF1"/>
                </a:solidFill>
                <a:latin typeface="Calibri" pitchFamily="34" charset="0"/>
                <a:ea typeface="Calibri" pitchFamily="34" charset="-122"/>
                <a:cs typeface="Calibri" pitchFamily="34" charset="-120"/>
              </a:rPr>
              <a:t>ECR</a:t>
            </a:r>
            <a:endParaRPr lang="en-US" sz="950" dirty="0"/>
          </a:p>
          <a:p>
            <a:pPr marL="0" indent="0" algn="ctr">
              <a:buNone/>
            </a:pPr>
            <a:r>
              <a:rPr lang="en-US" sz="950" dirty="0">
                <a:solidFill>
                  <a:srgbClr val="CCFBF1"/>
                </a:solidFill>
                <a:latin typeface="Calibri" pitchFamily="34" charset="0"/>
                <a:ea typeface="Calibri" pitchFamily="34" charset="-122"/>
                <a:cs typeface="Calibri" pitchFamily="34" charset="-120"/>
              </a:rPr>
              <a:t>Flask Server</a:t>
            </a:r>
            <a:endParaRPr lang="en-US" sz="950" dirty="0"/>
          </a:p>
        </p:txBody>
      </p:sp>
      <p:sp>
        <p:nvSpPr>
          <p:cNvPr id="28" name="Shape 26"/>
          <p:cNvSpPr/>
          <p:nvPr/>
        </p:nvSpPr>
        <p:spPr>
          <a:xfrm>
            <a:off x="7342632" y="1760220"/>
            <a:ext cx="164592" cy="0"/>
          </a:xfrm>
          <a:prstGeom prst="line">
            <a:avLst/>
          </a:prstGeom>
          <a:noFill/>
          <a:ln w="25400">
            <a:solidFill>
              <a:srgbClr val="14B8A6"/>
            </a:solidFill>
            <a:prstDash val="solid"/>
          </a:ln>
        </p:spPr>
        <p:txBody>
          <a:bodyPr/>
          <a:lstStyle/>
          <a:p>
            <a:endParaRPr lang="en-US"/>
          </a:p>
        </p:txBody>
      </p:sp>
      <p:sp>
        <p:nvSpPr>
          <p:cNvPr id="29" name="Shape 27"/>
          <p:cNvSpPr/>
          <p:nvPr/>
        </p:nvSpPr>
        <p:spPr>
          <a:xfrm>
            <a:off x="7507224" y="1005840"/>
            <a:ext cx="1261872" cy="1508760"/>
          </a:xfrm>
          <a:prstGeom prst="rect">
            <a:avLst/>
          </a:prstGeom>
          <a:solidFill>
            <a:srgbClr val="059669">
              <a:alpha val="85000"/>
            </a:srgbClr>
          </a:solidFill>
          <a:ln w="25400">
            <a:solidFill>
              <a:srgbClr val="059669"/>
            </a:solidFill>
            <a:prstDash val="solid"/>
          </a:ln>
        </p:spPr>
        <p:txBody>
          <a:bodyPr/>
          <a:lstStyle/>
          <a:p>
            <a:endParaRPr lang="en-US"/>
          </a:p>
        </p:txBody>
      </p:sp>
      <p:sp>
        <p:nvSpPr>
          <p:cNvPr id="30" name="Text 28"/>
          <p:cNvSpPr/>
          <p:nvPr/>
        </p:nvSpPr>
        <p:spPr>
          <a:xfrm>
            <a:off x="7507224" y="1115568"/>
            <a:ext cx="1261872"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SageMaker</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Endpoint</a:t>
            </a:r>
            <a:endParaRPr lang="en-US" sz="1200" dirty="0"/>
          </a:p>
        </p:txBody>
      </p:sp>
      <p:sp>
        <p:nvSpPr>
          <p:cNvPr id="31" name="Shape 29"/>
          <p:cNvSpPr/>
          <p:nvPr/>
        </p:nvSpPr>
        <p:spPr>
          <a:xfrm>
            <a:off x="7671816" y="1828800"/>
            <a:ext cx="932688" cy="0"/>
          </a:xfrm>
          <a:prstGeom prst="line">
            <a:avLst/>
          </a:prstGeom>
          <a:noFill/>
          <a:ln w="6350">
            <a:solidFill>
              <a:srgbClr val="FFFFFF">
                <a:alpha val="40000"/>
              </a:srgbClr>
            </a:solidFill>
            <a:prstDash val="solid"/>
          </a:ln>
        </p:spPr>
        <p:txBody>
          <a:bodyPr/>
          <a:lstStyle/>
          <a:p>
            <a:endParaRPr lang="en-US"/>
          </a:p>
        </p:txBody>
      </p:sp>
      <p:sp>
        <p:nvSpPr>
          <p:cNvPr id="32" name="Text 30"/>
          <p:cNvSpPr/>
          <p:nvPr/>
        </p:nvSpPr>
        <p:spPr>
          <a:xfrm>
            <a:off x="7507224" y="1883664"/>
            <a:ext cx="1261872" cy="566928"/>
          </a:xfrm>
          <a:prstGeom prst="rect">
            <a:avLst/>
          </a:prstGeom>
          <a:noFill/>
          <a:ln/>
        </p:spPr>
        <p:txBody>
          <a:bodyPr wrap="square" lIns="0" tIns="0" rIns="0" bIns="0" rtlCol="0" anchor="ctr"/>
          <a:lstStyle/>
          <a:p>
            <a:pPr marL="0" indent="0" algn="ctr">
              <a:buNone/>
            </a:pPr>
            <a:r>
              <a:rPr lang="en-US" sz="950" dirty="0">
                <a:solidFill>
                  <a:srgbClr val="CCFBF1"/>
                </a:solidFill>
                <a:latin typeface="Calibri" pitchFamily="34" charset="0"/>
                <a:ea typeface="Calibri" pitchFamily="34" charset="-122"/>
                <a:cs typeface="Calibri" pitchFamily="34" charset="-120"/>
              </a:rPr>
              <a:t>AWS</a:t>
            </a:r>
            <a:endParaRPr lang="en-US" sz="950" dirty="0"/>
          </a:p>
          <a:p>
            <a:pPr marL="0" indent="0" algn="ctr">
              <a:buNone/>
            </a:pPr>
            <a:r>
              <a:rPr lang="en-US" sz="950" dirty="0">
                <a:solidFill>
                  <a:srgbClr val="CCFBF1"/>
                </a:solidFill>
                <a:latin typeface="Calibri" pitchFamily="34" charset="0"/>
                <a:ea typeface="Calibri" pitchFamily="34" charset="-122"/>
                <a:cs typeface="Calibri" pitchFamily="34" charset="-120"/>
              </a:rPr>
              <a:t>Inference</a:t>
            </a:r>
            <a:endParaRPr lang="en-US" sz="950" dirty="0"/>
          </a:p>
        </p:txBody>
      </p:sp>
      <p:sp>
        <p:nvSpPr>
          <p:cNvPr id="33" name="Shape 31"/>
          <p:cNvSpPr/>
          <p:nvPr/>
        </p:nvSpPr>
        <p:spPr>
          <a:xfrm>
            <a:off x="502920" y="2834640"/>
            <a:ext cx="2514600" cy="841248"/>
          </a:xfrm>
          <a:prstGeom prst="rect">
            <a:avLst/>
          </a:prstGeom>
          <a:solidFill>
            <a:srgbClr val="0891B2">
              <a:alpha val="20000"/>
            </a:srgbClr>
          </a:solidFill>
          <a:ln w="12700">
            <a:solidFill>
              <a:srgbClr val="0891B2"/>
            </a:solidFill>
            <a:prstDash val="solid"/>
          </a:ln>
        </p:spPr>
        <p:txBody>
          <a:bodyPr/>
          <a:lstStyle/>
          <a:p>
            <a:endParaRPr lang="en-US"/>
          </a:p>
        </p:txBody>
      </p:sp>
      <p:sp>
        <p:nvSpPr>
          <p:cNvPr id="34" name="Text 32"/>
          <p:cNvSpPr/>
          <p:nvPr/>
        </p:nvSpPr>
        <p:spPr>
          <a:xfrm>
            <a:off x="502920" y="2834640"/>
            <a:ext cx="2514600" cy="420624"/>
          </a:xfrm>
          <a:prstGeom prst="rect">
            <a:avLst/>
          </a:prstGeom>
          <a:noFill/>
          <a:ln/>
        </p:spPr>
        <p:txBody>
          <a:bodyPr wrap="square" lIns="0" tIns="0" rIns="0" bIns="0" rtlCol="0" anchor="b"/>
          <a:lstStyle/>
          <a:p>
            <a:pPr marL="0" indent="0" algn="ctr">
              <a:buNone/>
            </a:pPr>
            <a:r>
              <a:rPr lang="en-US" sz="1200" b="1" dirty="0">
                <a:solidFill>
                  <a:srgbClr val="FFFFFF"/>
                </a:solidFill>
                <a:latin typeface="Calibri" pitchFamily="34" charset="0"/>
                <a:ea typeface="Calibri" pitchFamily="34" charset="-122"/>
                <a:cs typeface="Calibri" pitchFamily="34" charset="-120"/>
              </a:rPr>
              <a:t>CI/CD Pipeline</a:t>
            </a:r>
            <a:endParaRPr lang="en-US" sz="1200" dirty="0"/>
          </a:p>
        </p:txBody>
      </p:sp>
      <p:sp>
        <p:nvSpPr>
          <p:cNvPr id="35" name="Text 33"/>
          <p:cNvSpPr/>
          <p:nvPr/>
        </p:nvSpPr>
        <p:spPr>
          <a:xfrm>
            <a:off x="502920" y="3255264"/>
            <a:ext cx="2514600" cy="347472"/>
          </a:xfrm>
          <a:prstGeom prst="rect">
            <a:avLst/>
          </a:prstGeom>
          <a:noFill/>
          <a:ln/>
        </p:spPr>
        <p:txBody>
          <a:bodyPr wrap="square" lIns="0" tIns="0" rIns="0" bIns="0" rtlCol="0" anchor="t"/>
          <a:lstStyle/>
          <a:p>
            <a:pPr marL="0" indent="0" algn="ctr">
              <a:buNone/>
            </a:pPr>
            <a:r>
              <a:rPr lang="en-US" sz="1000" dirty="0">
                <a:solidFill>
                  <a:srgbClr val="CCFBF1"/>
                </a:solidFill>
                <a:latin typeface="Calibri" pitchFamily="34" charset="0"/>
                <a:ea typeface="Calibri" pitchFamily="34" charset="-122"/>
                <a:cs typeface="Calibri" pitchFamily="34" charset="-120"/>
              </a:rPr>
              <a:t>GitHub Actions</a:t>
            </a:r>
            <a:endParaRPr lang="en-US" sz="1000" dirty="0"/>
          </a:p>
        </p:txBody>
      </p:sp>
      <p:sp>
        <p:nvSpPr>
          <p:cNvPr id="36" name="Shape 34"/>
          <p:cNvSpPr/>
          <p:nvPr/>
        </p:nvSpPr>
        <p:spPr>
          <a:xfrm>
            <a:off x="3246120" y="2834640"/>
            <a:ext cx="2514600" cy="841248"/>
          </a:xfrm>
          <a:prstGeom prst="rect">
            <a:avLst/>
          </a:prstGeom>
          <a:solidFill>
            <a:srgbClr val="0D9488">
              <a:alpha val="20000"/>
            </a:srgbClr>
          </a:solidFill>
          <a:ln w="12700">
            <a:solidFill>
              <a:srgbClr val="0D9488"/>
            </a:solidFill>
            <a:prstDash val="solid"/>
          </a:ln>
        </p:spPr>
        <p:txBody>
          <a:bodyPr/>
          <a:lstStyle/>
          <a:p>
            <a:endParaRPr lang="en-US"/>
          </a:p>
        </p:txBody>
      </p:sp>
      <p:sp>
        <p:nvSpPr>
          <p:cNvPr id="37" name="Text 35"/>
          <p:cNvSpPr/>
          <p:nvPr/>
        </p:nvSpPr>
        <p:spPr>
          <a:xfrm>
            <a:off x="3246120" y="2834640"/>
            <a:ext cx="2514600" cy="420624"/>
          </a:xfrm>
          <a:prstGeom prst="rect">
            <a:avLst/>
          </a:prstGeom>
          <a:noFill/>
          <a:ln/>
        </p:spPr>
        <p:txBody>
          <a:bodyPr wrap="square" lIns="0" tIns="0" rIns="0" bIns="0" rtlCol="0" anchor="b"/>
          <a:lstStyle/>
          <a:p>
            <a:pPr marL="0" indent="0" algn="ctr">
              <a:buNone/>
            </a:pPr>
            <a:r>
              <a:rPr lang="en-US" sz="1200" b="1" dirty="0">
                <a:solidFill>
                  <a:srgbClr val="FFFFFF"/>
                </a:solidFill>
                <a:latin typeface="Calibri" pitchFamily="34" charset="0"/>
                <a:ea typeface="Calibri" pitchFamily="34" charset="-122"/>
                <a:cs typeface="Calibri" pitchFamily="34" charset="-120"/>
              </a:rPr>
              <a:t>Monitoring</a:t>
            </a:r>
            <a:endParaRPr lang="en-US" sz="1200" dirty="0"/>
          </a:p>
        </p:txBody>
      </p:sp>
      <p:sp>
        <p:nvSpPr>
          <p:cNvPr id="38" name="Text 36"/>
          <p:cNvSpPr/>
          <p:nvPr/>
        </p:nvSpPr>
        <p:spPr>
          <a:xfrm>
            <a:off x="3246120" y="3255264"/>
            <a:ext cx="2514600" cy="347472"/>
          </a:xfrm>
          <a:prstGeom prst="rect">
            <a:avLst/>
          </a:prstGeom>
          <a:noFill/>
          <a:ln/>
        </p:spPr>
        <p:txBody>
          <a:bodyPr wrap="square" lIns="0" tIns="0" rIns="0" bIns="0" rtlCol="0" anchor="t"/>
          <a:lstStyle/>
          <a:p>
            <a:pPr marL="0" indent="0" algn="ctr">
              <a:buNone/>
            </a:pPr>
            <a:r>
              <a:rPr lang="en-US" sz="1000" dirty="0">
                <a:solidFill>
                  <a:srgbClr val="CCFBF1"/>
                </a:solidFill>
                <a:latin typeface="Calibri" pitchFamily="34" charset="0"/>
                <a:ea typeface="Calibri" pitchFamily="34" charset="-122"/>
                <a:cs typeface="Calibri" pitchFamily="34" charset="-120"/>
              </a:rPr>
              <a:t>Prometheus + Grafana + PSI</a:t>
            </a:r>
            <a:endParaRPr lang="en-US" sz="1000" dirty="0"/>
          </a:p>
        </p:txBody>
      </p:sp>
      <p:sp>
        <p:nvSpPr>
          <p:cNvPr id="39" name="Shape 37"/>
          <p:cNvSpPr/>
          <p:nvPr/>
        </p:nvSpPr>
        <p:spPr>
          <a:xfrm>
            <a:off x="5989320" y="2834640"/>
            <a:ext cx="2514600" cy="841248"/>
          </a:xfrm>
          <a:prstGeom prst="rect">
            <a:avLst/>
          </a:prstGeom>
          <a:solidFill>
            <a:srgbClr val="0891B2">
              <a:alpha val="20000"/>
            </a:srgbClr>
          </a:solidFill>
          <a:ln w="12700">
            <a:solidFill>
              <a:srgbClr val="0891B2"/>
            </a:solidFill>
            <a:prstDash val="solid"/>
          </a:ln>
        </p:spPr>
        <p:txBody>
          <a:bodyPr/>
          <a:lstStyle/>
          <a:p>
            <a:endParaRPr lang="en-US"/>
          </a:p>
        </p:txBody>
      </p:sp>
      <p:sp>
        <p:nvSpPr>
          <p:cNvPr id="40" name="Text 38"/>
          <p:cNvSpPr/>
          <p:nvPr/>
        </p:nvSpPr>
        <p:spPr>
          <a:xfrm>
            <a:off x="5989320" y="2834640"/>
            <a:ext cx="2514600" cy="420624"/>
          </a:xfrm>
          <a:prstGeom prst="rect">
            <a:avLst/>
          </a:prstGeom>
          <a:noFill/>
          <a:ln/>
        </p:spPr>
        <p:txBody>
          <a:bodyPr wrap="square" lIns="0" tIns="0" rIns="0" bIns="0" rtlCol="0" anchor="b"/>
          <a:lstStyle/>
          <a:p>
            <a:pPr marL="0" indent="0" algn="ctr">
              <a:buNone/>
            </a:pPr>
            <a:r>
              <a:rPr lang="en-US" sz="1200" b="1" dirty="0">
                <a:solidFill>
                  <a:srgbClr val="FFFFFF"/>
                </a:solidFill>
                <a:latin typeface="Calibri" pitchFamily="34" charset="0"/>
                <a:ea typeface="Calibri" pitchFamily="34" charset="-122"/>
                <a:cs typeface="Calibri" pitchFamily="34" charset="-120"/>
              </a:rPr>
              <a:t>Governance</a:t>
            </a:r>
            <a:endParaRPr lang="en-US" sz="1200" dirty="0"/>
          </a:p>
        </p:txBody>
      </p:sp>
      <p:sp>
        <p:nvSpPr>
          <p:cNvPr id="41" name="Text 39"/>
          <p:cNvSpPr/>
          <p:nvPr/>
        </p:nvSpPr>
        <p:spPr>
          <a:xfrm>
            <a:off x="5989320" y="3255264"/>
            <a:ext cx="2514600" cy="347472"/>
          </a:xfrm>
          <a:prstGeom prst="rect">
            <a:avLst/>
          </a:prstGeom>
          <a:noFill/>
          <a:ln/>
        </p:spPr>
        <p:txBody>
          <a:bodyPr wrap="square" lIns="0" tIns="0" rIns="0" bIns="0" rtlCol="0" anchor="t"/>
          <a:lstStyle/>
          <a:p>
            <a:pPr marL="0" indent="0" algn="ctr">
              <a:buNone/>
            </a:pPr>
            <a:r>
              <a:rPr lang="en-US" sz="1000" dirty="0">
                <a:solidFill>
                  <a:srgbClr val="CCFBF1"/>
                </a:solidFill>
                <a:latin typeface="Calibri" pitchFamily="34" charset="0"/>
                <a:ea typeface="Calibri" pitchFamily="34" charset="-122"/>
                <a:cs typeface="Calibri" pitchFamily="34" charset="-120"/>
              </a:rPr>
              <a:t>Audit Log + Incident Playbook</a:t>
            </a:r>
            <a:endParaRPr lang="en-US" sz="1000" dirty="0"/>
          </a:p>
        </p:txBody>
      </p:sp>
      <p:sp>
        <p:nvSpPr>
          <p:cNvPr id="42" name="Text 40"/>
          <p:cNvSpPr/>
          <p:nvPr/>
        </p:nvSpPr>
        <p:spPr>
          <a:xfrm>
            <a:off x="365760" y="3931920"/>
            <a:ext cx="8412480" cy="34747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Cross-cutting: Git version control  ·  AWS S3 artifact store  ·  us-east-1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65760" y="0"/>
            <a:ext cx="841248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03  Data Versioning &amp; Pipeline</a:t>
            </a:r>
            <a:endParaRPr lang="en-US" sz="2600" dirty="0"/>
          </a:p>
        </p:txBody>
      </p:sp>
      <p:sp>
        <p:nvSpPr>
          <p:cNvPr id="5" name="Shape 3"/>
          <p:cNvSpPr/>
          <p:nvPr/>
        </p:nvSpPr>
        <p:spPr>
          <a:xfrm>
            <a:off x="310896" y="1234440"/>
            <a:ext cx="1993392" cy="352044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6" name="Shape 4"/>
          <p:cNvSpPr/>
          <p:nvPr/>
        </p:nvSpPr>
        <p:spPr>
          <a:xfrm>
            <a:off x="310896" y="1234440"/>
            <a:ext cx="1993392" cy="73152"/>
          </a:xfrm>
          <a:prstGeom prst="rect">
            <a:avLst/>
          </a:prstGeom>
          <a:solidFill>
            <a:srgbClr val="0D9488"/>
          </a:solidFill>
          <a:ln w="12700">
            <a:solidFill>
              <a:srgbClr val="0D9488"/>
            </a:solidFill>
            <a:prstDash val="solid"/>
          </a:ln>
        </p:spPr>
        <p:txBody>
          <a:bodyPr/>
          <a:lstStyle/>
          <a:p>
            <a:endParaRPr lang="en-US"/>
          </a:p>
        </p:txBody>
      </p:sp>
      <p:sp>
        <p:nvSpPr>
          <p:cNvPr id="7" name="Shape 5"/>
          <p:cNvSpPr/>
          <p:nvPr/>
        </p:nvSpPr>
        <p:spPr>
          <a:xfrm>
            <a:off x="987552" y="1417320"/>
            <a:ext cx="640080" cy="640080"/>
          </a:xfrm>
          <a:prstGeom prst="ellipse">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987552" y="1417320"/>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9" name="Text 7"/>
          <p:cNvSpPr/>
          <p:nvPr/>
        </p:nvSpPr>
        <p:spPr>
          <a:xfrm>
            <a:off x="402336" y="2194560"/>
            <a:ext cx="1810512" cy="384048"/>
          </a:xfrm>
          <a:prstGeom prst="rect">
            <a:avLst/>
          </a:prstGeom>
          <a:noFill/>
          <a:ln/>
        </p:spPr>
        <p:txBody>
          <a:bodyPr wrap="square" lIns="0" tIns="0" rIns="0" bIns="0" rtlCol="0" anchor="ctr"/>
          <a:lstStyle/>
          <a:p>
            <a:pPr marL="0" indent="0" algn="ctr">
              <a:buNone/>
            </a:pPr>
            <a:r>
              <a:rPr lang="en-US" sz="1500" b="1" dirty="0">
                <a:solidFill>
                  <a:srgbClr val="1B2A4A"/>
                </a:solidFill>
                <a:latin typeface="Georgia" pitchFamily="34" charset="0"/>
                <a:ea typeface="Georgia" pitchFamily="34" charset="-122"/>
                <a:cs typeface="Georgia" pitchFamily="34" charset="-120"/>
              </a:rPr>
              <a:t>Ingest</a:t>
            </a:r>
            <a:endParaRPr lang="en-US" sz="1500" dirty="0"/>
          </a:p>
        </p:txBody>
      </p:sp>
      <p:sp>
        <p:nvSpPr>
          <p:cNvPr id="10" name="Text 8"/>
          <p:cNvSpPr/>
          <p:nvPr/>
        </p:nvSpPr>
        <p:spPr>
          <a:xfrm>
            <a:off x="448056" y="2651760"/>
            <a:ext cx="1719072" cy="1481328"/>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Downloads UCI ZIP from URL, extracts XLS, cleans columns → data/staged/data.csv</a:t>
            </a:r>
            <a:endParaRPr lang="en-US" sz="1100" dirty="0"/>
          </a:p>
        </p:txBody>
      </p:sp>
      <p:sp>
        <p:nvSpPr>
          <p:cNvPr id="11" name="Shape 9"/>
          <p:cNvSpPr/>
          <p:nvPr/>
        </p:nvSpPr>
        <p:spPr>
          <a:xfrm>
            <a:off x="420624" y="4206240"/>
            <a:ext cx="1773936" cy="411480"/>
          </a:xfrm>
          <a:prstGeom prst="rect">
            <a:avLst/>
          </a:prstGeom>
          <a:solidFill>
            <a:srgbClr val="CCFBF1"/>
          </a:solidFill>
          <a:ln w="6350">
            <a:solidFill>
              <a:srgbClr val="0D9488"/>
            </a:solidFill>
            <a:prstDash val="solid"/>
          </a:ln>
        </p:spPr>
        <p:txBody>
          <a:bodyPr/>
          <a:lstStyle/>
          <a:p>
            <a:endParaRPr lang="en-US"/>
          </a:p>
        </p:txBody>
      </p:sp>
      <p:sp>
        <p:nvSpPr>
          <p:cNvPr id="12" name="Text 10"/>
          <p:cNvSpPr/>
          <p:nvPr/>
        </p:nvSpPr>
        <p:spPr>
          <a:xfrm>
            <a:off x="420624" y="4206240"/>
            <a:ext cx="1773936" cy="41148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HTTP → data.csv</a:t>
            </a:r>
            <a:endParaRPr lang="en-US" sz="900" dirty="0"/>
          </a:p>
        </p:txBody>
      </p:sp>
      <p:sp>
        <p:nvSpPr>
          <p:cNvPr id="13" name="Shape 11"/>
          <p:cNvSpPr/>
          <p:nvPr/>
        </p:nvSpPr>
        <p:spPr>
          <a:xfrm>
            <a:off x="2304288" y="2994660"/>
            <a:ext cx="182880" cy="0"/>
          </a:xfrm>
          <a:prstGeom prst="line">
            <a:avLst/>
          </a:prstGeom>
          <a:noFill/>
          <a:ln w="25400">
            <a:solidFill>
              <a:srgbClr val="0D9488"/>
            </a:solidFill>
            <a:prstDash val="solid"/>
          </a:ln>
        </p:spPr>
        <p:txBody>
          <a:bodyPr/>
          <a:lstStyle/>
          <a:p>
            <a:endParaRPr lang="en-US"/>
          </a:p>
        </p:txBody>
      </p:sp>
      <p:sp>
        <p:nvSpPr>
          <p:cNvPr id="14" name="Shape 12"/>
          <p:cNvSpPr/>
          <p:nvPr/>
        </p:nvSpPr>
        <p:spPr>
          <a:xfrm>
            <a:off x="2487168" y="1234440"/>
            <a:ext cx="1993392" cy="352044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15" name="Shape 13"/>
          <p:cNvSpPr/>
          <p:nvPr/>
        </p:nvSpPr>
        <p:spPr>
          <a:xfrm>
            <a:off x="2487168" y="1234440"/>
            <a:ext cx="1993392" cy="73152"/>
          </a:xfrm>
          <a:prstGeom prst="rect">
            <a:avLst/>
          </a:prstGeom>
          <a:solidFill>
            <a:srgbClr val="0D9488"/>
          </a:solidFill>
          <a:ln w="12700">
            <a:solidFill>
              <a:srgbClr val="0D9488"/>
            </a:solidFill>
            <a:prstDash val="solid"/>
          </a:ln>
        </p:spPr>
        <p:txBody>
          <a:bodyPr/>
          <a:lstStyle/>
          <a:p>
            <a:endParaRPr lang="en-US"/>
          </a:p>
        </p:txBody>
      </p:sp>
      <p:sp>
        <p:nvSpPr>
          <p:cNvPr id="16" name="Shape 14"/>
          <p:cNvSpPr/>
          <p:nvPr/>
        </p:nvSpPr>
        <p:spPr>
          <a:xfrm>
            <a:off x="3163824" y="1417320"/>
            <a:ext cx="640080" cy="640080"/>
          </a:xfrm>
          <a:prstGeom prst="ellipse">
            <a:avLst/>
          </a:prstGeom>
          <a:solidFill>
            <a:srgbClr val="1B2A4A"/>
          </a:solidFill>
          <a:ln w="12700">
            <a:solidFill>
              <a:srgbClr val="1B2A4A"/>
            </a:solidFill>
            <a:prstDash val="solid"/>
          </a:ln>
        </p:spPr>
        <p:txBody>
          <a:bodyPr/>
          <a:lstStyle/>
          <a:p>
            <a:endParaRPr lang="en-US"/>
          </a:p>
        </p:txBody>
      </p:sp>
      <p:sp>
        <p:nvSpPr>
          <p:cNvPr id="17" name="Text 15"/>
          <p:cNvSpPr/>
          <p:nvPr/>
        </p:nvSpPr>
        <p:spPr>
          <a:xfrm>
            <a:off x="3163824" y="1417320"/>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8" name="Text 16"/>
          <p:cNvSpPr/>
          <p:nvPr/>
        </p:nvSpPr>
        <p:spPr>
          <a:xfrm>
            <a:off x="2578608" y="2194560"/>
            <a:ext cx="1810512" cy="384048"/>
          </a:xfrm>
          <a:prstGeom prst="rect">
            <a:avLst/>
          </a:prstGeom>
          <a:noFill/>
          <a:ln/>
        </p:spPr>
        <p:txBody>
          <a:bodyPr wrap="square" lIns="0" tIns="0" rIns="0" bIns="0" rtlCol="0" anchor="ctr"/>
          <a:lstStyle/>
          <a:p>
            <a:pPr marL="0" indent="0" algn="ctr">
              <a:buNone/>
            </a:pPr>
            <a:r>
              <a:rPr lang="en-US" sz="1500" b="1" dirty="0">
                <a:solidFill>
                  <a:srgbClr val="1B2A4A"/>
                </a:solidFill>
                <a:latin typeface="Georgia" pitchFamily="34" charset="0"/>
                <a:ea typeface="Georgia" pitchFamily="34" charset="-122"/>
                <a:cs typeface="Georgia" pitchFamily="34" charset="-120"/>
              </a:rPr>
              <a:t>Validate</a:t>
            </a:r>
            <a:endParaRPr lang="en-US" sz="1500" dirty="0"/>
          </a:p>
        </p:txBody>
      </p:sp>
      <p:sp>
        <p:nvSpPr>
          <p:cNvPr id="19" name="Text 17"/>
          <p:cNvSpPr/>
          <p:nvPr/>
        </p:nvSpPr>
        <p:spPr>
          <a:xfrm>
            <a:off x="2624328" y="2651760"/>
            <a:ext cx="1719072" cy="1481328"/>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Schema, nulls, value ranges, class balance. Exits code 1 on critical failures.</a:t>
            </a:r>
            <a:endParaRPr lang="en-US" sz="1100" dirty="0"/>
          </a:p>
        </p:txBody>
      </p:sp>
      <p:sp>
        <p:nvSpPr>
          <p:cNvPr id="20" name="Shape 18"/>
          <p:cNvSpPr/>
          <p:nvPr/>
        </p:nvSpPr>
        <p:spPr>
          <a:xfrm>
            <a:off x="2596896" y="4206240"/>
            <a:ext cx="1773936" cy="411480"/>
          </a:xfrm>
          <a:prstGeom prst="rect">
            <a:avLst/>
          </a:prstGeom>
          <a:solidFill>
            <a:srgbClr val="CCFBF1"/>
          </a:solidFill>
          <a:ln w="6350">
            <a:solidFill>
              <a:srgbClr val="0D9488"/>
            </a:solidFill>
            <a:prstDash val="solid"/>
          </a:ln>
        </p:spPr>
        <p:txBody>
          <a:bodyPr/>
          <a:lstStyle/>
          <a:p>
            <a:endParaRPr lang="en-US"/>
          </a:p>
        </p:txBody>
      </p:sp>
      <p:sp>
        <p:nvSpPr>
          <p:cNvPr id="21" name="Text 19"/>
          <p:cNvSpPr/>
          <p:nvPr/>
        </p:nvSpPr>
        <p:spPr>
          <a:xfrm>
            <a:off x="2596896" y="4206240"/>
            <a:ext cx="1773936" cy="41148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data.csv → validation_report.json</a:t>
            </a:r>
            <a:endParaRPr lang="en-US" sz="900" dirty="0"/>
          </a:p>
        </p:txBody>
      </p:sp>
      <p:sp>
        <p:nvSpPr>
          <p:cNvPr id="22" name="Shape 20"/>
          <p:cNvSpPr/>
          <p:nvPr/>
        </p:nvSpPr>
        <p:spPr>
          <a:xfrm>
            <a:off x="4480560" y="2994660"/>
            <a:ext cx="182880" cy="0"/>
          </a:xfrm>
          <a:prstGeom prst="line">
            <a:avLst/>
          </a:prstGeom>
          <a:noFill/>
          <a:ln w="25400">
            <a:solidFill>
              <a:srgbClr val="0D9488"/>
            </a:solidFill>
            <a:prstDash val="solid"/>
          </a:ln>
        </p:spPr>
        <p:txBody>
          <a:bodyPr/>
          <a:lstStyle/>
          <a:p>
            <a:endParaRPr lang="en-US"/>
          </a:p>
        </p:txBody>
      </p:sp>
      <p:sp>
        <p:nvSpPr>
          <p:cNvPr id="23" name="Shape 21"/>
          <p:cNvSpPr/>
          <p:nvPr/>
        </p:nvSpPr>
        <p:spPr>
          <a:xfrm>
            <a:off x="4663440" y="1234440"/>
            <a:ext cx="1993392" cy="352044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24" name="Shape 22"/>
          <p:cNvSpPr/>
          <p:nvPr/>
        </p:nvSpPr>
        <p:spPr>
          <a:xfrm>
            <a:off x="4663440" y="1234440"/>
            <a:ext cx="1993392" cy="73152"/>
          </a:xfrm>
          <a:prstGeom prst="rect">
            <a:avLst/>
          </a:prstGeom>
          <a:solidFill>
            <a:srgbClr val="0D9488"/>
          </a:solidFill>
          <a:ln w="12700">
            <a:solidFill>
              <a:srgbClr val="0D9488"/>
            </a:solidFill>
            <a:prstDash val="solid"/>
          </a:ln>
        </p:spPr>
        <p:txBody>
          <a:bodyPr/>
          <a:lstStyle/>
          <a:p>
            <a:endParaRPr lang="en-US"/>
          </a:p>
        </p:txBody>
      </p:sp>
      <p:sp>
        <p:nvSpPr>
          <p:cNvPr id="25" name="Shape 23"/>
          <p:cNvSpPr/>
          <p:nvPr/>
        </p:nvSpPr>
        <p:spPr>
          <a:xfrm>
            <a:off x="5340096" y="1417320"/>
            <a:ext cx="640080" cy="640080"/>
          </a:xfrm>
          <a:prstGeom prst="ellipse">
            <a:avLst/>
          </a:prstGeom>
          <a:solidFill>
            <a:srgbClr val="1B2A4A"/>
          </a:solidFill>
          <a:ln w="12700">
            <a:solidFill>
              <a:srgbClr val="1B2A4A"/>
            </a:solidFill>
            <a:prstDash val="solid"/>
          </a:ln>
        </p:spPr>
        <p:txBody>
          <a:bodyPr/>
          <a:lstStyle/>
          <a:p>
            <a:endParaRPr lang="en-US"/>
          </a:p>
        </p:txBody>
      </p:sp>
      <p:sp>
        <p:nvSpPr>
          <p:cNvPr id="26" name="Text 24"/>
          <p:cNvSpPr/>
          <p:nvPr/>
        </p:nvSpPr>
        <p:spPr>
          <a:xfrm>
            <a:off x="5340096" y="1417320"/>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27" name="Text 25"/>
          <p:cNvSpPr/>
          <p:nvPr/>
        </p:nvSpPr>
        <p:spPr>
          <a:xfrm>
            <a:off x="4754880" y="2194560"/>
            <a:ext cx="1810512" cy="384048"/>
          </a:xfrm>
          <a:prstGeom prst="rect">
            <a:avLst/>
          </a:prstGeom>
          <a:noFill/>
          <a:ln/>
        </p:spPr>
        <p:txBody>
          <a:bodyPr wrap="square" lIns="0" tIns="0" rIns="0" bIns="0" rtlCol="0" anchor="ctr"/>
          <a:lstStyle/>
          <a:p>
            <a:pPr marL="0" indent="0" algn="ctr">
              <a:buNone/>
            </a:pPr>
            <a:r>
              <a:rPr lang="en-US" sz="1500" b="1" dirty="0">
                <a:solidFill>
                  <a:srgbClr val="1B2A4A"/>
                </a:solidFill>
                <a:latin typeface="Georgia" pitchFamily="34" charset="0"/>
                <a:ea typeface="Georgia" pitchFamily="34" charset="-122"/>
                <a:cs typeface="Georgia" pitchFamily="34" charset="-120"/>
              </a:rPr>
              <a:t>Train</a:t>
            </a:r>
            <a:endParaRPr lang="en-US" sz="1500" dirty="0"/>
          </a:p>
        </p:txBody>
      </p:sp>
      <p:sp>
        <p:nvSpPr>
          <p:cNvPr id="28" name="Text 26"/>
          <p:cNvSpPr/>
          <p:nvPr/>
        </p:nvSpPr>
        <p:spPr>
          <a:xfrm>
            <a:off x="4800600" y="2651760"/>
            <a:ext cx="1719072" cy="1481328"/>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XGBoost + Optuna HPO (20 trials, 5-fold CV). MLflow tracking. Saves model.joblib.</a:t>
            </a:r>
            <a:endParaRPr lang="en-US" sz="1100" dirty="0"/>
          </a:p>
        </p:txBody>
      </p:sp>
      <p:sp>
        <p:nvSpPr>
          <p:cNvPr id="29" name="Shape 27"/>
          <p:cNvSpPr/>
          <p:nvPr/>
        </p:nvSpPr>
        <p:spPr>
          <a:xfrm>
            <a:off x="4773168" y="4206240"/>
            <a:ext cx="1773936" cy="411480"/>
          </a:xfrm>
          <a:prstGeom prst="rect">
            <a:avLst/>
          </a:prstGeom>
          <a:solidFill>
            <a:srgbClr val="CCFBF1"/>
          </a:solidFill>
          <a:ln w="6350">
            <a:solidFill>
              <a:srgbClr val="0D9488"/>
            </a:solidFill>
            <a:prstDash val="solid"/>
          </a:ln>
        </p:spPr>
        <p:txBody>
          <a:bodyPr/>
          <a:lstStyle/>
          <a:p>
            <a:endParaRPr lang="en-US"/>
          </a:p>
        </p:txBody>
      </p:sp>
      <p:sp>
        <p:nvSpPr>
          <p:cNvPr id="30" name="Text 28"/>
          <p:cNvSpPr/>
          <p:nvPr/>
        </p:nvSpPr>
        <p:spPr>
          <a:xfrm>
            <a:off x="4773168" y="4206240"/>
            <a:ext cx="1773936" cy="41148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data.csv + params.yaml → model</a:t>
            </a:r>
            <a:endParaRPr lang="en-US" sz="900" dirty="0"/>
          </a:p>
        </p:txBody>
      </p:sp>
      <p:sp>
        <p:nvSpPr>
          <p:cNvPr id="31" name="Shape 29"/>
          <p:cNvSpPr/>
          <p:nvPr/>
        </p:nvSpPr>
        <p:spPr>
          <a:xfrm>
            <a:off x="6656832" y="2994660"/>
            <a:ext cx="182880" cy="0"/>
          </a:xfrm>
          <a:prstGeom prst="line">
            <a:avLst/>
          </a:prstGeom>
          <a:noFill/>
          <a:ln w="25400">
            <a:solidFill>
              <a:srgbClr val="0D9488"/>
            </a:solidFill>
            <a:prstDash val="solid"/>
          </a:ln>
        </p:spPr>
        <p:txBody>
          <a:bodyPr/>
          <a:lstStyle/>
          <a:p>
            <a:endParaRPr lang="en-US"/>
          </a:p>
        </p:txBody>
      </p:sp>
      <p:sp>
        <p:nvSpPr>
          <p:cNvPr id="32" name="Shape 30"/>
          <p:cNvSpPr/>
          <p:nvPr/>
        </p:nvSpPr>
        <p:spPr>
          <a:xfrm>
            <a:off x="6839712" y="1234440"/>
            <a:ext cx="1993392" cy="352044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33" name="Shape 31"/>
          <p:cNvSpPr/>
          <p:nvPr/>
        </p:nvSpPr>
        <p:spPr>
          <a:xfrm>
            <a:off x="6839712" y="1234440"/>
            <a:ext cx="1993392" cy="73152"/>
          </a:xfrm>
          <a:prstGeom prst="rect">
            <a:avLst/>
          </a:prstGeom>
          <a:solidFill>
            <a:srgbClr val="0D9488"/>
          </a:solidFill>
          <a:ln w="12700">
            <a:solidFill>
              <a:srgbClr val="0D9488"/>
            </a:solidFill>
            <a:prstDash val="solid"/>
          </a:ln>
        </p:spPr>
        <p:txBody>
          <a:bodyPr/>
          <a:lstStyle/>
          <a:p>
            <a:endParaRPr lang="en-US"/>
          </a:p>
        </p:txBody>
      </p:sp>
      <p:sp>
        <p:nvSpPr>
          <p:cNvPr id="34" name="Shape 32"/>
          <p:cNvSpPr/>
          <p:nvPr/>
        </p:nvSpPr>
        <p:spPr>
          <a:xfrm>
            <a:off x="7516368" y="1417320"/>
            <a:ext cx="640080" cy="640080"/>
          </a:xfrm>
          <a:prstGeom prst="ellipse">
            <a:avLst/>
          </a:prstGeom>
          <a:solidFill>
            <a:srgbClr val="1B2A4A"/>
          </a:solidFill>
          <a:ln w="12700">
            <a:solidFill>
              <a:srgbClr val="1B2A4A"/>
            </a:solidFill>
            <a:prstDash val="solid"/>
          </a:ln>
        </p:spPr>
        <p:txBody>
          <a:bodyPr/>
          <a:lstStyle/>
          <a:p>
            <a:endParaRPr lang="en-US"/>
          </a:p>
        </p:txBody>
      </p:sp>
      <p:sp>
        <p:nvSpPr>
          <p:cNvPr id="35" name="Text 33"/>
          <p:cNvSpPr/>
          <p:nvPr/>
        </p:nvSpPr>
        <p:spPr>
          <a:xfrm>
            <a:off x="7516368" y="1417320"/>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36" name="Text 34"/>
          <p:cNvSpPr/>
          <p:nvPr/>
        </p:nvSpPr>
        <p:spPr>
          <a:xfrm>
            <a:off x="6931152" y="2194560"/>
            <a:ext cx="1810512" cy="384048"/>
          </a:xfrm>
          <a:prstGeom prst="rect">
            <a:avLst/>
          </a:prstGeom>
          <a:noFill/>
          <a:ln/>
        </p:spPr>
        <p:txBody>
          <a:bodyPr wrap="square" lIns="0" tIns="0" rIns="0" bIns="0" rtlCol="0" anchor="ctr"/>
          <a:lstStyle/>
          <a:p>
            <a:pPr marL="0" indent="0" algn="ctr">
              <a:buNone/>
            </a:pPr>
            <a:r>
              <a:rPr lang="en-US" sz="1500" b="1" dirty="0">
                <a:solidFill>
                  <a:srgbClr val="1B2A4A"/>
                </a:solidFill>
                <a:latin typeface="Georgia" pitchFamily="34" charset="0"/>
                <a:ea typeface="Georgia" pitchFamily="34" charset="-122"/>
                <a:cs typeface="Georgia" pitchFamily="34" charset="-120"/>
              </a:rPr>
              <a:t>Evaluate</a:t>
            </a:r>
            <a:endParaRPr lang="en-US" sz="1500" dirty="0"/>
          </a:p>
        </p:txBody>
      </p:sp>
      <p:sp>
        <p:nvSpPr>
          <p:cNvPr id="37" name="Text 35"/>
          <p:cNvSpPr/>
          <p:nvPr/>
        </p:nvSpPr>
        <p:spPr>
          <a:xfrm>
            <a:off x="6976872" y="2651760"/>
            <a:ext cx="1719072" cy="1481328"/>
          </a:xfrm>
          <a:prstGeom prst="rect">
            <a:avLst/>
          </a:prstGeom>
          <a:noFill/>
          <a:ln/>
        </p:spPr>
        <p:txBody>
          <a:bodyPr wrap="square" lIns="0" tIns="0" rIns="0" bIns="0"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Accuracy, AUC-ROC, confusion matrix, feature importances, fairness audit (3 groups).</a:t>
            </a:r>
            <a:endParaRPr lang="en-US" sz="1100" dirty="0"/>
          </a:p>
        </p:txBody>
      </p:sp>
      <p:sp>
        <p:nvSpPr>
          <p:cNvPr id="38" name="Shape 36"/>
          <p:cNvSpPr/>
          <p:nvPr/>
        </p:nvSpPr>
        <p:spPr>
          <a:xfrm>
            <a:off x="6949440" y="4206240"/>
            <a:ext cx="1773936" cy="411480"/>
          </a:xfrm>
          <a:prstGeom prst="rect">
            <a:avLst/>
          </a:prstGeom>
          <a:solidFill>
            <a:srgbClr val="CCFBF1"/>
          </a:solidFill>
          <a:ln w="6350">
            <a:solidFill>
              <a:srgbClr val="0D9488"/>
            </a:solidFill>
            <a:prstDash val="solid"/>
          </a:ln>
        </p:spPr>
        <p:txBody>
          <a:bodyPr/>
          <a:lstStyle/>
          <a:p>
            <a:endParaRPr lang="en-US"/>
          </a:p>
        </p:txBody>
      </p:sp>
      <p:sp>
        <p:nvSpPr>
          <p:cNvPr id="39" name="Text 37"/>
          <p:cNvSpPr/>
          <p:nvPr/>
        </p:nvSpPr>
        <p:spPr>
          <a:xfrm>
            <a:off x="6949440" y="4206240"/>
            <a:ext cx="1773936" cy="41148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model → metrics/*.json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65760" y="0"/>
            <a:ext cx="841248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04  Model Training &amp; Baseline Results</a:t>
            </a:r>
            <a:endParaRPr lang="en-US" sz="2600" dirty="0"/>
          </a:p>
        </p:txBody>
      </p:sp>
      <p:sp>
        <p:nvSpPr>
          <p:cNvPr id="5" name="Shape 3"/>
          <p:cNvSpPr/>
          <p:nvPr/>
        </p:nvSpPr>
        <p:spPr>
          <a:xfrm>
            <a:off x="320040" y="1234440"/>
            <a:ext cx="425196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6" name="Shape 4"/>
          <p:cNvSpPr/>
          <p:nvPr/>
        </p:nvSpPr>
        <p:spPr>
          <a:xfrm>
            <a:off x="320040" y="1234440"/>
            <a:ext cx="4251960" cy="73152"/>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457200" y="1389888"/>
            <a:ext cx="3977640" cy="384048"/>
          </a:xfrm>
          <a:prstGeom prst="rect">
            <a:avLst/>
          </a:prstGeom>
          <a:noFill/>
          <a:ln/>
        </p:spPr>
        <p:txBody>
          <a:bodyPr wrap="square" lIns="0" tIns="0" rIns="0" bIns="0" rtlCol="0" anchor="ctr"/>
          <a:lstStyle/>
          <a:p>
            <a:pPr marL="0" indent="0" algn="l">
              <a:buNone/>
            </a:pPr>
            <a:r>
              <a:rPr lang="en-US" sz="1600" b="1" dirty="0">
                <a:solidFill>
                  <a:srgbClr val="1B2A4A"/>
                </a:solidFill>
                <a:latin typeface="Georgia" pitchFamily="34" charset="0"/>
                <a:ea typeface="Georgia" pitchFamily="34" charset="-122"/>
                <a:cs typeface="Georgia" pitchFamily="34" charset="-120"/>
              </a:rPr>
              <a:t>Training Setup</a:t>
            </a:r>
            <a:endParaRPr lang="en-US" sz="1600" dirty="0"/>
          </a:p>
        </p:txBody>
      </p:sp>
      <p:sp>
        <p:nvSpPr>
          <p:cNvPr id="8" name="Shape 6"/>
          <p:cNvSpPr/>
          <p:nvPr/>
        </p:nvSpPr>
        <p:spPr>
          <a:xfrm>
            <a:off x="411480" y="1874520"/>
            <a:ext cx="4069080" cy="420624"/>
          </a:xfrm>
          <a:prstGeom prst="rect">
            <a:avLst/>
          </a:prstGeom>
          <a:solidFill>
            <a:srgbClr val="F8FAFC"/>
          </a:solidFill>
          <a:ln w="6350">
            <a:solidFill>
              <a:srgbClr val="E2E8F0"/>
            </a:solidFill>
            <a:prstDash val="solid"/>
          </a:ln>
        </p:spPr>
        <p:txBody>
          <a:bodyPr/>
          <a:lstStyle/>
          <a:p>
            <a:endParaRPr lang="en-US"/>
          </a:p>
        </p:txBody>
      </p:sp>
      <p:sp>
        <p:nvSpPr>
          <p:cNvPr id="9" name="Text 7"/>
          <p:cNvSpPr/>
          <p:nvPr/>
        </p:nvSpPr>
        <p:spPr>
          <a:xfrm>
            <a:off x="502920" y="1874520"/>
            <a:ext cx="1417320" cy="420624"/>
          </a:xfrm>
          <a:prstGeom prst="rect">
            <a:avLst/>
          </a:prstGeom>
          <a:noFill/>
          <a:ln/>
        </p:spPr>
        <p:txBody>
          <a:bodyPr wrap="square" lIns="0" tIns="0" rIns="0" bIns="0"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Algorithm</a:t>
            </a:r>
            <a:endParaRPr lang="en-US" sz="1050" dirty="0"/>
          </a:p>
        </p:txBody>
      </p:sp>
      <p:sp>
        <p:nvSpPr>
          <p:cNvPr id="10" name="Text 8"/>
          <p:cNvSpPr/>
          <p:nvPr/>
        </p:nvSpPr>
        <p:spPr>
          <a:xfrm>
            <a:off x="1965960" y="1874520"/>
            <a:ext cx="2423160" cy="420624"/>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XGBoost Classifier</a:t>
            </a:r>
            <a:endParaRPr lang="en-US" sz="1050" dirty="0"/>
          </a:p>
        </p:txBody>
      </p:sp>
      <p:sp>
        <p:nvSpPr>
          <p:cNvPr id="11" name="Shape 9"/>
          <p:cNvSpPr/>
          <p:nvPr/>
        </p:nvSpPr>
        <p:spPr>
          <a:xfrm>
            <a:off x="411480" y="2350008"/>
            <a:ext cx="4069080" cy="420624"/>
          </a:xfrm>
          <a:prstGeom prst="rect">
            <a:avLst/>
          </a:prstGeom>
          <a:solidFill>
            <a:srgbClr val="FFFFFF"/>
          </a:solidFill>
          <a:ln w="6350">
            <a:solidFill>
              <a:srgbClr val="E2E8F0"/>
            </a:solidFill>
            <a:prstDash val="solid"/>
          </a:ln>
        </p:spPr>
        <p:txBody>
          <a:bodyPr/>
          <a:lstStyle/>
          <a:p>
            <a:endParaRPr lang="en-US"/>
          </a:p>
        </p:txBody>
      </p:sp>
      <p:sp>
        <p:nvSpPr>
          <p:cNvPr id="12" name="Text 10"/>
          <p:cNvSpPr/>
          <p:nvPr/>
        </p:nvSpPr>
        <p:spPr>
          <a:xfrm>
            <a:off x="502920" y="2350008"/>
            <a:ext cx="1417320" cy="420624"/>
          </a:xfrm>
          <a:prstGeom prst="rect">
            <a:avLst/>
          </a:prstGeom>
          <a:noFill/>
          <a:ln/>
        </p:spPr>
        <p:txBody>
          <a:bodyPr wrap="square" lIns="0" tIns="0" rIns="0" bIns="0"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Pre-processing</a:t>
            </a:r>
            <a:endParaRPr lang="en-US" sz="1050" dirty="0"/>
          </a:p>
        </p:txBody>
      </p:sp>
      <p:sp>
        <p:nvSpPr>
          <p:cNvPr id="13" name="Text 11"/>
          <p:cNvSpPr/>
          <p:nvPr/>
        </p:nvSpPr>
        <p:spPr>
          <a:xfrm>
            <a:off x="1965960" y="2350008"/>
            <a:ext cx="2423160" cy="420624"/>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StandardScaler (sklearn Pipeline)</a:t>
            </a:r>
            <a:endParaRPr lang="en-US" sz="1050" dirty="0"/>
          </a:p>
        </p:txBody>
      </p:sp>
      <p:sp>
        <p:nvSpPr>
          <p:cNvPr id="14" name="Shape 12"/>
          <p:cNvSpPr/>
          <p:nvPr/>
        </p:nvSpPr>
        <p:spPr>
          <a:xfrm>
            <a:off x="411480" y="2825496"/>
            <a:ext cx="4069080" cy="420624"/>
          </a:xfrm>
          <a:prstGeom prst="rect">
            <a:avLst/>
          </a:prstGeom>
          <a:solidFill>
            <a:srgbClr val="F8FAFC"/>
          </a:solidFill>
          <a:ln w="6350">
            <a:solidFill>
              <a:srgbClr val="E2E8F0"/>
            </a:solidFill>
            <a:prstDash val="solid"/>
          </a:ln>
        </p:spPr>
        <p:txBody>
          <a:bodyPr/>
          <a:lstStyle/>
          <a:p>
            <a:endParaRPr lang="en-US"/>
          </a:p>
        </p:txBody>
      </p:sp>
      <p:sp>
        <p:nvSpPr>
          <p:cNvPr id="15" name="Text 13"/>
          <p:cNvSpPr/>
          <p:nvPr/>
        </p:nvSpPr>
        <p:spPr>
          <a:xfrm>
            <a:off x="502920" y="2825496"/>
            <a:ext cx="1417320" cy="420624"/>
          </a:xfrm>
          <a:prstGeom prst="rect">
            <a:avLst/>
          </a:prstGeom>
          <a:noFill/>
          <a:ln/>
        </p:spPr>
        <p:txBody>
          <a:bodyPr wrap="square" lIns="0" tIns="0" rIns="0" bIns="0"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HPO Framework</a:t>
            </a:r>
            <a:endParaRPr lang="en-US" sz="1050" dirty="0"/>
          </a:p>
        </p:txBody>
      </p:sp>
      <p:sp>
        <p:nvSpPr>
          <p:cNvPr id="16" name="Text 14"/>
          <p:cNvSpPr/>
          <p:nvPr/>
        </p:nvSpPr>
        <p:spPr>
          <a:xfrm>
            <a:off x="1965960" y="2825496"/>
            <a:ext cx="2423160" cy="420624"/>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Optuna TPE Sampler</a:t>
            </a:r>
            <a:endParaRPr lang="en-US" sz="1050" dirty="0"/>
          </a:p>
        </p:txBody>
      </p:sp>
      <p:sp>
        <p:nvSpPr>
          <p:cNvPr id="17" name="Shape 15"/>
          <p:cNvSpPr/>
          <p:nvPr/>
        </p:nvSpPr>
        <p:spPr>
          <a:xfrm>
            <a:off x="411480" y="3300984"/>
            <a:ext cx="4069080" cy="420624"/>
          </a:xfrm>
          <a:prstGeom prst="rect">
            <a:avLst/>
          </a:prstGeom>
          <a:solidFill>
            <a:srgbClr val="FFFFFF"/>
          </a:solidFill>
          <a:ln w="6350">
            <a:solidFill>
              <a:srgbClr val="E2E8F0"/>
            </a:solidFill>
            <a:prstDash val="solid"/>
          </a:ln>
        </p:spPr>
        <p:txBody>
          <a:bodyPr/>
          <a:lstStyle/>
          <a:p>
            <a:endParaRPr lang="en-US"/>
          </a:p>
        </p:txBody>
      </p:sp>
      <p:sp>
        <p:nvSpPr>
          <p:cNvPr id="18" name="Text 16"/>
          <p:cNvSpPr/>
          <p:nvPr/>
        </p:nvSpPr>
        <p:spPr>
          <a:xfrm>
            <a:off x="502920" y="3300984"/>
            <a:ext cx="1417320" cy="420624"/>
          </a:xfrm>
          <a:prstGeom prst="rect">
            <a:avLst/>
          </a:prstGeom>
          <a:noFill/>
          <a:ln/>
        </p:spPr>
        <p:txBody>
          <a:bodyPr wrap="square" lIns="0" tIns="0" rIns="0" bIns="0"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Trials / CV</a:t>
            </a:r>
            <a:endParaRPr lang="en-US" sz="1050" dirty="0"/>
          </a:p>
        </p:txBody>
      </p:sp>
      <p:sp>
        <p:nvSpPr>
          <p:cNvPr id="19" name="Text 17"/>
          <p:cNvSpPr/>
          <p:nvPr/>
        </p:nvSpPr>
        <p:spPr>
          <a:xfrm>
            <a:off x="1965960" y="3300984"/>
            <a:ext cx="2423160" cy="420624"/>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20 trials · 5-fold cross-validation</a:t>
            </a:r>
            <a:endParaRPr lang="en-US" sz="1050" dirty="0"/>
          </a:p>
        </p:txBody>
      </p:sp>
      <p:sp>
        <p:nvSpPr>
          <p:cNvPr id="20" name="Shape 18"/>
          <p:cNvSpPr/>
          <p:nvPr/>
        </p:nvSpPr>
        <p:spPr>
          <a:xfrm>
            <a:off x="411480" y="3776472"/>
            <a:ext cx="4069080" cy="420624"/>
          </a:xfrm>
          <a:prstGeom prst="rect">
            <a:avLst/>
          </a:prstGeom>
          <a:solidFill>
            <a:srgbClr val="F8FAFC"/>
          </a:solidFill>
          <a:ln w="6350">
            <a:solidFill>
              <a:srgbClr val="E2E8F0"/>
            </a:solidFill>
            <a:prstDash val="solid"/>
          </a:ln>
        </p:spPr>
        <p:txBody>
          <a:bodyPr/>
          <a:lstStyle/>
          <a:p>
            <a:endParaRPr lang="en-US"/>
          </a:p>
        </p:txBody>
      </p:sp>
      <p:sp>
        <p:nvSpPr>
          <p:cNvPr id="21" name="Text 19"/>
          <p:cNvSpPr/>
          <p:nvPr/>
        </p:nvSpPr>
        <p:spPr>
          <a:xfrm>
            <a:off x="502920" y="3776472"/>
            <a:ext cx="1417320" cy="420624"/>
          </a:xfrm>
          <a:prstGeom prst="rect">
            <a:avLst/>
          </a:prstGeom>
          <a:noFill/>
          <a:ln/>
        </p:spPr>
        <p:txBody>
          <a:bodyPr wrap="square" lIns="0" tIns="0" rIns="0" bIns="0"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Tracking</a:t>
            </a:r>
            <a:endParaRPr lang="en-US" sz="1050" dirty="0"/>
          </a:p>
        </p:txBody>
      </p:sp>
      <p:sp>
        <p:nvSpPr>
          <p:cNvPr id="22" name="Text 20"/>
          <p:cNvSpPr/>
          <p:nvPr/>
        </p:nvSpPr>
        <p:spPr>
          <a:xfrm>
            <a:off x="1965960" y="3776472"/>
            <a:ext cx="2423160" cy="420624"/>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MLflow → registered as credit-scoring-xgb</a:t>
            </a:r>
            <a:endParaRPr lang="en-US" sz="1050" dirty="0"/>
          </a:p>
        </p:txBody>
      </p:sp>
      <p:sp>
        <p:nvSpPr>
          <p:cNvPr id="23" name="Shape 21"/>
          <p:cNvSpPr/>
          <p:nvPr/>
        </p:nvSpPr>
        <p:spPr>
          <a:xfrm>
            <a:off x="411480" y="4251960"/>
            <a:ext cx="4069080" cy="420624"/>
          </a:xfrm>
          <a:prstGeom prst="rect">
            <a:avLst/>
          </a:prstGeom>
          <a:solidFill>
            <a:srgbClr val="FFFFFF"/>
          </a:solidFill>
          <a:ln w="6350">
            <a:solidFill>
              <a:srgbClr val="E2E8F0"/>
            </a:solidFill>
            <a:prstDash val="solid"/>
          </a:ln>
        </p:spPr>
        <p:txBody>
          <a:bodyPr/>
          <a:lstStyle/>
          <a:p>
            <a:endParaRPr lang="en-US"/>
          </a:p>
        </p:txBody>
      </p:sp>
      <p:sp>
        <p:nvSpPr>
          <p:cNvPr id="24" name="Text 22"/>
          <p:cNvSpPr/>
          <p:nvPr/>
        </p:nvSpPr>
        <p:spPr>
          <a:xfrm>
            <a:off x="502920" y="4251960"/>
            <a:ext cx="1417320" cy="420624"/>
          </a:xfrm>
          <a:prstGeom prst="rect">
            <a:avLst/>
          </a:prstGeom>
          <a:noFill/>
          <a:ln/>
        </p:spPr>
        <p:txBody>
          <a:bodyPr wrap="square" lIns="0" tIns="0" rIns="0" bIns="0" rtlCol="0" anchor="ctr"/>
          <a:lstStyle/>
          <a:p>
            <a:pPr marL="0" indent="0" algn="l">
              <a:buNone/>
            </a:pPr>
            <a:r>
              <a:rPr lang="en-US" sz="1050" b="1" dirty="0">
                <a:solidFill>
                  <a:srgbClr val="64748B"/>
                </a:solidFill>
                <a:latin typeface="Calibri" pitchFamily="34" charset="0"/>
                <a:ea typeface="Calibri" pitchFamily="34" charset="-122"/>
                <a:cs typeface="Calibri" pitchFamily="34" charset="-120"/>
              </a:rPr>
              <a:t>Train/Test</a:t>
            </a:r>
            <a:endParaRPr lang="en-US" sz="1050" dirty="0"/>
          </a:p>
        </p:txBody>
      </p:sp>
      <p:sp>
        <p:nvSpPr>
          <p:cNvPr id="25" name="Text 23"/>
          <p:cNvSpPr/>
          <p:nvPr/>
        </p:nvSpPr>
        <p:spPr>
          <a:xfrm>
            <a:off x="1965960" y="4251960"/>
            <a:ext cx="2423160" cy="420624"/>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80% / 20% stratified split</a:t>
            </a:r>
            <a:endParaRPr lang="en-US" sz="1050" dirty="0"/>
          </a:p>
        </p:txBody>
      </p:sp>
      <p:sp>
        <p:nvSpPr>
          <p:cNvPr id="26" name="Shape 24"/>
          <p:cNvSpPr/>
          <p:nvPr/>
        </p:nvSpPr>
        <p:spPr>
          <a:xfrm>
            <a:off x="4846320" y="1234440"/>
            <a:ext cx="1938528" cy="1664208"/>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27" name="Shape 25"/>
          <p:cNvSpPr/>
          <p:nvPr/>
        </p:nvSpPr>
        <p:spPr>
          <a:xfrm>
            <a:off x="4846320" y="1234440"/>
            <a:ext cx="1938528" cy="73152"/>
          </a:xfrm>
          <a:prstGeom prst="rect">
            <a:avLst/>
          </a:prstGeom>
          <a:solidFill>
            <a:srgbClr val="0D9488"/>
          </a:solidFill>
          <a:ln w="12700">
            <a:solidFill>
              <a:srgbClr val="0D9488"/>
            </a:solidFill>
            <a:prstDash val="solid"/>
          </a:ln>
        </p:spPr>
        <p:txBody>
          <a:bodyPr/>
          <a:lstStyle/>
          <a:p>
            <a:endParaRPr lang="en-US"/>
          </a:p>
        </p:txBody>
      </p:sp>
      <p:sp>
        <p:nvSpPr>
          <p:cNvPr id="28" name="Text 26"/>
          <p:cNvSpPr/>
          <p:nvPr/>
        </p:nvSpPr>
        <p:spPr>
          <a:xfrm>
            <a:off x="4846320" y="1417320"/>
            <a:ext cx="1938528" cy="1005840"/>
          </a:xfrm>
          <a:prstGeom prst="rect">
            <a:avLst/>
          </a:prstGeom>
          <a:noFill/>
          <a:ln/>
        </p:spPr>
        <p:txBody>
          <a:bodyPr wrap="square" lIns="0" tIns="0" rIns="0" bIns="0" rtlCol="0" anchor="ctr"/>
          <a:lstStyle/>
          <a:p>
            <a:pPr marL="0" indent="0" algn="ctr">
              <a:buNone/>
            </a:pPr>
            <a:r>
              <a:rPr lang="en-US" sz="4400" b="1" dirty="0">
                <a:solidFill>
                  <a:srgbClr val="0D9488"/>
                </a:solidFill>
                <a:latin typeface="Georgia" pitchFamily="34" charset="0"/>
                <a:ea typeface="Georgia" pitchFamily="34" charset="-122"/>
                <a:cs typeface="Georgia" pitchFamily="34" charset="-120"/>
              </a:rPr>
              <a:t>0.778</a:t>
            </a:r>
            <a:endParaRPr lang="en-US" sz="4400" dirty="0"/>
          </a:p>
        </p:txBody>
      </p:sp>
      <p:sp>
        <p:nvSpPr>
          <p:cNvPr id="29" name="Text 27"/>
          <p:cNvSpPr/>
          <p:nvPr/>
        </p:nvSpPr>
        <p:spPr>
          <a:xfrm>
            <a:off x="4846320" y="2496312"/>
            <a:ext cx="1938528" cy="329184"/>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AUC-ROC</a:t>
            </a:r>
            <a:endParaRPr lang="en-US" sz="1200" dirty="0"/>
          </a:p>
        </p:txBody>
      </p:sp>
      <p:sp>
        <p:nvSpPr>
          <p:cNvPr id="30" name="Shape 28"/>
          <p:cNvSpPr/>
          <p:nvPr/>
        </p:nvSpPr>
        <p:spPr>
          <a:xfrm>
            <a:off x="7040880" y="1234440"/>
            <a:ext cx="1938528" cy="1664208"/>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31" name="Shape 29"/>
          <p:cNvSpPr/>
          <p:nvPr/>
        </p:nvSpPr>
        <p:spPr>
          <a:xfrm>
            <a:off x="7040880" y="1234440"/>
            <a:ext cx="1938528" cy="73152"/>
          </a:xfrm>
          <a:prstGeom prst="rect">
            <a:avLst/>
          </a:prstGeom>
          <a:solidFill>
            <a:srgbClr val="1B2A4A"/>
          </a:solidFill>
          <a:ln w="12700">
            <a:solidFill>
              <a:srgbClr val="1B2A4A"/>
            </a:solidFill>
            <a:prstDash val="solid"/>
          </a:ln>
        </p:spPr>
        <p:txBody>
          <a:bodyPr/>
          <a:lstStyle/>
          <a:p>
            <a:endParaRPr lang="en-US"/>
          </a:p>
        </p:txBody>
      </p:sp>
      <p:sp>
        <p:nvSpPr>
          <p:cNvPr id="32" name="Text 30"/>
          <p:cNvSpPr/>
          <p:nvPr/>
        </p:nvSpPr>
        <p:spPr>
          <a:xfrm>
            <a:off x="7040880" y="1417320"/>
            <a:ext cx="1938528" cy="1005840"/>
          </a:xfrm>
          <a:prstGeom prst="rect">
            <a:avLst/>
          </a:prstGeom>
          <a:noFill/>
          <a:ln/>
        </p:spPr>
        <p:txBody>
          <a:bodyPr wrap="square" lIns="0" tIns="0" rIns="0" bIns="0" rtlCol="0" anchor="ctr"/>
          <a:lstStyle/>
          <a:p>
            <a:pPr marL="0" indent="0" algn="ctr">
              <a:buNone/>
            </a:pPr>
            <a:r>
              <a:rPr lang="en-US" sz="4400" b="1" dirty="0">
                <a:solidFill>
                  <a:srgbClr val="1B2A4A"/>
                </a:solidFill>
                <a:latin typeface="Georgia" pitchFamily="34" charset="0"/>
                <a:ea typeface="Georgia" pitchFamily="34" charset="-122"/>
                <a:cs typeface="Georgia" pitchFamily="34" charset="-120"/>
              </a:rPr>
              <a:t>82.0%</a:t>
            </a:r>
            <a:endParaRPr lang="en-US" sz="4400" dirty="0"/>
          </a:p>
        </p:txBody>
      </p:sp>
      <p:sp>
        <p:nvSpPr>
          <p:cNvPr id="33" name="Text 31"/>
          <p:cNvSpPr/>
          <p:nvPr/>
        </p:nvSpPr>
        <p:spPr>
          <a:xfrm>
            <a:off x="7040880" y="2496312"/>
            <a:ext cx="1938528" cy="329184"/>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Accuracy</a:t>
            </a:r>
            <a:endParaRPr lang="en-US" sz="1200" dirty="0"/>
          </a:p>
        </p:txBody>
      </p:sp>
      <p:sp>
        <p:nvSpPr>
          <p:cNvPr id="34" name="Shape 32"/>
          <p:cNvSpPr/>
          <p:nvPr/>
        </p:nvSpPr>
        <p:spPr>
          <a:xfrm>
            <a:off x="4846320" y="3063240"/>
            <a:ext cx="1938528" cy="1664208"/>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35" name="Shape 33"/>
          <p:cNvSpPr/>
          <p:nvPr/>
        </p:nvSpPr>
        <p:spPr>
          <a:xfrm>
            <a:off x="4846320" y="3063240"/>
            <a:ext cx="1938528" cy="73152"/>
          </a:xfrm>
          <a:prstGeom prst="rect">
            <a:avLst/>
          </a:prstGeom>
          <a:solidFill>
            <a:srgbClr val="0891B2"/>
          </a:solidFill>
          <a:ln w="12700">
            <a:solidFill>
              <a:srgbClr val="0891B2"/>
            </a:solidFill>
            <a:prstDash val="solid"/>
          </a:ln>
        </p:spPr>
        <p:txBody>
          <a:bodyPr/>
          <a:lstStyle/>
          <a:p>
            <a:endParaRPr lang="en-US"/>
          </a:p>
        </p:txBody>
      </p:sp>
      <p:sp>
        <p:nvSpPr>
          <p:cNvPr id="36" name="Text 34"/>
          <p:cNvSpPr/>
          <p:nvPr/>
        </p:nvSpPr>
        <p:spPr>
          <a:xfrm>
            <a:off x="4846320" y="3246120"/>
            <a:ext cx="1938528" cy="1005840"/>
          </a:xfrm>
          <a:prstGeom prst="rect">
            <a:avLst/>
          </a:prstGeom>
          <a:noFill/>
          <a:ln/>
        </p:spPr>
        <p:txBody>
          <a:bodyPr wrap="square" lIns="0" tIns="0" rIns="0" bIns="0" rtlCol="0" anchor="ctr"/>
          <a:lstStyle/>
          <a:p>
            <a:pPr marL="0" indent="0" algn="ctr">
              <a:buNone/>
            </a:pPr>
            <a:r>
              <a:rPr lang="en-US" sz="4400" b="1" dirty="0">
                <a:solidFill>
                  <a:srgbClr val="0891B2"/>
                </a:solidFill>
                <a:latin typeface="Georgia" pitchFamily="34" charset="0"/>
                <a:ea typeface="Georgia" pitchFamily="34" charset="-122"/>
                <a:cs typeface="Georgia" pitchFamily="34" charset="-120"/>
              </a:rPr>
              <a:t>0.642</a:t>
            </a:r>
            <a:endParaRPr lang="en-US" sz="4400" dirty="0"/>
          </a:p>
        </p:txBody>
      </p:sp>
      <p:sp>
        <p:nvSpPr>
          <p:cNvPr id="37" name="Text 35"/>
          <p:cNvSpPr/>
          <p:nvPr/>
        </p:nvSpPr>
        <p:spPr>
          <a:xfrm>
            <a:off x="4846320" y="4325112"/>
            <a:ext cx="1938528" cy="329184"/>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F1 Score</a:t>
            </a:r>
            <a:endParaRPr lang="en-US" sz="1200" dirty="0"/>
          </a:p>
        </p:txBody>
      </p:sp>
      <p:sp>
        <p:nvSpPr>
          <p:cNvPr id="38" name="Shape 36"/>
          <p:cNvSpPr/>
          <p:nvPr/>
        </p:nvSpPr>
        <p:spPr>
          <a:xfrm>
            <a:off x="7040880" y="3063240"/>
            <a:ext cx="1938528" cy="1664208"/>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39" name="Shape 37"/>
          <p:cNvSpPr/>
          <p:nvPr/>
        </p:nvSpPr>
        <p:spPr>
          <a:xfrm>
            <a:off x="7040880" y="3063240"/>
            <a:ext cx="1938528" cy="73152"/>
          </a:xfrm>
          <a:prstGeom prst="rect">
            <a:avLst/>
          </a:prstGeom>
          <a:solidFill>
            <a:srgbClr val="B45309"/>
          </a:solidFill>
          <a:ln w="12700">
            <a:solidFill>
              <a:srgbClr val="B45309"/>
            </a:solidFill>
            <a:prstDash val="solid"/>
          </a:ln>
        </p:spPr>
        <p:txBody>
          <a:bodyPr/>
          <a:lstStyle/>
          <a:p>
            <a:endParaRPr lang="en-US"/>
          </a:p>
        </p:txBody>
      </p:sp>
      <p:sp>
        <p:nvSpPr>
          <p:cNvPr id="40" name="Text 38"/>
          <p:cNvSpPr/>
          <p:nvPr/>
        </p:nvSpPr>
        <p:spPr>
          <a:xfrm>
            <a:off x="7040880" y="3246120"/>
            <a:ext cx="1938528" cy="1005840"/>
          </a:xfrm>
          <a:prstGeom prst="rect">
            <a:avLst/>
          </a:prstGeom>
          <a:noFill/>
          <a:ln/>
        </p:spPr>
        <p:txBody>
          <a:bodyPr wrap="square" lIns="0" tIns="0" rIns="0" bIns="0" rtlCol="0" anchor="ctr"/>
          <a:lstStyle/>
          <a:p>
            <a:pPr marL="0" indent="0" algn="ctr">
              <a:buNone/>
            </a:pPr>
            <a:r>
              <a:rPr lang="en-US" sz="4400" b="1" dirty="0">
                <a:solidFill>
                  <a:srgbClr val="B45309"/>
                </a:solidFill>
                <a:latin typeface="Georgia" pitchFamily="34" charset="0"/>
                <a:ea typeface="Georgia" pitchFamily="34" charset="-122"/>
                <a:cs typeface="Georgia" pitchFamily="34" charset="-120"/>
              </a:rPr>
              <a:t>67.5%</a:t>
            </a:r>
            <a:endParaRPr lang="en-US" sz="4400" dirty="0"/>
          </a:p>
        </p:txBody>
      </p:sp>
      <p:sp>
        <p:nvSpPr>
          <p:cNvPr id="41" name="Text 39"/>
          <p:cNvSpPr/>
          <p:nvPr/>
        </p:nvSpPr>
        <p:spPr>
          <a:xfrm>
            <a:off x="7040880" y="4325112"/>
            <a:ext cx="1938528" cy="329184"/>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Precision</a:t>
            </a:r>
            <a:endParaRPr lang="en-US" sz="1200" dirty="0"/>
          </a:p>
        </p:txBody>
      </p:sp>
      <p:sp>
        <p:nvSpPr>
          <p:cNvPr id="42" name="Shape 40"/>
          <p:cNvSpPr/>
          <p:nvPr/>
        </p:nvSpPr>
        <p:spPr>
          <a:xfrm>
            <a:off x="4846320" y="4663440"/>
            <a:ext cx="4133088" cy="347472"/>
          </a:xfrm>
          <a:prstGeom prst="rect">
            <a:avLst/>
          </a:prstGeom>
          <a:solidFill>
            <a:srgbClr val="CCFBF1"/>
          </a:solidFill>
          <a:ln w="6350">
            <a:solidFill>
              <a:srgbClr val="0D9488"/>
            </a:solidFill>
            <a:prstDash val="solid"/>
          </a:ln>
        </p:spPr>
        <p:txBody>
          <a:bodyPr/>
          <a:lstStyle/>
          <a:p>
            <a:endParaRPr lang="en-US"/>
          </a:p>
        </p:txBody>
      </p:sp>
      <p:sp>
        <p:nvSpPr>
          <p:cNvPr id="43" name="Text 41"/>
          <p:cNvSpPr/>
          <p:nvPr/>
        </p:nvSpPr>
        <p:spPr>
          <a:xfrm>
            <a:off x="4846320" y="4663440"/>
            <a:ext cx="4133088" cy="347472"/>
          </a:xfrm>
          <a:prstGeom prst="rect">
            <a:avLst/>
          </a:prstGeom>
          <a:noFill/>
          <a:ln/>
        </p:spPr>
        <p:txBody>
          <a:bodyPr wrap="square" lIns="0" tIns="0" rIns="0" bIns="0" rtlCol="0" anchor="ctr"/>
          <a:lstStyle/>
          <a:p>
            <a:pPr marL="0" indent="0" algn="ctr">
              <a:buNone/>
            </a:pPr>
            <a:r>
              <a:rPr lang="en-US" sz="1000" i="1" dirty="0">
                <a:solidFill>
                  <a:srgbClr val="0D9488"/>
                </a:solidFill>
                <a:latin typeface="Calibri" pitchFamily="34" charset="0"/>
                <a:ea typeface="Calibri" pitchFamily="34" charset="-122"/>
                <a:cs typeface="Calibri" pitchFamily="34" charset="-120"/>
              </a:rPr>
              <a:t>All runs logged in MLflow  ·  Best model registered to Model Registry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365760" y="109728"/>
            <a:ext cx="841248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05  Containerized Inference Demo</a:t>
            </a:r>
            <a:endParaRPr lang="en-US" sz="2600" dirty="0"/>
          </a:p>
        </p:txBody>
      </p:sp>
      <p:sp>
        <p:nvSpPr>
          <p:cNvPr id="4" name="Shape 2"/>
          <p:cNvSpPr/>
          <p:nvPr/>
        </p:nvSpPr>
        <p:spPr>
          <a:xfrm>
            <a:off x="320040" y="1005840"/>
            <a:ext cx="4389120" cy="3840480"/>
          </a:xfrm>
          <a:prstGeom prst="rect">
            <a:avLst/>
          </a:prstGeom>
          <a:solidFill>
            <a:srgbClr val="1E293B"/>
          </a:solidFill>
          <a:ln w="12700">
            <a:solidFill>
              <a:srgbClr val="0D9488"/>
            </a:solidFill>
            <a:prstDash val="solid"/>
          </a:ln>
        </p:spPr>
        <p:txBody>
          <a:bodyPr/>
          <a:lstStyle/>
          <a:p>
            <a:endParaRPr lang="en-US"/>
          </a:p>
        </p:txBody>
      </p:sp>
      <p:sp>
        <p:nvSpPr>
          <p:cNvPr id="5" name="Shape 3"/>
          <p:cNvSpPr/>
          <p:nvPr/>
        </p:nvSpPr>
        <p:spPr>
          <a:xfrm>
            <a:off x="320040" y="1005840"/>
            <a:ext cx="4389120" cy="365760"/>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411480" y="1005840"/>
            <a:ext cx="4206240" cy="365760"/>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Dockerfile  —  Multi-Stage Build</a:t>
            </a:r>
            <a:endParaRPr lang="en-US" sz="1150" dirty="0"/>
          </a:p>
        </p:txBody>
      </p:sp>
      <p:sp>
        <p:nvSpPr>
          <p:cNvPr id="7" name="Text 5"/>
          <p:cNvSpPr/>
          <p:nvPr/>
        </p:nvSpPr>
        <p:spPr>
          <a:xfrm>
            <a:off x="457200" y="1444752"/>
            <a:ext cx="4160520" cy="246888"/>
          </a:xfrm>
          <a:prstGeom prst="rect">
            <a:avLst/>
          </a:prstGeom>
          <a:noFill/>
          <a:ln/>
        </p:spPr>
        <p:txBody>
          <a:bodyPr wrap="square" lIns="0" tIns="0" rIns="0" bIns="0" rtlCol="0" anchor="ctr"/>
          <a:lstStyle/>
          <a:p>
            <a:pPr marL="0" indent="0" algn="l">
              <a:buNone/>
            </a:pPr>
            <a:r>
              <a:rPr lang="en-US" sz="950" dirty="0">
                <a:solidFill>
                  <a:srgbClr val="64748B"/>
                </a:solidFill>
                <a:latin typeface="Courier New" pitchFamily="34" charset="0"/>
                <a:ea typeface="Courier New" pitchFamily="34" charset="-122"/>
                <a:cs typeface="Courier New" pitchFamily="34" charset="-120"/>
              </a:rPr>
              <a:t># ── Stage 1: Builder ──────────────────</a:t>
            </a:r>
            <a:endParaRPr lang="en-US" sz="950" dirty="0"/>
          </a:p>
        </p:txBody>
      </p:sp>
      <p:sp>
        <p:nvSpPr>
          <p:cNvPr id="8" name="Text 6"/>
          <p:cNvSpPr/>
          <p:nvPr/>
        </p:nvSpPr>
        <p:spPr>
          <a:xfrm>
            <a:off x="457200" y="1691640"/>
            <a:ext cx="4160520" cy="246888"/>
          </a:xfrm>
          <a:prstGeom prst="rect">
            <a:avLst/>
          </a:prstGeom>
          <a:noFill/>
          <a:ln/>
        </p:spPr>
        <p:txBody>
          <a:bodyPr wrap="square" lIns="0" tIns="0" rIns="0" bIns="0" rtlCol="0" anchor="ctr"/>
          <a:lstStyle/>
          <a:p>
            <a:pPr marL="0" indent="0" algn="l">
              <a:buNone/>
            </a:pPr>
            <a:r>
              <a:rPr lang="en-US" sz="950" dirty="0">
                <a:solidFill>
                  <a:srgbClr val="93C5FD"/>
                </a:solidFill>
                <a:latin typeface="Courier New" pitchFamily="34" charset="0"/>
                <a:ea typeface="Courier New" pitchFamily="34" charset="-122"/>
                <a:cs typeface="Courier New" pitchFamily="34" charset="-120"/>
              </a:rPr>
              <a:t>FROM python:3.11-slim AS builder</a:t>
            </a:r>
            <a:endParaRPr lang="en-US" sz="950" dirty="0"/>
          </a:p>
        </p:txBody>
      </p:sp>
      <p:sp>
        <p:nvSpPr>
          <p:cNvPr id="9" name="Text 7"/>
          <p:cNvSpPr/>
          <p:nvPr/>
        </p:nvSpPr>
        <p:spPr>
          <a:xfrm>
            <a:off x="457200" y="1938528"/>
            <a:ext cx="4160520" cy="246888"/>
          </a:xfrm>
          <a:prstGeom prst="rect">
            <a:avLst/>
          </a:prstGeom>
          <a:noFill/>
          <a:ln/>
        </p:spPr>
        <p:txBody>
          <a:bodyPr wrap="square" lIns="0" tIns="0" rIns="0" bIns="0" rtlCol="0" anchor="ctr"/>
          <a:lstStyle/>
          <a:p>
            <a:pPr marL="0" indent="0" algn="l">
              <a:buNone/>
            </a:pPr>
            <a:r>
              <a:rPr lang="en-US" sz="950" dirty="0">
                <a:solidFill>
                  <a:srgbClr val="E2E8F0"/>
                </a:solidFill>
                <a:latin typeface="Courier New" pitchFamily="34" charset="0"/>
                <a:ea typeface="Courier New" pitchFamily="34" charset="-122"/>
                <a:cs typeface="Courier New" pitchFamily="34" charset="-120"/>
              </a:rPr>
              <a:t>RUN apt-get install build-essential</a:t>
            </a:r>
            <a:endParaRPr lang="en-US" sz="950" dirty="0"/>
          </a:p>
        </p:txBody>
      </p:sp>
      <p:sp>
        <p:nvSpPr>
          <p:cNvPr id="10" name="Text 8"/>
          <p:cNvSpPr/>
          <p:nvPr/>
        </p:nvSpPr>
        <p:spPr>
          <a:xfrm>
            <a:off x="457200" y="2185416"/>
            <a:ext cx="4160520" cy="246888"/>
          </a:xfrm>
          <a:prstGeom prst="rect">
            <a:avLst/>
          </a:prstGeom>
          <a:noFill/>
          <a:ln/>
        </p:spPr>
        <p:txBody>
          <a:bodyPr wrap="square" lIns="0" tIns="0" rIns="0" bIns="0" rtlCol="0" anchor="ctr"/>
          <a:lstStyle/>
          <a:p>
            <a:pPr marL="0" indent="0" algn="l">
              <a:buNone/>
            </a:pPr>
            <a:r>
              <a:rPr lang="en-US" sz="950" dirty="0">
                <a:solidFill>
                  <a:srgbClr val="E2E8F0"/>
                </a:solidFill>
                <a:latin typeface="Courier New" pitchFamily="34" charset="0"/>
                <a:ea typeface="Courier New" pitchFamily="34" charset="-122"/>
                <a:cs typeface="Courier New" pitchFamily="34" charset="-120"/>
              </a:rPr>
              <a:t>COPY requirements.txt .</a:t>
            </a:r>
            <a:endParaRPr lang="en-US" sz="950" dirty="0"/>
          </a:p>
        </p:txBody>
      </p:sp>
      <p:sp>
        <p:nvSpPr>
          <p:cNvPr id="11" name="Text 9"/>
          <p:cNvSpPr/>
          <p:nvPr/>
        </p:nvSpPr>
        <p:spPr>
          <a:xfrm>
            <a:off x="457200" y="2432304"/>
            <a:ext cx="4160520" cy="246888"/>
          </a:xfrm>
          <a:prstGeom prst="rect">
            <a:avLst/>
          </a:prstGeom>
          <a:noFill/>
          <a:ln/>
        </p:spPr>
        <p:txBody>
          <a:bodyPr wrap="square" lIns="0" tIns="0" rIns="0" bIns="0" rtlCol="0" anchor="ctr"/>
          <a:lstStyle/>
          <a:p>
            <a:pPr marL="0" indent="0" algn="l">
              <a:buNone/>
            </a:pPr>
            <a:r>
              <a:rPr lang="en-US" sz="950" dirty="0">
                <a:solidFill>
                  <a:srgbClr val="E2E8F0"/>
                </a:solidFill>
                <a:latin typeface="Courier New" pitchFamily="34" charset="0"/>
                <a:ea typeface="Courier New" pitchFamily="34" charset="-122"/>
                <a:cs typeface="Courier New" pitchFamily="34" charset="-120"/>
              </a:rPr>
              <a:t>RUN pip install -r requirements.txt</a:t>
            </a:r>
            <a:endParaRPr lang="en-US" sz="950" dirty="0"/>
          </a:p>
        </p:txBody>
      </p:sp>
      <p:sp>
        <p:nvSpPr>
          <p:cNvPr id="12" name="Text 10"/>
          <p:cNvSpPr/>
          <p:nvPr/>
        </p:nvSpPr>
        <p:spPr>
          <a:xfrm>
            <a:off x="457200" y="2679192"/>
            <a:ext cx="4160520" cy="246888"/>
          </a:xfrm>
          <a:prstGeom prst="rect">
            <a:avLst/>
          </a:prstGeom>
          <a:noFill/>
          <a:ln/>
        </p:spPr>
        <p:txBody>
          <a:bodyPr wrap="square" lIns="0" tIns="0" rIns="0" bIns="0" rtlCol="0" anchor="ctr"/>
          <a:lstStyle/>
          <a:p>
            <a:pPr marL="0" indent="0" algn="l">
              <a:buNone/>
            </a:pPr>
            <a:endParaRPr lang="en-US" sz="950" dirty="0"/>
          </a:p>
        </p:txBody>
      </p:sp>
      <p:sp>
        <p:nvSpPr>
          <p:cNvPr id="13" name="Text 11"/>
          <p:cNvSpPr/>
          <p:nvPr/>
        </p:nvSpPr>
        <p:spPr>
          <a:xfrm>
            <a:off x="457200" y="2926080"/>
            <a:ext cx="4160520" cy="246888"/>
          </a:xfrm>
          <a:prstGeom prst="rect">
            <a:avLst/>
          </a:prstGeom>
          <a:noFill/>
          <a:ln/>
        </p:spPr>
        <p:txBody>
          <a:bodyPr wrap="square" lIns="0" tIns="0" rIns="0" bIns="0" rtlCol="0" anchor="ctr"/>
          <a:lstStyle/>
          <a:p>
            <a:pPr marL="0" indent="0" algn="l">
              <a:buNone/>
            </a:pPr>
            <a:r>
              <a:rPr lang="en-US" sz="950" dirty="0">
                <a:solidFill>
                  <a:srgbClr val="64748B"/>
                </a:solidFill>
                <a:latin typeface="Courier New" pitchFamily="34" charset="0"/>
                <a:ea typeface="Courier New" pitchFamily="34" charset="-122"/>
                <a:cs typeface="Courier New" pitchFamily="34" charset="-120"/>
              </a:rPr>
              <a:t># ── Stage 2: Runtime ──────────────────</a:t>
            </a:r>
            <a:endParaRPr lang="en-US" sz="950" dirty="0"/>
          </a:p>
        </p:txBody>
      </p:sp>
      <p:sp>
        <p:nvSpPr>
          <p:cNvPr id="14" name="Text 12"/>
          <p:cNvSpPr/>
          <p:nvPr/>
        </p:nvSpPr>
        <p:spPr>
          <a:xfrm>
            <a:off x="457200" y="3172968"/>
            <a:ext cx="4160520" cy="246888"/>
          </a:xfrm>
          <a:prstGeom prst="rect">
            <a:avLst/>
          </a:prstGeom>
          <a:noFill/>
          <a:ln/>
        </p:spPr>
        <p:txBody>
          <a:bodyPr wrap="square" lIns="0" tIns="0" rIns="0" bIns="0" rtlCol="0" anchor="ctr"/>
          <a:lstStyle/>
          <a:p>
            <a:pPr marL="0" indent="0" algn="l">
              <a:buNone/>
            </a:pPr>
            <a:r>
              <a:rPr lang="en-US" sz="950" dirty="0">
                <a:solidFill>
                  <a:srgbClr val="93C5FD"/>
                </a:solidFill>
                <a:latin typeface="Courier New" pitchFamily="34" charset="0"/>
                <a:ea typeface="Courier New" pitchFamily="34" charset="-122"/>
                <a:cs typeface="Courier New" pitchFamily="34" charset="-120"/>
              </a:rPr>
              <a:t>FROM python:3.11-slim</a:t>
            </a:r>
            <a:endParaRPr lang="en-US" sz="950" dirty="0"/>
          </a:p>
        </p:txBody>
      </p:sp>
      <p:sp>
        <p:nvSpPr>
          <p:cNvPr id="15" name="Text 13"/>
          <p:cNvSpPr/>
          <p:nvPr/>
        </p:nvSpPr>
        <p:spPr>
          <a:xfrm>
            <a:off x="457200" y="3419856"/>
            <a:ext cx="4160520" cy="246888"/>
          </a:xfrm>
          <a:prstGeom prst="rect">
            <a:avLst/>
          </a:prstGeom>
          <a:noFill/>
          <a:ln/>
        </p:spPr>
        <p:txBody>
          <a:bodyPr wrap="square" lIns="0" tIns="0" rIns="0" bIns="0" rtlCol="0" anchor="ctr"/>
          <a:lstStyle/>
          <a:p>
            <a:pPr marL="0" indent="0" algn="l">
              <a:buNone/>
            </a:pPr>
            <a:r>
              <a:rPr lang="en-US" sz="950" dirty="0">
                <a:solidFill>
                  <a:srgbClr val="E2E8F0"/>
                </a:solidFill>
                <a:latin typeface="Courier New" pitchFamily="34" charset="0"/>
                <a:ea typeface="Courier New" pitchFamily="34" charset="-122"/>
                <a:cs typeface="Courier New" pitchFamily="34" charset="-120"/>
              </a:rPr>
              <a:t>COPY --from=builder /deps .</a:t>
            </a:r>
            <a:endParaRPr lang="en-US" sz="950" dirty="0"/>
          </a:p>
        </p:txBody>
      </p:sp>
      <p:sp>
        <p:nvSpPr>
          <p:cNvPr id="16" name="Text 14"/>
          <p:cNvSpPr/>
          <p:nvPr/>
        </p:nvSpPr>
        <p:spPr>
          <a:xfrm>
            <a:off x="457200" y="3666744"/>
            <a:ext cx="4160520" cy="246888"/>
          </a:xfrm>
          <a:prstGeom prst="rect">
            <a:avLst/>
          </a:prstGeom>
          <a:noFill/>
          <a:ln/>
        </p:spPr>
        <p:txBody>
          <a:bodyPr wrap="square" lIns="0" tIns="0" rIns="0" bIns="0" rtlCol="0" anchor="ctr"/>
          <a:lstStyle/>
          <a:p>
            <a:pPr marL="0" indent="0" algn="l">
              <a:buNone/>
            </a:pPr>
            <a:r>
              <a:rPr lang="en-US" sz="950" dirty="0">
                <a:solidFill>
                  <a:srgbClr val="E2E8F0"/>
                </a:solidFill>
                <a:latin typeface="Courier New" pitchFamily="34" charset="0"/>
                <a:ea typeface="Courier New" pitchFamily="34" charset="-122"/>
                <a:cs typeface="Courier New" pitchFamily="34" charset="-120"/>
              </a:rPr>
              <a:t>COPY src/ inference/ models/ .</a:t>
            </a:r>
            <a:endParaRPr lang="en-US" sz="950" dirty="0"/>
          </a:p>
        </p:txBody>
      </p:sp>
      <p:sp>
        <p:nvSpPr>
          <p:cNvPr id="17" name="Text 15"/>
          <p:cNvSpPr/>
          <p:nvPr/>
        </p:nvSpPr>
        <p:spPr>
          <a:xfrm>
            <a:off x="457200" y="3913632"/>
            <a:ext cx="4160520" cy="246888"/>
          </a:xfrm>
          <a:prstGeom prst="rect">
            <a:avLst/>
          </a:prstGeom>
          <a:noFill/>
          <a:ln/>
        </p:spPr>
        <p:txBody>
          <a:bodyPr wrap="square" lIns="0" tIns="0" rIns="0" bIns="0" rtlCol="0" anchor="ctr"/>
          <a:lstStyle/>
          <a:p>
            <a:pPr marL="0" indent="0" algn="l">
              <a:buNone/>
            </a:pPr>
            <a:r>
              <a:rPr lang="en-US" sz="950" dirty="0">
                <a:solidFill>
                  <a:srgbClr val="FCD34D"/>
                </a:solidFill>
                <a:latin typeface="Courier New" pitchFamily="34" charset="0"/>
                <a:ea typeface="Courier New" pitchFamily="34" charset="-122"/>
                <a:cs typeface="Courier New" pitchFamily="34" charset="-120"/>
              </a:rPr>
              <a:t>ENV SM_MODEL_DIR /opt/program/models</a:t>
            </a:r>
            <a:endParaRPr lang="en-US" sz="950" dirty="0"/>
          </a:p>
        </p:txBody>
      </p:sp>
      <p:sp>
        <p:nvSpPr>
          <p:cNvPr id="18" name="Text 16"/>
          <p:cNvSpPr/>
          <p:nvPr/>
        </p:nvSpPr>
        <p:spPr>
          <a:xfrm>
            <a:off x="457200" y="4160520"/>
            <a:ext cx="4160520" cy="246888"/>
          </a:xfrm>
          <a:prstGeom prst="rect">
            <a:avLst/>
          </a:prstGeom>
          <a:noFill/>
          <a:ln/>
        </p:spPr>
        <p:txBody>
          <a:bodyPr wrap="square" lIns="0" tIns="0" rIns="0" bIns="0" rtlCol="0" anchor="ctr"/>
          <a:lstStyle/>
          <a:p>
            <a:pPr marL="0" indent="0" algn="l">
              <a:buNone/>
            </a:pPr>
            <a:r>
              <a:rPr lang="en-US" sz="950" dirty="0">
                <a:solidFill>
                  <a:srgbClr val="86EFAC"/>
                </a:solidFill>
                <a:latin typeface="Courier New" pitchFamily="34" charset="0"/>
                <a:ea typeface="Courier New" pitchFamily="34" charset="-122"/>
                <a:cs typeface="Courier New" pitchFamily="34" charset="-120"/>
              </a:rPr>
              <a:t>CMD ["python", "serve.py"]</a:t>
            </a:r>
            <a:endParaRPr lang="en-US" sz="950" dirty="0"/>
          </a:p>
        </p:txBody>
      </p:sp>
      <p:sp>
        <p:nvSpPr>
          <p:cNvPr id="19" name="Text 17"/>
          <p:cNvSpPr/>
          <p:nvPr/>
        </p:nvSpPr>
        <p:spPr>
          <a:xfrm>
            <a:off x="4983480" y="1005840"/>
            <a:ext cx="3931920" cy="457200"/>
          </a:xfrm>
          <a:prstGeom prst="rect">
            <a:avLst/>
          </a:prstGeom>
          <a:noFill/>
          <a:ln/>
        </p:spPr>
        <p:txBody>
          <a:bodyPr wrap="square" lIns="0" tIns="0" rIns="0" bIns="0" rtlCol="0" anchor="ctr"/>
          <a:lstStyle/>
          <a:p>
            <a:pPr marL="0" indent="0" algn="l">
              <a:buNone/>
            </a:pPr>
            <a:r>
              <a:rPr lang="en-US" sz="1500" b="1" dirty="0">
                <a:solidFill>
                  <a:srgbClr val="14B8A6"/>
                </a:solidFill>
                <a:latin typeface="Georgia" pitchFamily="34" charset="0"/>
                <a:ea typeface="Georgia" pitchFamily="34" charset="-122"/>
                <a:cs typeface="Georgia" pitchFamily="34" charset="-120"/>
              </a:rPr>
              <a:t>Flask Inference Server  (port 8080)</a:t>
            </a:r>
            <a:endParaRPr lang="en-US" sz="1500" dirty="0"/>
          </a:p>
        </p:txBody>
      </p:sp>
      <p:sp>
        <p:nvSpPr>
          <p:cNvPr id="20" name="Shape 18"/>
          <p:cNvSpPr/>
          <p:nvPr/>
        </p:nvSpPr>
        <p:spPr>
          <a:xfrm>
            <a:off x="4983480" y="1600200"/>
            <a:ext cx="3931920" cy="1389888"/>
          </a:xfrm>
          <a:prstGeom prst="rect">
            <a:avLst/>
          </a:prstGeom>
          <a:solidFill>
            <a:srgbClr val="1E293B"/>
          </a:solidFill>
          <a:ln w="12700">
            <a:solidFill>
              <a:srgbClr val="0D9488"/>
            </a:solidFill>
            <a:prstDash val="solid"/>
          </a:ln>
        </p:spPr>
        <p:txBody>
          <a:bodyPr/>
          <a:lstStyle/>
          <a:p>
            <a:endParaRPr lang="en-US"/>
          </a:p>
        </p:txBody>
      </p:sp>
      <p:sp>
        <p:nvSpPr>
          <p:cNvPr id="21" name="Shape 19"/>
          <p:cNvSpPr/>
          <p:nvPr/>
        </p:nvSpPr>
        <p:spPr>
          <a:xfrm>
            <a:off x="4983480" y="1600200"/>
            <a:ext cx="658368" cy="347472"/>
          </a:xfrm>
          <a:prstGeom prst="rect">
            <a:avLst/>
          </a:prstGeom>
          <a:solidFill>
            <a:srgbClr val="10B981"/>
          </a:solidFill>
          <a:ln w="12700">
            <a:solidFill>
              <a:srgbClr val="10B981"/>
            </a:solidFill>
            <a:prstDash val="solid"/>
          </a:ln>
        </p:spPr>
        <p:txBody>
          <a:bodyPr/>
          <a:lstStyle/>
          <a:p>
            <a:endParaRPr lang="en-US"/>
          </a:p>
        </p:txBody>
      </p:sp>
      <p:sp>
        <p:nvSpPr>
          <p:cNvPr id="22" name="Text 20"/>
          <p:cNvSpPr/>
          <p:nvPr/>
        </p:nvSpPr>
        <p:spPr>
          <a:xfrm>
            <a:off x="4983480" y="1600200"/>
            <a:ext cx="65836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23" name="Text 21"/>
          <p:cNvSpPr/>
          <p:nvPr/>
        </p:nvSpPr>
        <p:spPr>
          <a:xfrm>
            <a:off x="5687568" y="1600200"/>
            <a:ext cx="3154680" cy="347472"/>
          </a:xfrm>
          <a:prstGeom prst="rect">
            <a:avLst/>
          </a:prstGeom>
          <a:noFill/>
          <a:ln/>
        </p:spPr>
        <p:txBody>
          <a:bodyPr wrap="square" lIns="0" tIns="0" rIns="0" bIns="0" rtlCol="0" anchor="ctr"/>
          <a:lstStyle/>
          <a:p>
            <a:pPr marL="0" indent="0" algn="l">
              <a:buNone/>
            </a:pPr>
            <a:r>
              <a:rPr lang="en-US" sz="1300" b="1" dirty="0">
                <a:solidFill>
                  <a:srgbClr val="FCD34D"/>
                </a:solidFill>
                <a:latin typeface="Courier New" pitchFamily="34" charset="0"/>
                <a:ea typeface="Courier New" pitchFamily="34" charset="-122"/>
                <a:cs typeface="Courier New" pitchFamily="34" charset="-120"/>
              </a:rPr>
              <a:t>/ping</a:t>
            </a:r>
            <a:endParaRPr lang="en-US" sz="1300" dirty="0"/>
          </a:p>
        </p:txBody>
      </p:sp>
      <p:sp>
        <p:nvSpPr>
          <p:cNvPr id="24" name="Text 22"/>
          <p:cNvSpPr/>
          <p:nvPr/>
        </p:nvSpPr>
        <p:spPr>
          <a:xfrm>
            <a:off x="5102352" y="2029968"/>
            <a:ext cx="3703320" cy="886968"/>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Health check · returns 200 OK</a:t>
            </a:r>
            <a:endParaRPr lang="en-US" sz="1100" dirty="0"/>
          </a:p>
          <a:p>
            <a:pPr marL="0" indent="0" algn="l">
              <a:buNone/>
            </a:pPr>
            <a:r>
              <a:rPr lang="en-US" sz="1100" dirty="0">
                <a:solidFill>
                  <a:srgbClr val="CBD5E1"/>
                </a:solidFill>
                <a:latin typeface="Calibri" pitchFamily="34" charset="0"/>
                <a:ea typeface="Calibri" pitchFamily="34" charset="-122"/>
                <a:cs typeface="Calibri" pitchFamily="34" charset="-120"/>
              </a:rPr>
              <a:t>SageMaker polls this to verify container is alive</a:t>
            </a:r>
            <a:endParaRPr lang="en-US" sz="1100" dirty="0"/>
          </a:p>
        </p:txBody>
      </p:sp>
      <p:sp>
        <p:nvSpPr>
          <p:cNvPr id="25" name="Shape 23"/>
          <p:cNvSpPr/>
          <p:nvPr/>
        </p:nvSpPr>
        <p:spPr>
          <a:xfrm>
            <a:off x="4983480" y="3172968"/>
            <a:ext cx="3931920" cy="1389888"/>
          </a:xfrm>
          <a:prstGeom prst="rect">
            <a:avLst/>
          </a:prstGeom>
          <a:solidFill>
            <a:srgbClr val="1E293B"/>
          </a:solidFill>
          <a:ln w="12700">
            <a:solidFill>
              <a:srgbClr val="0D9488"/>
            </a:solidFill>
            <a:prstDash val="solid"/>
          </a:ln>
        </p:spPr>
        <p:txBody>
          <a:bodyPr/>
          <a:lstStyle/>
          <a:p>
            <a:endParaRPr lang="en-US"/>
          </a:p>
        </p:txBody>
      </p:sp>
      <p:sp>
        <p:nvSpPr>
          <p:cNvPr id="26" name="Shape 24"/>
          <p:cNvSpPr/>
          <p:nvPr/>
        </p:nvSpPr>
        <p:spPr>
          <a:xfrm>
            <a:off x="4983480" y="3172968"/>
            <a:ext cx="658368" cy="347472"/>
          </a:xfrm>
          <a:prstGeom prst="rect">
            <a:avLst/>
          </a:prstGeom>
          <a:solidFill>
            <a:srgbClr val="0D9488"/>
          </a:solidFill>
          <a:ln w="12700">
            <a:solidFill>
              <a:srgbClr val="0D9488"/>
            </a:solidFill>
            <a:prstDash val="solid"/>
          </a:ln>
        </p:spPr>
        <p:txBody>
          <a:bodyPr/>
          <a:lstStyle/>
          <a:p>
            <a:endParaRPr lang="en-US"/>
          </a:p>
        </p:txBody>
      </p:sp>
      <p:sp>
        <p:nvSpPr>
          <p:cNvPr id="27" name="Text 25"/>
          <p:cNvSpPr/>
          <p:nvPr/>
        </p:nvSpPr>
        <p:spPr>
          <a:xfrm>
            <a:off x="4983480" y="3172968"/>
            <a:ext cx="658368"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28" name="Text 26"/>
          <p:cNvSpPr/>
          <p:nvPr/>
        </p:nvSpPr>
        <p:spPr>
          <a:xfrm>
            <a:off x="5687568" y="3172968"/>
            <a:ext cx="3154680" cy="347472"/>
          </a:xfrm>
          <a:prstGeom prst="rect">
            <a:avLst/>
          </a:prstGeom>
          <a:noFill/>
          <a:ln/>
        </p:spPr>
        <p:txBody>
          <a:bodyPr wrap="square" lIns="0" tIns="0" rIns="0" bIns="0" rtlCol="0" anchor="ctr"/>
          <a:lstStyle/>
          <a:p>
            <a:pPr marL="0" indent="0" algn="l">
              <a:buNone/>
            </a:pPr>
            <a:r>
              <a:rPr lang="en-US" sz="1300" b="1" dirty="0">
                <a:solidFill>
                  <a:srgbClr val="FCD34D"/>
                </a:solidFill>
                <a:latin typeface="Courier New" pitchFamily="34" charset="0"/>
                <a:ea typeface="Courier New" pitchFamily="34" charset="-122"/>
                <a:cs typeface="Courier New" pitchFamily="34" charset="-120"/>
              </a:rPr>
              <a:t>/invocations</a:t>
            </a:r>
            <a:endParaRPr lang="en-US" sz="1300" dirty="0"/>
          </a:p>
        </p:txBody>
      </p:sp>
      <p:sp>
        <p:nvSpPr>
          <p:cNvPr id="29" name="Text 27"/>
          <p:cNvSpPr/>
          <p:nvPr/>
        </p:nvSpPr>
        <p:spPr>
          <a:xfrm>
            <a:off x="5102352" y="3602736"/>
            <a:ext cx="3703320" cy="886968"/>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Accepts JSON {"instances":[...]} or CSV</a:t>
            </a:r>
            <a:endParaRPr lang="en-US" sz="1100" dirty="0"/>
          </a:p>
          <a:p>
            <a:pPr marL="0" indent="0" algn="l">
              <a:buNone/>
            </a:pPr>
            <a:r>
              <a:rPr lang="en-US" sz="1100" dirty="0">
                <a:solidFill>
                  <a:srgbClr val="CBD5E1"/>
                </a:solidFill>
                <a:latin typeface="Calibri" pitchFamily="34" charset="0"/>
                <a:ea typeface="Calibri" pitchFamily="34" charset="-122"/>
                <a:cs typeface="Calibri" pitchFamily="34" charset="-120"/>
              </a:rPr>
              <a:t>Returns {"probabilities":[], "predictions":[]}</a:t>
            </a:r>
            <a:endParaRPr lang="en-US" sz="1100" dirty="0"/>
          </a:p>
        </p:txBody>
      </p:sp>
      <p:sp>
        <p:nvSpPr>
          <p:cNvPr id="30" name="Shape 28"/>
          <p:cNvSpPr/>
          <p:nvPr/>
        </p:nvSpPr>
        <p:spPr>
          <a:xfrm>
            <a:off x="4983480" y="4754880"/>
            <a:ext cx="3931920" cy="347472"/>
          </a:xfrm>
          <a:prstGeom prst="rect">
            <a:avLst/>
          </a:prstGeom>
          <a:solidFill>
            <a:srgbClr val="1E293B"/>
          </a:solidFill>
          <a:ln w="12700">
            <a:solidFill>
              <a:srgbClr val="F59E0B"/>
            </a:solidFill>
            <a:prstDash val="solid"/>
          </a:ln>
        </p:spPr>
        <p:txBody>
          <a:bodyPr/>
          <a:lstStyle/>
          <a:p>
            <a:endParaRPr lang="en-US"/>
          </a:p>
        </p:txBody>
      </p:sp>
      <p:sp>
        <p:nvSpPr>
          <p:cNvPr id="31" name="Text 29"/>
          <p:cNvSpPr/>
          <p:nvPr/>
        </p:nvSpPr>
        <p:spPr>
          <a:xfrm>
            <a:off x="4983480" y="4754880"/>
            <a:ext cx="3931920" cy="347472"/>
          </a:xfrm>
          <a:prstGeom prst="rect">
            <a:avLst/>
          </a:prstGeom>
          <a:noFill/>
          <a:ln/>
        </p:spPr>
        <p:txBody>
          <a:bodyPr wrap="square" lIns="0" tIns="0" rIns="0" bIns="0" rtlCol="0" anchor="ctr"/>
          <a:lstStyle/>
          <a:p>
            <a:pPr marL="0" indent="0" algn="ctr">
              <a:buNone/>
            </a:pPr>
            <a:r>
              <a:rPr lang="en-US" sz="1000" i="1" dirty="0">
                <a:solidFill>
                  <a:srgbClr val="FCD34D"/>
                </a:solidFill>
                <a:latin typeface="Calibri" pitchFamily="34" charset="0"/>
                <a:ea typeface="Calibri" pitchFamily="34" charset="-122"/>
                <a:cs typeface="Calibri" pitchFamily="34" charset="-120"/>
              </a:rPr>
              <a:t>Model baked into image — no S3 dependency at runtime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65760" y="0"/>
            <a:ext cx="841248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06  AWS SageMaker Deployment Demo</a:t>
            </a:r>
            <a:endParaRPr lang="en-US" sz="2600" dirty="0"/>
          </a:p>
        </p:txBody>
      </p:sp>
      <p:sp>
        <p:nvSpPr>
          <p:cNvPr id="5" name="Shape 3"/>
          <p:cNvSpPr/>
          <p:nvPr/>
        </p:nvSpPr>
        <p:spPr>
          <a:xfrm>
            <a:off x="320040" y="1261872"/>
            <a:ext cx="1554480" cy="1572768"/>
          </a:xfrm>
          <a:prstGeom prst="rect">
            <a:avLst/>
          </a:prstGeom>
          <a:solidFill>
            <a:srgbClr val="0D9488">
              <a:alpha val="82000"/>
            </a:srgbClr>
          </a:solidFill>
          <a:ln w="25400">
            <a:solidFill>
              <a:srgbClr val="0D9488"/>
            </a:solidFill>
            <a:prstDash val="solid"/>
          </a:ln>
          <a:effectLst>
            <a:outerShdw blurRad="101600" dist="38100" dir="8100000" algn="bl" rotWithShape="0">
              <a:srgbClr val="1B2A4A">
                <a:alpha val="10000"/>
              </a:srgbClr>
            </a:outerShdw>
          </a:effectLst>
        </p:spPr>
        <p:txBody>
          <a:bodyPr/>
          <a:lstStyle/>
          <a:p>
            <a:endParaRPr lang="en-US"/>
          </a:p>
        </p:txBody>
      </p:sp>
      <p:sp>
        <p:nvSpPr>
          <p:cNvPr id="6" name="Text 4"/>
          <p:cNvSpPr/>
          <p:nvPr/>
        </p:nvSpPr>
        <p:spPr>
          <a:xfrm>
            <a:off x="320040" y="1426464"/>
            <a:ext cx="155448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Train</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Model</a:t>
            </a:r>
            <a:endParaRPr lang="en-US" sz="1300" dirty="0"/>
          </a:p>
        </p:txBody>
      </p:sp>
      <p:sp>
        <p:nvSpPr>
          <p:cNvPr id="7" name="Shape 5"/>
          <p:cNvSpPr/>
          <p:nvPr/>
        </p:nvSpPr>
        <p:spPr>
          <a:xfrm>
            <a:off x="484632" y="2130552"/>
            <a:ext cx="1225296" cy="0"/>
          </a:xfrm>
          <a:prstGeom prst="line">
            <a:avLst/>
          </a:prstGeom>
          <a:noFill/>
          <a:ln w="6350">
            <a:solidFill>
              <a:srgbClr val="FFFFFF">
                <a:alpha val="40000"/>
              </a:srgbClr>
            </a:solidFill>
            <a:prstDash val="solid"/>
          </a:ln>
        </p:spPr>
        <p:txBody>
          <a:bodyPr/>
          <a:lstStyle/>
          <a:p>
            <a:endParaRPr lang="en-US"/>
          </a:p>
        </p:txBody>
      </p:sp>
      <p:sp>
        <p:nvSpPr>
          <p:cNvPr id="8" name="Text 6"/>
          <p:cNvSpPr/>
          <p:nvPr/>
        </p:nvSpPr>
        <p:spPr>
          <a:xfrm>
            <a:off x="320040" y="2194560"/>
            <a:ext cx="1554480" cy="566928"/>
          </a:xfrm>
          <a:prstGeom prst="rect">
            <a:avLst/>
          </a:prstGeom>
          <a:noFill/>
          <a:ln/>
        </p:spPr>
        <p:txBody>
          <a:bodyPr wrap="square" lIns="0" tIns="0" rIns="0" bIns="0" rtlCol="0" anchor="ctr"/>
          <a:lstStyle/>
          <a:p>
            <a:pPr marL="0" indent="0" algn="ctr">
              <a:buNone/>
            </a:pPr>
            <a:r>
              <a:rPr lang="en-US" sz="900" dirty="0">
                <a:solidFill>
                  <a:srgbClr val="ECFDF5"/>
                </a:solidFill>
                <a:latin typeface="Calibri" pitchFamily="34" charset="0"/>
                <a:ea typeface="Calibri" pitchFamily="34" charset="-122"/>
                <a:cs typeface="Calibri" pitchFamily="34" charset="-120"/>
              </a:rPr>
              <a:t>DVC repro</a:t>
            </a:r>
            <a:endParaRPr lang="en-US" sz="900" dirty="0"/>
          </a:p>
          <a:p>
            <a:pPr marL="0" indent="0" algn="ctr">
              <a:buNone/>
            </a:pPr>
            <a:r>
              <a:rPr lang="en-US" sz="900" dirty="0">
                <a:solidFill>
                  <a:srgbClr val="ECFDF5"/>
                </a:solidFill>
                <a:latin typeface="Calibri" pitchFamily="34" charset="0"/>
                <a:ea typeface="Calibri" pitchFamily="34" charset="-122"/>
                <a:cs typeface="Calibri" pitchFamily="34" charset="-120"/>
              </a:rPr>
              <a:t>GitHub Actions</a:t>
            </a:r>
            <a:endParaRPr lang="en-US" sz="900" dirty="0"/>
          </a:p>
        </p:txBody>
      </p:sp>
      <p:sp>
        <p:nvSpPr>
          <p:cNvPr id="9" name="Shape 7"/>
          <p:cNvSpPr/>
          <p:nvPr/>
        </p:nvSpPr>
        <p:spPr>
          <a:xfrm>
            <a:off x="1874520" y="2048256"/>
            <a:ext cx="182880" cy="0"/>
          </a:xfrm>
          <a:prstGeom prst="line">
            <a:avLst/>
          </a:prstGeom>
          <a:noFill/>
          <a:ln w="25400">
            <a:solidFill>
              <a:srgbClr val="0D9488"/>
            </a:solidFill>
            <a:prstDash val="solid"/>
          </a:ln>
        </p:spPr>
        <p:txBody>
          <a:bodyPr/>
          <a:lstStyle/>
          <a:p>
            <a:endParaRPr lang="en-US"/>
          </a:p>
        </p:txBody>
      </p:sp>
      <p:sp>
        <p:nvSpPr>
          <p:cNvPr id="10" name="Shape 8"/>
          <p:cNvSpPr/>
          <p:nvPr/>
        </p:nvSpPr>
        <p:spPr>
          <a:xfrm>
            <a:off x="2057400" y="1261872"/>
            <a:ext cx="1554480" cy="1572768"/>
          </a:xfrm>
          <a:prstGeom prst="rect">
            <a:avLst/>
          </a:prstGeom>
          <a:solidFill>
            <a:srgbClr val="0891B2">
              <a:alpha val="82000"/>
            </a:srgbClr>
          </a:solidFill>
          <a:ln w="25400">
            <a:solidFill>
              <a:srgbClr val="0891B2"/>
            </a:solidFill>
            <a:prstDash val="solid"/>
          </a:ln>
          <a:effectLst>
            <a:outerShdw blurRad="101600" dist="38100" dir="8100000" algn="bl" rotWithShape="0">
              <a:srgbClr val="1B2A4A">
                <a:alpha val="10000"/>
              </a:srgbClr>
            </a:outerShdw>
          </a:effectLst>
        </p:spPr>
        <p:txBody>
          <a:bodyPr/>
          <a:lstStyle/>
          <a:p>
            <a:endParaRPr lang="en-US"/>
          </a:p>
        </p:txBody>
      </p:sp>
      <p:sp>
        <p:nvSpPr>
          <p:cNvPr id="11" name="Text 9"/>
          <p:cNvSpPr/>
          <p:nvPr/>
        </p:nvSpPr>
        <p:spPr>
          <a:xfrm>
            <a:off x="2057400" y="1426464"/>
            <a:ext cx="155448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Docker</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Build</a:t>
            </a:r>
            <a:endParaRPr lang="en-US" sz="1300" dirty="0"/>
          </a:p>
        </p:txBody>
      </p:sp>
      <p:sp>
        <p:nvSpPr>
          <p:cNvPr id="12" name="Shape 10"/>
          <p:cNvSpPr/>
          <p:nvPr/>
        </p:nvSpPr>
        <p:spPr>
          <a:xfrm>
            <a:off x="2221992" y="2130552"/>
            <a:ext cx="1225296" cy="0"/>
          </a:xfrm>
          <a:prstGeom prst="line">
            <a:avLst/>
          </a:prstGeom>
          <a:noFill/>
          <a:ln w="6350">
            <a:solidFill>
              <a:srgbClr val="FFFFFF">
                <a:alpha val="40000"/>
              </a:srgbClr>
            </a:solidFill>
            <a:prstDash val="solid"/>
          </a:ln>
        </p:spPr>
        <p:txBody>
          <a:bodyPr/>
          <a:lstStyle/>
          <a:p>
            <a:endParaRPr lang="en-US"/>
          </a:p>
        </p:txBody>
      </p:sp>
      <p:sp>
        <p:nvSpPr>
          <p:cNvPr id="13" name="Text 11"/>
          <p:cNvSpPr/>
          <p:nvPr/>
        </p:nvSpPr>
        <p:spPr>
          <a:xfrm>
            <a:off x="2057400" y="2194560"/>
            <a:ext cx="1554480" cy="566928"/>
          </a:xfrm>
          <a:prstGeom prst="rect">
            <a:avLst/>
          </a:prstGeom>
          <a:noFill/>
          <a:ln/>
        </p:spPr>
        <p:txBody>
          <a:bodyPr wrap="square" lIns="0" tIns="0" rIns="0" bIns="0" rtlCol="0" anchor="ctr"/>
          <a:lstStyle/>
          <a:p>
            <a:pPr marL="0" indent="0" algn="ctr">
              <a:buNone/>
            </a:pPr>
            <a:r>
              <a:rPr lang="en-US" sz="900" dirty="0">
                <a:solidFill>
                  <a:srgbClr val="ECFDF5"/>
                </a:solidFill>
                <a:latin typeface="Calibri" pitchFamily="34" charset="0"/>
                <a:ea typeface="Calibri" pitchFamily="34" charset="-122"/>
                <a:cs typeface="Calibri" pitchFamily="34" charset="-120"/>
              </a:rPr>
              <a:t>Multi-stage</a:t>
            </a:r>
            <a:endParaRPr lang="en-US" sz="900" dirty="0"/>
          </a:p>
          <a:p>
            <a:pPr marL="0" indent="0" algn="ctr">
              <a:buNone/>
            </a:pPr>
            <a:r>
              <a:rPr lang="en-US" sz="900" dirty="0">
                <a:solidFill>
                  <a:srgbClr val="ECFDF5"/>
                </a:solidFill>
                <a:latin typeface="Calibri" pitchFamily="34" charset="0"/>
                <a:ea typeface="Calibri" pitchFamily="34" charset="-122"/>
                <a:cs typeface="Calibri" pitchFamily="34" charset="-120"/>
              </a:rPr>
              <a:t>local smoke test</a:t>
            </a:r>
            <a:endParaRPr lang="en-US" sz="900" dirty="0"/>
          </a:p>
        </p:txBody>
      </p:sp>
      <p:sp>
        <p:nvSpPr>
          <p:cNvPr id="14" name="Shape 12"/>
          <p:cNvSpPr/>
          <p:nvPr/>
        </p:nvSpPr>
        <p:spPr>
          <a:xfrm>
            <a:off x="3611880" y="2048256"/>
            <a:ext cx="182880" cy="0"/>
          </a:xfrm>
          <a:prstGeom prst="line">
            <a:avLst/>
          </a:prstGeom>
          <a:noFill/>
          <a:ln w="25400">
            <a:solidFill>
              <a:srgbClr val="0D9488"/>
            </a:solidFill>
            <a:prstDash val="solid"/>
          </a:ln>
        </p:spPr>
        <p:txBody>
          <a:bodyPr/>
          <a:lstStyle/>
          <a:p>
            <a:endParaRPr lang="en-US"/>
          </a:p>
        </p:txBody>
      </p:sp>
      <p:sp>
        <p:nvSpPr>
          <p:cNvPr id="15" name="Shape 13"/>
          <p:cNvSpPr/>
          <p:nvPr/>
        </p:nvSpPr>
        <p:spPr>
          <a:xfrm>
            <a:off x="3794760" y="1261872"/>
            <a:ext cx="1554480" cy="1572768"/>
          </a:xfrm>
          <a:prstGeom prst="rect">
            <a:avLst/>
          </a:prstGeom>
          <a:solidFill>
            <a:srgbClr val="0D9488">
              <a:alpha val="82000"/>
            </a:srgbClr>
          </a:solidFill>
          <a:ln w="25400">
            <a:solidFill>
              <a:srgbClr val="0D9488"/>
            </a:solidFill>
            <a:prstDash val="solid"/>
          </a:ln>
          <a:effectLst>
            <a:outerShdw blurRad="101600" dist="38100" dir="8100000" algn="bl" rotWithShape="0">
              <a:srgbClr val="1B2A4A">
                <a:alpha val="10000"/>
              </a:srgbClr>
            </a:outerShdw>
          </a:effectLst>
        </p:spPr>
        <p:txBody>
          <a:bodyPr/>
          <a:lstStyle/>
          <a:p>
            <a:endParaRPr lang="en-US"/>
          </a:p>
        </p:txBody>
      </p:sp>
      <p:sp>
        <p:nvSpPr>
          <p:cNvPr id="16" name="Text 14"/>
          <p:cNvSpPr/>
          <p:nvPr/>
        </p:nvSpPr>
        <p:spPr>
          <a:xfrm>
            <a:off x="3794760" y="1426464"/>
            <a:ext cx="155448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Push to</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ECR</a:t>
            </a:r>
            <a:endParaRPr lang="en-US" sz="1300" dirty="0"/>
          </a:p>
        </p:txBody>
      </p:sp>
      <p:sp>
        <p:nvSpPr>
          <p:cNvPr id="17" name="Shape 15"/>
          <p:cNvSpPr/>
          <p:nvPr/>
        </p:nvSpPr>
        <p:spPr>
          <a:xfrm>
            <a:off x="3959352" y="2130552"/>
            <a:ext cx="1225296" cy="0"/>
          </a:xfrm>
          <a:prstGeom prst="line">
            <a:avLst/>
          </a:prstGeom>
          <a:noFill/>
          <a:ln w="6350">
            <a:solidFill>
              <a:srgbClr val="FFFFFF">
                <a:alpha val="40000"/>
              </a:srgbClr>
            </a:solidFill>
            <a:prstDash val="solid"/>
          </a:ln>
        </p:spPr>
        <p:txBody>
          <a:bodyPr/>
          <a:lstStyle/>
          <a:p>
            <a:endParaRPr lang="en-US"/>
          </a:p>
        </p:txBody>
      </p:sp>
      <p:sp>
        <p:nvSpPr>
          <p:cNvPr id="18" name="Text 16"/>
          <p:cNvSpPr/>
          <p:nvPr/>
        </p:nvSpPr>
        <p:spPr>
          <a:xfrm>
            <a:off x="3794760" y="2194560"/>
            <a:ext cx="1554480" cy="566928"/>
          </a:xfrm>
          <a:prstGeom prst="rect">
            <a:avLst/>
          </a:prstGeom>
          <a:noFill/>
          <a:ln/>
        </p:spPr>
        <p:txBody>
          <a:bodyPr wrap="square" lIns="0" tIns="0" rIns="0" bIns="0" rtlCol="0" anchor="ctr"/>
          <a:lstStyle/>
          <a:p>
            <a:pPr marL="0" indent="0" algn="ctr">
              <a:buNone/>
            </a:pPr>
            <a:r>
              <a:rPr lang="en-US" sz="900" dirty="0">
                <a:solidFill>
                  <a:srgbClr val="ECFDF5"/>
                </a:solidFill>
                <a:latin typeface="Calibri" pitchFamily="34" charset="0"/>
                <a:ea typeface="Calibri" pitchFamily="34" charset="-122"/>
                <a:cs typeface="Calibri" pitchFamily="34" charset="-120"/>
              </a:rPr>
              <a:t>197479160475</a:t>
            </a:r>
            <a:endParaRPr lang="en-US" sz="900" dirty="0"/>
          </a:p>
          <a:p>
            <a:pPr marL="0" indent="0" algn="ctr">
              <a:buNone/>
            </a:pPr>
            <a:r>
              <a:rPr lang="en-US" sz="900" dirty="0">
                <a:solidFill>
                  <a:srgbClr val="ECFDF5"/>
                </a:solidFill>
                <a:latin typeface="Calibri" pitchFamily="34" charset="0"/>
                <a:ea typeface="Calibri" pitchFamily="34" charset="-122"/>
                <a:cs typeface="Calibri" pitchFamily="34" charset="-120"/>
              </a:rPr>
              <a:t>.dkr.ecr.us-east-1</a:t>
            </a:r>
            <a:endParaRPr lang="en-US" sz="900" dirty="0"/>
          </a:p>
        </p:txBody>
      </p:sp>
      <p:sp>
        <p:nvSpPr>
          <p:cNvPr id="19" name="Shape 17"/>
          <p:cNvSpPr/>
          <p:nvPr/>
        </p:nvSpPr>
        <p:spPr>
          <a:xfrm>
            <a:off x="5349240" y="2048256"/>
            <a:ext cx="182880" cy="0"/>
          </a:xfrm>
          <a:prstGeom prst="line">
            <a:avLst/>
          </a:prstGeom>
          <a:noFill/>
          <a:ln w="25400">
            <a:solidFill>
              <a:srgbClr val="0D9488"/>
            </a:solidFill>
            <a:prstDash val="solid"/>
          </a:ln>
        </p:spPr>
        <p:txBody>
          <a:bodyPr/>
          <a:lstStyle/>
          <a:p>
            <a:endParaRPr lang="en-US"/>
          </a:p>
        </p:txBody>
      </p:sp>
      <p:sp>
        <p:nvSpPr>
          <p:cNvPr id="20" name="Shape 18"/>
          <p:cNvSpPr/>
          <p:nvPr/>
        </p:nvSpPr>
        <p:spPr>
          <a:xfrm>
            <a:off x="5532120" y="1261872"/>
            <a:ext cx="1554480" cy="1572768"/>
          </a:xfrm>
          <a:prstGeom prst="rect">
            <a:avLst/>
          </a:prstGeom>
          <a:solidFill>
            <a:srgbClr val="0891B2">
              <a:alpha val="82000"/>
            </a:srgbClr>
          </a:solidFill>
          <a:ln w="25400">
            <a:solidFill>
              <a:srgbClr val="0891B2"/>
            </a:solidFill>
            <a:prstDash val="solid"/>
          </a:ln>
          <a:effectLst>
            <a:outerShdw blurRad="101600" dist="38100" dir="8100000" algn="bl" rotWithShape="0">
              <a:srgbClr val="1B2A4A">
                <a:alpha val="10000"/>
              </a:srgbClr>
            </a:outerShdw>
          </a:effectLst>
        </p:spPr>
        <p:txBody>
          <a:bodyPr/>
          <a:lstStyle/>
          <a:p>
            <a:endParaRPr lang="en-US"/>
          </a:p>
        </p:txBody>
      </p:sp>
      <p:sp>
        <p:nvSpPr>
          <p:cNvPr id="21" name="Text 19"/>
          <p:cNvSpPr/>
          <p:nvPr/>
        </p:nvSpPr>
        <p:spPr>
          <a:xfrm>
            <a:off x="5532120" y="1426464"/>
            <a:ext cx="155448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SM</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Model</a:t>
            </a:r>
            <a:endParaRPr lang="en-US" sz="1300" dirty="0"/>
          </a:p>
        </p:txBody>
      </p:sp>
      <p:sp>
        <p:nvSpPr>
          <p:cNvPr id="22" name="Shape 20"/>
          <p:cNvSpPr/>
          <p:nvPr/>
        </p:nvSpPr>
        <p:spPr>
          <a:xfrm>
            <a:off x="5696712" y="2130552"/>
            <a:ext cx="1225296" cy="0"/>
          </a:xfrm>
          <a:prstGeom prst="line">
            <a:avLst/>
          </a:prstGeom>
          <a:noFill/>
          <a:ln w="6350">
            <a:solidFill>
              <a:srgbClr val="FFFFFF">
                <a:alpha val="40000"/>
              </a:srgbClr>
            </a:solidFill>
            <a:prstDash val="solid"/>
          </a:ln>
        </p:spPr>
        <p:txBody>
          <a:bodyPr/>
          <a:lstStyle/>
          <a:p>
            <a:endParaRPr lang="en-US"/>
          </a:p>
        </p:txBody>
      </p:sp>
      <p:sp>
        <p:nvSpPr>
          <p:cNvPr id="23" name="Text 21"/>
          <p:cNvSpPr/>
          <p:nvPr/>
        </p:nvSpPr>
        <p:spPr>
          <a:xfrm>
            <a:off x="5532120" y="2194560"/>
            <a:ext cx="1554480" cy="566928"/>
          </a:xfrm>
          <a:prstGeom prst="rect">
            <a:avLst/>
          </a:prstGeom>
          <a:noFill/>
          <a:ln/>
        </p:spPr>
        <p:txBody>
          <a:bodyPr wrap="square" lIns="0" tIns="0" rIns="0" bIns="0" rtlCol="0" anchor="ctr"/>
          <a:lstStyle/>
          <a:p>
            <a:pPr marL="0" indent="0" algn="ctr">
              <a:buNone/>
            </a:pPr>
            <a:r>
              <a:rPr lang="en-US" sz="900" dirty="0">
                <a:solidFill>
                  <a:srgbClr val="ECFDF5"/>
                </a:solidFill>
                <a:latin typeface="Calibri" pitchFamily="34" charset="0"/>
                <a:ea typeface="Calibri" pitchFamily="34" charset="-122"/>
                <a:cs typeface="Calibri" pitchFamily="34" charset="-120"/>
              </a:rPr>
              <a:t>Custom container</a:t>
            </a:r>
            <a:endParaRPr lang="en-US" sz="900" dirty="0"/>
          </a:p>
          <a:p>
            <a:pPr marL="0" indent="0" algn="ctr">
              <a:buNone/>
            </a:pPr>
            <a:r>
              <a:rPr lang="en-US" sz="900" dirty="0">
                <a:solidFill>
                  <a:srgbClr val="ECFDF5"/>
                </a:solidFill>
                <a:latin typeface="Calibri" pitchFamily="34" charset="0"/>
                <a:ea typeface="Calibri" pitchFamily="34" charset="-122"/>
                <a:cs typeface="Calibri" pitchFamily="34" charset="-120"/>
              </a:rPr>
              <a:t>no ModelDataUrl</a:t>
            </a:r>
            <a:endParaRPr lang="en-US" sz="900" dirty="0"/>
          </a:p>
        </p:txBody>
      </p:sp>
      <p:sp>
        <p:nvSpPr>
          <p:cNvPr id="24" name="Shape 22"/>
          <p:cNvSpPr/>
          <p:nvPr/>
        </p:nvSpPr>
        <p:spPr>
          <a:xfrm>
            <a:off x="7086600" y="2048256"/>
            <a:ext cx="182880" cy="0"/>
          </a:xfrm>
          <a:prstGeom prst="line">
            <a:avLst/>
          </a:prstGeom>
          <a:noFill/>
          <a:ln w="25400">
            <a:solidFill>
              <a:srgbClr val="0D9488"/>
            </a:solidFill>
            <a:prstDash val="solid"/>
          </a:ln>
        </p:spPr>
        <p:txBody>
          <a:bodyPr/>
          <a:lstStyle/>
          <a:p>
            <a:endParaRPr lang="en-US"/>
          </a:p>
        </p:txBody>
      </p:sp>
      <p:sp>
        <p:nvSpPr>
          <p:cNvPr id="25" name="Shape 23"/>
          <p:cNvSpPr/>
          <p:nvPr/>
        </p:nvSpPr>
        <p:spPr>
          <a:xfrm>
            <a:off x="7269480" y="1261872"/>
            <a:ext cx="1554480" cy="1572768"/>
          </a:xfrm>
          <a:prstGeom prst="rect">
            <a:avLst/>
          </a:prstGeom>
          <a:solidFill>
            <a:srgbClr val="059669"/>
          </a:solidFill>
          <a:ln w="25400">
            <a:solidFill>
              <a:srgbClr val="059669"/>
            </a:solidFill>
            <a:prstDash val="solid"/>
          </a:ln>
          <a:effectLst>
            <a:outerShdw blurRad="101600" dist="38100" dir="8100000" algn="bl" rotWithShape="0">
              <a:srgbClr val="1B2A4A">
                <a:alpha val="10000"/>
              </a:srgbClr>
            </a:outerShdw>
          </a:effectLst>
        </p:spPr>
        <p:txBody>
          <a:bodyPr/>
          <a:lstStyle/>
          <a:p>
            <a:endParaRPr lang="en-US"/>
          </a:p>
        </p:txBody>
      </p:sp>
      <p:sp>
        <p:nvSpPr>
          <p:cNvPr id="26" name="Text 24"/>
          <p:cNvSpPr/>
          <p:nvPr/>
        </p:nvSpPr>
        <p:spPr>
          <a:xfrm>
            <a:off x="7269480" y="1426464"/>
            <a:ext cx="155448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Live</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Endpoint</a:t>
            </a:r>
            <a:endParaRPr lang="en-US" sz="1300" dirty="0"/>
          </a:p>
        </p:txBody>
      </p:sp>
      <p:sp>
        <p:nvSpPr>
          <p:cNvPr id="27" name="Shape 25"/>
          <p:cNvSpPr/>
          <p:nvPr/>
        </p:nvSpPr>
        <p:spPr>
          <a:xfrm>
            <a:off x="7434072" y="2130552"/>
            <a:ext cx="1225296" cy="0"/>
          </a:xfrm>
          <a:prstGeom prst="line">
            <a:avLst/>
          </a:prstGeom>
          <a:noFill/>
          <a:ln w="6350">
            <a:solidFill>
              <a:srgbClr val="FFFFFF">
                <a:alpha val="40000"/>
              </a:srgbClr>
            </a:solidFill>
            <a:prstDash val="solid"/>
          </a:ln>
        </p:spPr>
        <p:txBody>
          <a:bodyPr/>
          <a:lstStyle/>
          <a:p>
            <a:endParaRPr lang="en-US"/>
          </a:p>
        </p:txBody>
      </p:sp>
      <p:sp>
        <p:nvSpPr>
          <p:cNvPr id="28" name="Text 26"/>
          <p:cNvSpPr/>
          <p:nvPr/>
        </p:nvSpPr>
        <p:spPr>
          <a:xfrm>
            <a:off x="7269480" y="2194560"/>
            <a:ext cx="1554480" cy="566928"/>
          </a:xfrm>
          <a:prstGeom prst="rect">
            <a:avLst/>
          </a:prstGeom>
          <a:noFill/>
          <a:ln/>
        </p:spPr>
        <p:txBody>
          <a:bodyPr wrap="square" lIns="0" tIns="0" rIns="0" bIns="0" rtlCol="0" anchor="ctr"/>
          <a:lstStyle/>
          <a:p>
            <a:pPr marL="0" indent="0" algn="ctr">
              <a:buNone/>
            </a:pPr>
            <a:r>
              <a:rPr lang="en-US" sz="900" dirty="0">
                <a:solidFill>
                  <a:srgbClr val="ECFDF5"/>
                </a:solidFill>
                <a:latin typeface="Calibri" pitchFamily="34" charset="0"/>
                <a:ea typeface="Calibri" pitchFamily="34" charset="-122"/>
                <a:cs typeface="Calibri" pitchFamily="34" charset="-120"/>
              </a:rPr>
              <a:t>InService ✓</a:t>
            </a:r>
            <a:endParaRPr lang="en-US" sz="900" dirty="0"/>
          </a:p>
          <a:p>
            <a:pPr marL="0" indent="0" algn="ctr">
              <a:buNone/>
            </a:pPr>
            <a:r>
              <a:rPr lang="en-US" sz="900" dirty="0">
                <a:solidFill>
                  <a:srgbClr val="ECFDF5"/>
                </a:solidFill>
                <a:latin typeface="Calibri" pitchFamily="34" charset="0"/>
                <a:ea typeface="Calibri" pitchFamily="34" charset="-122"/>
                <a:cs typeface="Calibri" pitchFamily="34" charset="-120"/>
              </a:rPr>
              <a:t>HTTPS inference</a:t>
            </a:r>
            <a:endParaRPr lang="en-US" sz="900" dirty="0"/>
          </a:p>
        </p:txBody>
      </p:sp>
      <p:sp>
        <p:nvSpPr>
          <p:cNvPr id="29" name="Text 27"/>
          <p:cNvSpPr/>
          <p:nvPr/>
        </p:nvSpPr>
        <p:spPr>
          <a:xfrm>
            <a:off x="365760" y="3063240"/>
            <a:ext cx="8412480" cy="384048"/>
          </a:xfrm>
          <a:prstGeom prst="rect">
            <a:avLst/>
          </a:prstGeom>
          <a:noFill/>
          <a:ln/>
        </p:spPr>
        <p:txBody>
          <a:bodyPr wrap="square" lIns="0" tIns="0" rIns="0" bIns="0" rtlCol="0" anchor="ctr"/>
          <a:lstStyle/>
          <a:p>
            <a:pPr marL="0" indent="0" algn="l">
              <a:buNone/>
            </a:pPr>
            <a:r>
              <a:rPr lang="en-US" sz="1400" b="1" dirty="0">
                <a:solidFill>
                  <a:srgbClr val="1B2A4A"/>
                </a:solidFill>
                <a:latin typeface="Georgia" pitchFamily="34" charset="0"/>
                <a:ea typeface="Georgia" pitchFamily="34" charset="-122"/>
                <a:cs typeface="Georgia" pitchFamily="34" charset="-120"/>
              </a:rPr>
              <a:t>Key Engineering Decisions:</a:t>
            </a:r>
            <a:endParaRPr lang="en-US" sz="1400" dirty="0"/>
          </a:p>
        </p:txBody>
      </p:sp>
      <p:sp>
        <p:nvSpPr>
          <p:cNvPr id="30" name="Shape 28"/>
          <p:cNvSpPr/>
          <p:nvPr/>
        </p:nvSpPr>
        <p:spPr>
          <a:xfrm>
            <a:off x="365760" y="3657600"/>
            <a:ext cx="228600" cy="228600"/>
          </a:xfrm>
          <a:prstGeom prst="ellipse">
            <a:avLst/>
          </a:prstGeom>
          <a:solidFill>
            <a:srgbClr val="0D9488"/>
          </a:solidFill>
          <a:ln w="12700">
            <a:solidFill>
              <a:srgbClr val="0D9488"/>
            </a:solidFill>
            <a:prstDash val="solid"/>
          </a:ln>
        </p:spPr>
        <p:txBody>
          <a:bodyPr/>
          <a:lstStyle/>
          <a:p>
            <a:endParaRPr lang="en-US"/>
          </a:p>
        </p:txBody>
      </p:sp>
      <p:sp>
        <p:nvSpPr>
          <p:cNvPr id="31" name="Text 29"/>
          <p:cNvSpPr/>
          <p:nvPr/>
        </p:nvSpPr>
        <p:spPr>
          <a:xfrm>
            <a:off x="713232" y="3547872"/>
            <a:ext cx="8138160" cy="420624"/>
          </a:xfrm>
          <a:prstGeom prst="rect">
            <a:avLst/>
          </a:prstGeom>
          <a:noFill/>
          <a:ln/>
        </p:spPr>
        <p:txBody>
          <a:bodyPr wrap="square" lIns="0" tIns="0" rIns="0" bIns="0"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Model baked into Docker image — </a:t>
            </a:r>
            <a:r>
              <a:rPr lang="en-US" sz="1150" dirty="0">
                <a:solidFill>
                  <a:srgbClr val="1E293B"/>
                </a:solidFill>
                <a:latin typeface="Calibri" pitchFamily="34" charset="0"/>
                <a:ea typeface="Calibri" pitchFamily="34" charset="-122"/>
                <a:cs typeface="Calibri" pitchFamily="34" charset="-120"/>
              </a:rPr>
              <a:t>IAM user lacked s3:PutObject — no DVC push, no ModelDataUrl needed</a:t>
            </a:r>
            <a:endParaRPr lang="en-US" sz="1150" dirty="0"/>
          </a:p>
        </p:txBody>
      </p:sp>
      <p:sp>
        <p:nvSpPr>
          <p:cNvPr id="32" name="Shape 30"/>
          <p:cNvSpPr/>
          <p:nvPr/>
        </p:nvSpPr>
        <p:spPr>
          <a:xfrm>
            <a:off x="365760" y="4133088"/>
            <a:ext cx="228600" cy="228600"/>
          </a:xfrm>
          <a:prstGeom prst="ellipse">
            <a:avLst/>
          </a:prstGeom>
          <a:solidFill>
            <a:srgbClr val="0D9488"/>
          </a:solidFill>
          <a:ln w="12700">
            <a:solidFill>
              <a:srgbClr val="0D9488"/>
            </a:solidFill>
            <a:prstDash val="solid"/>
          </a:ln>
        </p:spPr>
        <p:txBody>
          <a:bodyPr/>
          <a:lstStyle/>
          <a:p>
            <a:endParaRPr lang="en-US"/>
          </a:p>
        </p:txBody>
      </p:sp>
      <p:sp>
        <p:nvSpPr>
          <p:cNvPr id="33" name="Text 31"/>
          <p:cNvSpPr/>
          <p:nvPr/>
        </p:nvSpPr>
        <p:spPr>
          <a:xfrm>
            <a:off x="713232" y="4023360"/>
            <a:ext cx="8138160" cy="420624"/>
          </a:xfrm>
          <a:prstGeom prst="rect">
            <a:avLst/>
          </a:prstGeom>
          <a:noFill/>
          <a:ln/>
        </p:spPr>
        <p:txBody>
          <a:bodyPr wrap="square" lIns="0" tIns="0" rIns="0" bIns="0"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Local /ping smoke test before ECR push — </a:t>
            </a:r>
            <a:r>
              <a:rPr lang="en-US" sz="1150" dirty="0">
                <a:solidFill>
                  <a:srgbClr val="1E293B"/>
                </a:solidFill>
                <a:latin typeface="Calibri" pitchFamily="34" charset="0"/>
                <a:ea typeface="Calibri" pitchFamily="34" charset="-122"/>
                <a:cs typeface="Calibri" pitchFamily="34" charset="-120"/>
              </a:rPr>
              <a:t>Validates container starts and Flask loads before any cloud deploy</a:t>
            </a:r>
            <a:endParaRPr lang="en-US" sz="1150" dirty="0"/>
          </a:p>
        </p:txBody>
      </p:sp>
      <p:sp>
        <p:nvSpPr>
          <p:cNvPr id="34" name="Shape 32"/>
          <p:cNvSpPr/>
          <p:nvPr/>
        </p:nvSpPr>
        <p:spPr>
          <a:xfrm>
            <a:off x="365760" y="4608576"/>
            <a:ext cx="228600" cy="228600"/>
          </a:xfrm>
          <a:prstGeom prst="ellipse">
            <a:avLst/>
          </a:prstGeom>
          <a:solidFill>
            <a:srgbClr val="0D9488"/>
          </a:solidFill>
          <a:ln w="12700">
            <a:solidFill>
              <a:srgbClr val="0D9488"/>
            </a:solidFill>
            <a:prstDash val="solid"/>
          </a:ln>
        </p:spPr>
        <p:txBody>
          <a:bodyPr/>
          <a:lstStyle/>
          <a:p>
            <a:endParaRPr lang="en-US"/>
          </a:p>
        </p:txBody>
      </p:sp>
      <p:sp>
        <p:nvSpPr>
          <p:cNvPr id="35" name="Text 33"/>
          <p:cNvSpPr/>
          <p:nvPr/>
        </p:nvSpPr>
        <p:spPr>
          <a:xfrm>
            <a:off x="713232" y="4498848"/>
            <a:ext cx="8138160" cy="420624"/>
          </a:xfrm>
          <a:prstGeom prst="rect">
            <a:avLst/>
          </a:prstGeom>
          <a:noFill/>
          <a:ln/>
        </p:spPr>
        <p:txBody>
          <a:bodyPr wrap="square" lIns="0" tIns="0" rIns="0" bIns="0"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Failed→Delete→Recreate endpoint logic — </a:t>
            </a:r>
            <a:r>
              <a:rPr lang="en-US" sz="1150" dirty="0">
                <a:solidFill>
                  <a:srgbClr val="1E293B"/>
                </a:solidFill>
                <a:latin typeface="Calibri" pitchFamily="34" charset="0"/>
                <a:ea typeface="Calibri" pitchFamily="34" charset="-122"/>
                <a:cs typeface="Calibri" pitchFamily="34" charset="-120"/>
              </a:rPr>
              <a:t>CD handles stale endpoints gracefully on every redeploy to main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9144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475488"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201168"/>
            <a:ext cx="475488" cy="475488"/>
          </a:xfrm>
          <a:prstGeom prst="rect">
            <a:avLst/>
          </a:prstGeom>
          <a:noFill/>
        </p:spPr>
        <p:txBody>
          <a:bodyPr wrap="square" anchor="ctr">
            <a:spAutoFit/>
          </a:bodyPr>
          <a:lstStyle/>
          <a:p>
            <a:pPr algn="ctr"/>
            <a:r>
              <a:rPr sz="1300" b="1" i="0">
                <a:solidFill>
                  <a:srgbClr val="FFFFFF"/>
                </a:solidFill>
                <a:latin typeface="Calibri"/>
              </a:rPr>
              <a:t>06b</a:t>
            </a:r>
          </a:p>
        </p:txBody>
      </p:sp>
      <p:sp>
        <p:nvSpPr>
          <p:cNvPr id="6" name="TextBox 5"/>
          <p:cNvSpPr txBox="1"/>
          <p:nvPr/>
        </p:nvSpPr>
        <p:spPr>
          <a:xfrm>
            <a:off x="914400" y="109728"/>
            <a:ext cx="7863840" cy="658368"/>
          </a:xfrm>
          <a:prstGeom prst="rect">
            <a:avLst/>
          </a:prstGeom>
          <a:noFill/>
        </p:spPr>
        <p:txBody>
          <a:bodyPr wrap="square" anchor="ctr">
            <a:spAutoFit/>
          </a:bodyPr>
          <a:lstStyle/>
          <a:p>
            <a:pPr algn="l"/>
            <a:r>
              <a:rPr sz="2200" b="1" i="0">
                <a:solidFill>
                  <a:srgbClr val="FFFFFF"/>
                </a:solidFill>
                <a:latin typeface="Georgia"/>
              </a:rPr>
              <a:t>SageMaker Endpoint — Live Demo</a:t>
            </a:r>
          </a:p>
        </p:txBody>
      </p:sp>
      <p:sp>
        <p:nvSpPr>
          <p:cNvPr id="7" name="TextBox 6"/>
          <p:cNvSpPr txBox="1"/>
          <p:nvPr/>
        </p:nvSpPr>
        <p:spPr>
          <a:xfrm>
            <a:off x="320040" y="1051560"/>
            <a:ext cx="8503920" cy="365760"/>
          </a:xfrm>
          <a:prstGeom prst="rect">
            <a:avLst/>
          </a:prstGeom>
          <a:noFill/>
        </p:spPr>
        <p:txBody>
          <a:bodyPr wrap="square" anchor="t">
            <a:spAutoFit/>
          </a:bodyPr>
          <a:lstStyle/>
          <a:p>
            <a:pPr algn="l"/>
            <a:r>
              <a:rPr sz="1100" b="0" i="1">
                <a:solidFill>
                  <a:srgbClr val="64748B"/>
                </a:solidFill>
                <a:latin typeface="Calibri"/>
              </a:rPr>
              <a:t>Evidence: AWS Console showing endpoint reaching InService status</a:t>
            </a:r>
          </a:p>
        </p:txBody>
      </p:sp>
      <p:sp>
        <p:nvSpPr>
          <p:cNvPr id="8" name="Rectangle 7"/>
          <p:cNvSpPr/>
          <p:nvPr/>
        </p:nvSpPr>
        <p:spPr>
          <a:xfrm>
            <a:off x="457200" y="1508760"/>
            <a:ext cx="8229600" cy="3200400"/>
          </a:xfrm>
          <a:prstGeom prst="rect">
            <a:avLst/>
          </a:prstGeom>
          <a:solidFill>
            <a:srgbClr val="F0F9F8"/>
          </a:solidFill>
          <a:ln w="25400">
            <a:solidFill>
              <a:srgbClr val="0D9488"/>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331720"/>
            <a:ext cx="8229600" cy="457200"/>
          </a:xfrm>
          <a:prstGeom prst="rect">
            <a:avLst/>
          </a:prstGeom>
          <a:noFill/>
        </p:spPr>
        <p:txBody>
          <a:bodyPr wrap="square" anchor="ctr">
            <a:spAutoFit/>
          </a:bodyPr>
          <a:lstStyle/>
          <a:p>
            <a:pPr algn="ctr"/>
            <a:r>
              <a:rPr sz="1400" b="1" i="0">
                <a:solidFill>
                  <a:srgbClr val="64748B"/>
                </a:solidFill>
                <a:latin typeface="Calibri"/>
              </a:rPr>
              <a:t>[ INSERT SCREENSHOT HERE ]</a:t>
            </a:r>
          </a:p>
        </p:txBody>
      </p:sp>
      <p:sp>
        <p:nvSpPr>
          <p:cNvPr id="10" name="TextBox 9"/>
          <p:cNvSpPr txBox="1"/>
          <p:nvPr/>
        </p:nvSpPr>
        <p:spPr>
          <a:xfrm>
            <a:off x="822960" y="2880360"/>
            <a:ext cx="7498079" cy="731520"/>
          </a:xfrm>
          <a:prstGeom prst="rect">
            <a:avLst/>
          </a:prstGeom>
          <a:noFill/>
        </p:spPr>
        <p:txBody>
          <a:bodyPr wrap="square" anchor="t">
            <a:spAutoFit/>
          </a:bodyPr>
          <a:lstStyle/>
          <a:p>
            <a:pPr algn="ctr"/>
            <a:r>
              <a:rPr sz="1000" b="0" i="0">
                <a:solidFill>
                  <a:srgbClr val="1B2A4A"/>
                </a:solidFill>
                <a:latin typeface="Calibri"/>
              </a:rPr>
              <a:t>Go to AWS Console → SageMaker → Endpoints → mlops-credit-scoring-endpoint
Take a screenshot showing Status: InService and the endpoint URL</a:t>
            </a:r>
          </a:p>
        </p:txBody>
      </p:sp>
      <p:sp>
        <p:nvSpPr>
          <p:cNvPr id="11" name="TextBox 10"/>
          <p:cNvSpPr txBox="1"/>
          <p:nvPr/>
        </p:nvSpPr>
        <p:spPr>
          <a:xfrm>
            <a:off x="457200" y="4846320"/>
            <a:ext cx="8229600" cy="228600"/>
          </a:xfrm>
          <a:prstGeom prst="rect">
            <a:avLst/>
          </a:prstGeom>
          <a:noFill/>
        </p:spPr>
        <p:txBody>
          <a:bodyPr wrap="square" anchor="ctr">
            <a:spAutoFit/>
          </a:bodyPr>
          <a:lstStyle/>
          <a:p>
            <a:pPr algn="ctr"/>
            <a:r>
              <a:rPr sz="750" b="0" i="0">
                <a:solidFill>
                  <a:srgbClr val="64748B"/>
                </a:solidFill>
                <a:latin typeface="Calibri"/>
              </a:rPr>
              <a:t>MLOps Credit Scoring Pipeline  ·  April 2026  ·  github.com/kholostovamk/mlops-credit-scoring</a:t>
            </a:r>
          </a:p>
        </p:txBody>
      </p:sp>
      <p:pic>
        <p:nvPicPr>
          <p:cNvPr id="13" name="Picture 12">
            <a:extLst>
              <a:ext uri="{FF2B5EF4-FFF2-40B4-BE49-F238E27FC236}">
                <a16:creationId xmlns:a16="http://schemas.microsoft.com/office/drawing/2014/main" id="{BAD4E35C-BF1B-9DCC-BEE6-2FE917DF188C}"/>
              </a:ext>
            </a:extLst>
          </p:cNvPr>
          <p:cNvPicPr>
            <a:picLocks noChangeAspect="1"/>
          </p:cNvPicPr>
          <p:nvPr/>
        </p:nvPicPr>
        <p:blipFill>
          <a:blip r:embed="rId2"/>
          <a:stretch>
            <a:fillRect/>
          </a:stretch>
        </p:blipFill>
        <p:spPr>
          <a:xfrm>
            <a:off x="685799" y="1630773"/>
            <a:ext cx="7772400" cy="29563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65760" y="0"/>
            <a:ext cx="841248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07  CI/CD Flow Overview</a:t>
            </a:r>
            <a:endParaRPr lang="en-US" sz="2600" dirty="0"/>
          </a:p>
        </p:txBody>
      </p:sp>
      <p:sp>
        <p:nvSpPr>
          <p:cNvPr id="5" name="Shape 3"/>
          <p:cNvSpPr/>
          <p:nvPr/>
        </p:nvSpPr>
        <p:spPr>
          <a:xfrm>
            <a:off x="320040" y="1234440"/>
            <a:ext cx="402336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6" name="Shape 4"/>
          <p:cNvSpPr/>
          <p:nvPr/>
        </p:nvSpPr>
        <p:spPr>
          <a:xfrm>
            <a:off x="320040" y="1234440"/>
            <a:ext cx="4023360" cy="73152"/>
          </a:xfrm>
          <a:prstGeom prst="rect">
            <a:avLst/>
          </a:prstGeom>
          <a:solidFill>
            <a:srgbClr val="1B2A4A"/>
          </a:solidFill>
          <a:ln w="12700">
            <a:solidFill>
              <a:srgbClr val="1B2A4A"/>
            </a:solidFill>
            <a:prstDash val="solid"/>
          </a:ln>
        </p:spPr>
        <p:txBody>
          <a:bodyPr/>
          <a:lstStyle/>
          <a:p>
            <a:endParaRPr lang="en-US"/>
          </a:p>
        </p:txBody>
      </p:sp>
      <p:sp>
        <p:nvSpPr>
          <p:cNvPr id="7" name="Shape 5"/>
          <p:cNvSpPr/>
          <p:nvPr/>
        </p:nvSpPr>
        <p:spPr>
          <a:xfrm>
            <a:off x="320040" y="1234440"/>
            <a:ext cx="4023360" cy="475488"/>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457200" y="1234440"/>
            <a:ext cx="3749040" cy="475488"/>
          </a:xfrm>
          <a:prstGeom prst="rect">
            <a:avLst/>
          </a:prstGeom>
          <a:noFill/>
          <a:ln/>
        </p:spPr>
        <p:txBody>
          <a:bodyPr wrap="square" lIns="0" tIns="0" rIns="0" bIns="0" rtlCol="0" anchor="ctr"/>
          <a:lstStyle/>
          <a:p>
            <a:pPr marL="0" indent="0" algn="l">
              <a:buNone/>
            </a:pPr>
            <a:r>
              <a:rPr lang="en-US" sz="1350" b="1" dirty="0">
                <a:solidFill>
                  <a:srgbClr val="14B8A6"/>
                </a:solidFill>
                <a:latin typeface="Georgia" pitchFamily="34" charset="0"/>
                <a:ea typeface="Georgia" pitchFamily="34" charset="-122"/>
                <a:cs typeface="Georgia" pitchFamily="34" charset="-120"/>
              </a:rPr>
              <a:t>CI  ·  Continuous Integration</a:t>
            </a:r>
            <a:endParaRPr lang="en-US" sz="1350" dirty="0"/>
          </a:p>
        </p:txBody>
      </p:sp>
      <p:sp>
        <p:nvSpPr>
          <p:cNvPr id="9" name="Text 7"/>
          <p:cNvSpPr/>
          <p:nvPr/>
        </p:nvSpPr>
        <p:spPr>
          <a:xfrm>
            <a:off x="457200" y="1783080"/>
            <a:ext cx="3749040" cy="310896"/>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Trigger: push to feature branch or PR to main</a:t>
            </a:r>
            <a:endParaRPr lang="en-US" sz="1000" dirty="0"/>
          </a:p>
        </p:txBody>
      </p:sp>
      <p:sp>
        <p:nvSpPr>
          <p:cNvPr id="10" name="Shape 8"/>
          <p:cNvSpPr/>
          <p:nvPr/>
        </p:nvSpPr>
        <p:spPr>
          <a:xfrm>
            <a:off x="411480" y="2176272"/>
            <a:ext cx="3840480" cy="777240"/>
          </a:xfrm>
          <a:prstGeom prst="rect">
            <a:avLst/>
          </a:prstGeom>
          <a:solidFill>
            <a:srgbClr val="F8FAFC"/>
          </a:solidFill>
          <a:ln w="6350">
            <a:solidFill>
              <a:srgbClr val="E2E8F0"/>
            </a:solidFill>
            <a:prstDash val="solid"/>
          </a:ln>
        </p:spPr>
        <p:txBody>
          <a:bodyPr/>
          <a:lstStyle/>
          <a:p>
            <a:endParaRPr lang="en-US"/>
          </a:p>
        </p:txBody>
      </p:sp>
      <p:sp>
        <p:nvSpPr>
          <p:cNvPr id="11" name="Shape 9"/>
          <p:cNvSpPr/>
          <p:nvPr/>
        </p:nvSpPr>
        <p:spPr>
          <a:xfrm>
            <a:off x="411480" y="2176272"/>
            <a:ext cx="73152" cy="77724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594360" y="2221992"/>
            <a:ext cx="3566160" cy="320040"/>
          </a:xfrm>
          <a:prstGeom prst="rect">
            <a:avLst/>
          </a:prstGeom>
          <a:noFill/>
          <a:ln/>
        </p:spPr>
        <p:txBody>
          <a:bodyPr wrap="square" lIns="0" tIns="0" rIns="0" bIns="0"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1.  Lint</a:t>
            </a:r>
            <a:endParaRPr lang="en-US" sz="1200" dirty="0"/>
          </a:p>
        </p:txBody>
      </p:sp>
      <p:sp>
        <p:nvSpPr>
          <p:cNvPr id="13" name="Text 11"/>
          <p:cNvSpPr/>
          <p:nvPr/>
        </p:nvSpPr>
        <p:spPr>
          <a:xfrm>
            <a:off x="594360" y="2569464"/>
            <a:ext cx="3566160" cy="338328"/>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flake8 src/ inference/ tests/ — PEP8, unused imports, style</a:t>
            </a:r>
            <a:endParaRPr lang="en-US" sz="1050" dirty="0"/>
          </a:p>
        </p:txBody>
      </p:sp>
      <p:sp>
        <p:nvSpPr>
          <p:cNvPr id="14" name="Shape 12"/>
          <p:cNvSpPr/>
          <p:nvPr/>
        </p:nvSpPr>
        <p:spPr>
          <a:xfrm>
            <a:off x="411480" y="3044952"/>
            <a:ext cx="3840480" cy="777240"/>
          </a:xfrm>
          <a:prstGeom prst="rect">
            <a:avLst/>
          </a:prstGeom>
          <a:solidFill>
            <a:srgbClr val="F8FAFC"/>
          </a:solidFill>
          <a:ln w="6350">
            <a:solidFill>
              <a:srgbClr val="E2E8F0"/>
            </a:solidFill>
            <a:prstDash val="solid"/>
          </a:ln>
        </p:spPr>
        <p:txBody>
          <a:bodyPr/>
          <a:lstStyle/>
          <a:p>
            <a:endParaRPr lang="en-US"/>
          </a:p>
        </p:txBody>
      </p:sp>
      <p:sp>
        <p:nvSpPr>
          <p:cNvPr id="15" name="Shape 13"/>
          <p:cNvSpPr/>
          <p:nvPr/>
        </p:nvSpPr>
        <p:spPr>
          <a:xfrm>
            <a:off x="411480" y="3044952"/>
            <a:ext cx="73152" cy="777240"/>
          </a:xfrm>
          <a:prstGeom prst="rect">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594360" y="3090672"/>
            <a:ext cx="3566160" cy="320040"/>
          </a:xfrm>
          <a:prstGeom prst="rect">
            <a:avLst/>
          </a:prstGeom>
          <a:noFill/>
          <a:ln/>
        </p:spPr>
        <p:txBody>
          <a:bodyPr wrap="square" lIns="0" tIns="0" rIns="0" bIns="0"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2.  Unit Tests</a:t>
            </a:r>
            <a:endParaRPr lang="en-US" sz="1200" dirty="0"/>
          </a:p>
        </p:txBody>
      </p:sp>
      <p:sp>
        <p:nvSpPr>
          <p:cNvPr id="17" name="Text 15"/>
          <p:cNvSpPr/>
          <p:nvPr/>
        </p:nvSpPr>
        <p:spPr>
          <a:xfrm>
            <a:off x="594360" y="3438144"/>
            <a:ext cx="3566160" cy="338328"/>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pytest — 13 tests: data validation, inference hooks, metrics</a:t>
            </a:r>
            <a:endParaRPr lang="en-US" sz="1050" dirty="0"/>
          </a:p>
        </p:txBody>
      </p:sp>
      <p:sp>
        <p:nvSpPr>
          <p:cNvPr id="18" name="Shape 16"/>
          <p:cNvSpPr/>
          <p:nvPr/>
        </p:nvSpPr>
        <p:spPr>
          <a:xfrm>
            <a:off x="411480" y="3913632"/>
            <a:ext cx="3840480" cy="777240"/>
          </a:xfrm>
          <a:prstGeom prst="rect">
            <a:avLst/>
          </a:prstGeom>
          <a:solidFill>
            <a:srgbClr val="F8FAFC"/>
          </a:solidFill>
          <a:ln w="6350">
            <a:solidFill>
              <a:srgbClr val="E2E8F0"/>
            </a:solidFill>
            <a:prstDash val="solid"/>
          </a:ln>
        </p:spPr>
        <p:txBody>
          <a:bodyPr/>
          <a:lstStyle/>
          <a:p>
            <a:endParaRPr lang="en-US"/>
          </a:p>
        </p:txBody>
      </p:sp>
      <p:sp>
        <p:nvSpPr>
          <p:cNvPr id="19" name="Shape 17"/>
          <p:cNvSpPr/>
          <p:nvPr/>
        </p:nvSpPr>
        <p:spPr>
          <a:xfrm>
            <a:off x="411480" y="3913632"/>
            <a:ext cx="73152" cy="777240"/>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594360" y="3959352"/>
            <a:ext cx="3566160" cy="320040"/>
          </a:xfrm>
          <a:prstGeom prst="rect">
            <a:avLst/>
          </a:prstGeom>
          <a:noFill/>
          <a:ln/>
        </p:spPr>
        <p:txBody>
          <a:bodyPr wrap="square" lIns="0" tIns="0" rIns="0" bIns="0"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3.  Sanity Train</a:t>
            </a:r>
            <a:endParaRPr lang="en-US" sz="1200" dirty="0"/>
          </a:p>
        </p:txBody>
      </p:sp>
      <p:sp>
        <p:nvSpPr>
          <p:cNvPr id="21" name="Text 19"/>
          <p:cNvSpPr/>
          <p:nvPr/>
        </p:nvSpPr>
        <p:spPr>
          <a:xfrm>
            <a:off x="594360" y="4306824"/>
            <a:ext cx="3566160" cy="338328"/>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200-row smoke, 5 Optuna trials — confirms end-to-end pipeline</a:t>
            </a:r>
            <a:endParaRPr lang="en-US" sz="1050" dirty="0"/>
          </a:p>
        </p:txBody>
      </p:sp>
      <p:sp>
        <p:nvSpPr>
          <p:cNvPr id="22" name="Shape 20"/>
          <p:cNvSpPr/>
          <p:nvPr/>
        </p:nvSpPr>
        <p:spPr>
          <a:xfrm>
            <a:off x="4800600" y="1234440"/>
            <a:ext cx="402336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23" name="Shape 21"/>
          <p:cNvSpPr/>
          <p:nvPr/>
        </p:nvSpPr>
        <p:spPr>
          <a:xfrm>
            <a:off x="4800600" y="1234440"/>
            <a:ext cx="4023360" cy="73152"/>
          </a:xfrm>
          <a:prstGeom prst="rect">
            <a:avLst/>
          </a:prstGeom>
          <a:solidFill>
            <a:srgbClr val="0D9488"/>
          </a:solidFill>
          <a:ln w="12700">
            <a:solidFill>
              <a:srgbClr val="0D9488"/>
            </a:solidFill>
            <a:prstDash val="solid"/>
          </a:ln>
        </p:spPr>
        <p:txBody>
          <a:bodyPr/>
          <a:lstStyle/>
          <a:p>
            <a:endParaRPr lang="en-US"/>
          </a:p>
        </p:txBody>
      </p:sp>
      <p:sp>
        <p:nvSpPr>
          <p:cNvPr id="24" name="Shape 22"/>
          <p:cNvSpPr/>
          <p:nvPr/>
        </p:nvSpPr>
        <p:spPr>
          <a:xfrm>
            <a:off x="4800600" y="1234440"/>
            <a:ext cx="4023360" cy="475488"/>
          </a:xfrm>
          <a:prstGeom prst="rect">
            <a:avLst/>
          </a:prstGeom>
          <a:solidFill>
            <a:srgbClr val="0D9488"/>
          </a:solidFill>
          <a:ln w="12700">
            <a:solidFill>
              <a:srgbClr val="0D9488"/>
            </a:solidFill>
            <a:prstDash val="solid"/>
          </a:ln>
        </p:spPr>
        <p:txBody>
          <a:bodyPr/>
          <a:lstStyle/>
          <a:p>
            <a:endParaRPr lang="en-US"/>
          </a:p>
        </p:txBody>
      </p:sp>
      <p:sp>
        <p:nvSpPr>
          <p:cNvPr id="25" name="Text 23"/>
          <p:cNvSpPr/>
          <p:nvPr/>
        </p:nvSpPr>
        <p:spPr>
          <a:xfrm>
            <a:off x="4937760" y="1234440"/>
            <a:ext cx="3749040" cy="475488"/>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CD  ·  Continuous Deployment</a:t>
            </a:r>
            <a:endParaRPr lang="en-US" sz="1350" dirty="0"/>
          </a:p>
        </p:txBody>
      </p:sp>
      <p:sp>
        <p:nvSpPr>
          <p:cNvPr id="26" name="Text 24"/>
          <p:cNvSpPr/>
          <p:nvPr/>
        </p:nvSpPr>
        <p:spPr>
          <a:xfrm>
            <a:off x="4937760" y="1783080"/>
            <a:ext cx="3749040" cy="310896"/>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Trigger: push to main branch</a:t>
            </a:r>
            <a:endParaRPr lang="en-US" sz="1000" dirty="0"/>
          </a:p>
        </p:txBody>
      </p:sp>
      <p:sp>
        <p:nvSpPr>
          <p:cNvPr id="27" name="Shape 25"/>
          <p:cNvSpPr/>
          <p:nvPr/>
        </p:nvSpPr>
        <p:spPr>
          <a:xfrm>
            <a:off x="4892040" y="2176272"/>
            <a:ext cx="3840480" cy="777240"/>
          </a:xfrm>
          <a:prstGeom prst="rect">
            <a:avLst/>
          </a:prstGeom>
          <a:solidFill>
            <a:srgbClr val="F8FAFC"/>
          </a:solidFill>
          <a:ln w="6350">
            <a:solidFill>
              <a:srgbClr val="E2E8F0"/>
            </a:solidFill>
            <a:prstDash val="solid"/>
          </a:ln>
        </p:spPr>
        <p:txBody>
          <a:bodyPr/>
          <a:lstStyle/>
          <a:p>
            <a:endParaRPr lang="en-US"/>
          </a:p>
        </p:txBody>
      </p:sp>
      <p:sp>
        <p:nvSpPr>
          <p:cNvPr id="28" name="Shape 26"/>
          <p:cNvSpPr/>
          <p:nvPr/>
        </p:nvSpPr>
        <p:spPr>
          <a:xfrm>
            <a:off x="4892040" y="2176272"/>
            <a:ext cx="73152" cy="777240"/>
          </a:xfrm>
          <a:prstGeom prst="rect">
            <a:avLst/>
          </a:prstGeom>
          <a:solidFill>
            <a:srgbClr val="0D9488"/>
          </a:solidFill>
          <a:ln w="12700">
            <a:solidFill>
              <a:srgbClr val="0D9488"/>
            </a:solidFill>
            <a:prstDash val="solid"/>
          </a:ln>
        </p:spPr>
        <p:txBody>
          <a:bodyPr/>
          <a:lstStyle/>
          <a:p>
            <a:endParaRPr lang="en-US"/>
          </a:p>
        </p:txBody>
      </p:sp>
      <p:sp>
        <p:nvSpPr>
          <p:cNvPr id="29" name="Text 27"/>
          <p:cNvSpPr/>
          <p:nvPr/>
        </p:nvSpPr>
        <p:spPr>
          <a:xfrm>
            <a:off x="5074920" y="2221992"/>
            <a:ext cx="3566160" cy="320040"/>
          </a:xfrm>
          <a:prstGeom prst="rect">
            <a:avLst/>
          </a:prstGeom>
          <a:noFill/>
          <a:ln/>
        </p:spPr>
        <p:txBody>
          <a:bodyPr wrap="square" lIns="0" tIns="0" rIns="0" bIns="0"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1.  DVC Pipeline</a:t>
            </a:r>
            <a:endParaRPr lang="en-US" sz="1200" dirty="0"/>
          </a:p>
        </p:txBody>
      </p:sp>
      <p:sp>
        <p:nvSpPr>
          <p:cNvPr id="30" name="Text 28"/>
          <p:cNvSpPr/>
          <p:nvPr/>
        </p:nvSpPr>
        <p:spPr>
          <a:xfrm>
            <a:off x="5074920" y="2569464"/>
            <a:ext cx="3566160" cy="338328"/>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dvc repro — ingest, validate, train, evaluate. Artifacts via GH Actions</a:t>
            </a:r>
            <a:endParaRPr lang="en-US" sz="1050" dirty="0"/>
          </a:p>
        </p:txBody>
      </p:sp>
      <p:sp>
        <p:nvSpPr>
          <p:cNvPr id="31" name="Shape 29"/>
          <p:cNvSpPr/>
          <p:nvPr/>
        </p:nvSpPr>
        <p:spPr>
          <a:xfrm>
            <a:off x="4892040" y="3044952"/>
            <a:ext cx="3840480" cy="777240"/>
          </a:xfrm>
          <a:prstGeom prst="rect">
            <a:avLst/>
          </a:prstGeom>
          <a:solidFill>
            <a:srgbClr val="F8FAFC"/>
          </a:solidFill>
          <a:ln w="6350">
            <a:solidFill>
              <a:srgbClr val="E2E8F0"/>
            </a:solidFill>
            <a:prstDash val="solid"/>
          </a:ln>
        </p:spPr>
        <p:txBody>
          <a:bodyPr/>
          <a:lstStyle/>
          <a:p>
            <a:endParaRPr lang="en-US"/>
          </a:p>
        </p:txBody>
      </p:sp>
      <p:sp>
        <p:nvSpPr>
          <p:cNvPr id="32" name="Shape 30"/>
          <p:cNvSpPr/>
          <p:nvPr/>
        </p:nvSpPr>
        <p:spPr>
          <a:xfrm>
            <a:off x="4892040" y="3044952"/>
            <a:ext cx="73152" cy="777240"/>
          </a:xfrm>
          <a:prstGeom prst="rect">
            <a:avLst/>
          </a:prstGeom>
          <a:solidFill>
            <a:srgbClr val="0D9488"/>
          </a:solidFill>
          <a:ln w="12700">
            <a:solidFill>
              <a:srgbClr val="0D9488"/>
            </a:solidFill>
            <a:prstDash val="solid"/>
          </a:ln>
        </p:spPr>
        <p:txBody>
          <a:bodyPr/>
          <a:lstStyle/>
          <a:p>
            <a:endParaRPr lang="en-US"/>
          </a:p>
        </p:txBody>
      </p:sp>
      <p:sp>
        <p:nvSpPr>
          <p:cNvPr id="33" name="Text 31"/>
          <p:cNvSpPr/>
          <p:nvPr/>
        </p:nvSpPr>
        <p:spPr>
          <a:xfrm>
            <a:off x="5074920" y="3090672"/>
            <a:ext cx="3566160" cy="320040"/>
          </a:xfrm>
          <a:prstGeom prst="rect">
            <a:avLst/>
          </a:prstGeom>
          <a:noFill/>
          <a:ln/>
        </p:spPr>
        <p:txBody>
          <a:bodyPr wrap="square" lIns="0" tIns="0" rIns="0" bIns="0"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2.  Docker Build</a:t>
            </a:r>
            <a:endParaRPr lang="en-US" sz="1200" dirty="0"/>
          </a:p>
        </p:txBody>
      </p:sp>
      <p:sp>
        <p:nvSpPr>
          <p:cNvPr id="34" name="Text 32"/>
          <p:cNvSpPr/>
          <p:nvPr/>
        </p:nvSpPr>
        <p:spPr>
          <a:xfrm>
            <a:off x="5074920" y="3438144"/>
            <a:ext cx="3566160" cy="338328"/>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Multi-stage build, local /ping smoke test, push image to ECR</a:t>
            </a:r>
            <a:endParaRPr lang="en-US" sz="1050" dirty="0"/>
          </a:p>
        </p:txBody>
      </p:sp>
      <p:sp>
        <p:nvSpPr>
          <p:cNvPr id="35" name="Shape 33"/>
          <p:cNvSpPr/>
          <p:nvPr/>
        </p:nvSpPr>
        <p:spPr>
          <a:xfrm>
            <a:off x="4892040" y="3913632"/>
            <a:ext cx="3840480" cy="777240"/>
          </a:xfrm>
          <a:prstGeom prst="rect">
            <a:avLst/>
          </a:prstGeom>
          <a:solidFill>
            <a:srgbClr val="F8FAFC"/>
          </a:solidFill>
          <a:ln w="6350">
            <a:solidFill>
              <a:srgbClr val="E2E8F0"/>
            </a:solidFill>
            <a:prstDash val="solid"/>
          </a:ln>
        </p:spPr>
        <p:txBody>
          <a:bodyPr/>
          <a:lstStyle/>
          <a:p>
            <a:endParaRPr lang="en-US"/>
          </a:p>
        </p:txBody>
      </p:sp>
      <p:sp>
        <p:nvSpPr>
          <p:cNvPr id="36" name="Shape 34"/>
          <p:cNvSpPr/>
          <p:nvPr/>
        </p:nvSpPr>
        <p:spPr>
          <a:xfrm>
            <a:off x="4892040" y="3913632"/>
            <a:ext cx="73152" cy="777240"/>
          </a:xfrm>
          <a:prstGeom prst="rect">
            <a:avLst/>
          </a:prstGeom>
          <a:solidFill>
            <a:srgbClr val="0D9488"/>
          </a:solidFill>
          <a:ln w="12700">
            <a:solidFill>
              <a:srgbClr val="0D9488"/>
            </a:solidFill>
            <a:prstDash val="solid"/>
          </a:ln>
        </p:spPr>
        <p:txBody>
          <a:bodyPr/>
          <a:lstStyle/>
          <a:p>
            <a:endParaRPr lang="en-US"/>
          </a:p>
        </p:txBody>
      </p:sp>
      <p:sp>
        <p:nvSpPr>
          <p:cNvPr id="37" name="Text 35"/>
          <p:cNvSpPr/>
          <p:nvPr/>
        </p:nvSpPr>
        <p:spPr>
          <a:xfrm>
            <a:off x="5074920" y="3959352"/>
            <a:ext cx="3566160" cy="320040"/>
          </a:xfrm>
          <a:prstGeom prst="rect">
            <a:avLst/>
          </a:prstGeom>
          <a:noFill/>
          <a:ln/>
        </p:spPr>
        <p:txBody>
          <a:bodyPr wrap="square" lIns="0" tIns="0" rIns="0" bIns="0" rtlCol="0" anchor="ctr"/>
          <a:lstStyle/>
          <a:p>
            <a:pPr marL="0" indent="0" algn="l">
              <a:buNone/>
            </a:pPr>
            <a:r>
              <a:rPr lang="en-US" sz="1200" b="1" dirty="0">
                <a:solidFill>
                  <a:srgbClr val="1B2A4A"/>
                </a:solidFill>
                <a:latin typeface="Calibri" pitchFamily="34" charset="0"/>
                <a:ea typeface="Calibri" pitchFamily="34" charset="-122"/>
                <a:cs typeface="Calibri" pitchFamily="34" charset="-120"/>
              </a:rPr>
              <a:t>3.  SageMaker Deploy</a:t>
            </a:r>
            <a:endParaRPr lang="en-US" sz="1200" dirty="0"/>
          </a:p>
        </p:txBody>
      </p:sp>
      <p:sp>
        <p:nvSpPr>
          <p:cNvPr id="38" name="Text 36"/>
          <p:cNvSpPr/>
          <p:nvPr/>
        </p:nvSpPr>
        <p:spPr>
          <a:xfrm>
            <a:off x="5074920" y="4306824"/>
            <a:ext cx="3566160" cy="338328"/>
          </a:xfrm>
          <a:prstGeom prst="rect">
            <a:avLst/>
          </a:prstGeom>
          <a:noFill/>
          <a:ln/>
        </p:spPr>
        <p:txBody>
          <a:bodyPr wrap="square" lIns="0" tIns="0" rIns="0" bIns="0" rtlCol="0" anchor="ctr"/>
          <a:lstStyle/>
          <a:p>
            <a:pPr marL="0" indent="0" algn="l">
              <a:buNone/>
            </a:pPr>
            <a:r>
              <a:rPr lang="en-US" sz="1050" dirty="0">
                <a:solidFill>
                  <a:srgbClr val="1E293B"/>
                </a:solidFill>
                <a:latin typeface="Calibri" pitchFamily="34" charset="0"/>
                <a:ea typeface="Calibri" pitchFamily="34" charset="-122"/>
                <a:cs typeface="Calibri" pitchFamily="34" charset="-120"/>
              </a:rPr>
              <a:t>Create/update Model + EndpointConfig. Wait InService. Final smoke test.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9144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475488"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201168"/>
            <a:ext cx="475488" cy="475488"/>
          </a:xfrm>
          <a:prstGeom prst="rect">
            <a:avLst/>
          </a:prstGeom>
          <a:noFill/>
        </p:spPr>
        <p:txBody>
          <a:bodyPr wrap="square" anchor="ctr">
            <a:spAutoFit/>
          </a:bodyPr>
          <a:lstStyle/>
          <a:p>
            <a:pPr algn="ctr"/>
            <a:r>
              <a:rPr sz="1300" b="1" i="0">
                <a:solidFill>
                  <a:srgbClr val="FFFFFF"/>
                </a:solidFill>
                <a:latin typeface="Calibri"/>
              </a:rPr>
              <a:t>07b</a:t>
            </a:r>
          </a:p>
        </p:txBody>
      </p:sp>
      <p:sp>
        <p:nvSpPr>
          <p:cNvPr id="6" name="TextBox 5"/>
          <p:cNvSpPr txBox="1"/>
          <p:nvPr/>
        </p:nvSpPr>
        <p:spPr>
          <a:xfrm>
            <a:off x="914400" y="109728"/>
            <a:ext cx="7863840" cy="658368"/>
          </a:xfrm>
          <a:prstGeom prst="rect">
            <a:avLst/>
          </a:prstGeom>
          <a:noFill/>
        </p:spPr>
        <p:txBody>
          <a:bodyPr wrap="square" anchor="ctr">
            <a:spAutoFit/>
          </a:bodyPr>
          <a:lstStyle/>
          <a:p>
            <a:pPr algn="l"/>
            <a:r>
              <a:rPr sz="2200" b="1" i="0">
                <a:solidFill>
                  <a:srgbClr val="FFFFFF"/>
                </a:solidFill>
                <a:latin typeface="Georgia"/>
              </a:rPr>
              <a:t>GitHub Actions — CI Pipeline Green</a:t>
            </a:r>
          </a:p>
        </p:txBody>
      </p:sp>
      <p:sp>
        <p:nvSpPr>
          <p:cNvPr id="7" name="TextBox 6"/>
          <p:cNvSpPr txBox="1"/>
          <p:nvPr/>
        </p:nvSpPr>
        <p:spPr>
          <a:xfrm>
            <a:off x="320040" y="1051560"/>
            <a:ext cx="8503920" cy="365760"/>
          </a:xfrm>
          <a:prstGeom prst="rect">
            <a:avLst/>
          </a:prstGeom>
          <a:noFill/>
        </p:spPr>
        <p:txBody>
          <a:bodyPr wrap="square" anchor="t">
            <a:spAutoFit/>
          </a:bodyPr>
          <a:lstStyle/>
          <a:p>
            <a:pPr algn="l"/>
            <a:r>
              <a:rPr sz="1100" b="0" i="1">
                <a:solidFill>
                  <a:srgbClr val="64748B"/>
                </a:solidFill>
                <a:latin typeface="Calibri"/>
              </a:rPr>
              <a:t>Evidence: All three CI checks passing on the ci/smoke-test branch</a:t>
            </a:r>
          </a:p>
        </p:txBody>
      </p:sp>
      <p:sp>
        <p:nvSpPr>
          <p:cNvPr id="8" name="Rectangle 7"/>
          <p:cNvSpPr/>
          <p:nvPr/>
        </p:nvSpPr>
        <p:spPr>
          <a:xfrm>
            <a:off x="457200" y="1508760"/>
            <a:ext cx="8229600" cy="3200400"/>
          </a:xfrm>
          <a:prstGeom prst="rect">
            <a:avLst/>
          </a:prstGeom>
          <a:solidFill>
            <a:srgbClr val="F0F9F8"/>
          </a:solidFill>
          <a:ln w="25400">
            <a:solidFill>
              <a:srgbClr val="0D9488"/>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331720"/>
            <a:ext cx="8229600" cy="457200"/>
          </a:xfrm>
          <a:prstGeom prst="rect">
            <a:avLst/>
          </a:prstGeom>
          <a:noFill/>
        </p:spPr>
        <p:txBody>
          <a:bodyPr wrap="square" anchor="ctr">
            <a:spAutoFit/>
          </a:bodyPr>
          <a:lstStyle/>
          <a:p>
            <a:pPr algn="ctr"/>
            <a:r>
              <a:rPr sz="1400" b="1" i="0">
                <a:solidFill>
                  <a:srgbClr val="64748B"/>
                </a:solidFill>
                <a:latin typeface="Calibri"/>
              </a:rPr>
              <a:t>[ INSERT SCREENSHOT HERE ]</a:t>
            </a:r>
          </a:p>
        </p:txBody>
      </p:sp>
      <p:sp>
        <p:nvSpPr>
          <p:cNvPr id="10" name="TextBox 9"/>
          <p:cNvSpPr txBox="1"/>
          <p:nvPr/>
        </p:nvSpPr>
        <p:spPr>
          <a:xfrm>
            <a:off x="822960" y="2880360"/>
            <a:ext cx="7498079" cy="731520"/>
          </a:xfrm>
          <a:prstGeom prst="rect">
            <a:avLst/>
          </a:prstGeom>
          <a:noFill/>
        </p:spPr>
        <p:txBody>
          <a:bodyPr wrap="square" anchor="t">
            <a:spAutoFit/>
          </a:bodyPr>
          <a:lstStyle/>
          <a:p>
            <a:pPr algn="ctr"/>
            <a:r>
              <a:rPr sz="1000" b="0" i="0">
                <a:solidFill>
                  <a:srgbClr val="1B2A4A"/>
                </a:solidFill>
                <a:latin typeface="Calibri"/>
              </a:rPr>
              <a:t>Go to github.com/kholostovamk/mlops-credit-scoring → Actions tab
Open the latest CI run and take a screenshot showing:  Lint ✓   Unit Tests ✓   Sanity Training ✓</a:t>
            </a:r>
          </a:p>
        </p:txBody>
      </p:sp>
      <p:sp>
        <p:nvSpPr>
          <p:cNvPr id="11" name="TextBox 10"/>
          <p:cNvSpPr txBox="1"/>
          <p:nvPr/>
        </p:nvSpPr>
        <p:spPr>
          <a:xfrm>
            <a:off x="457200" y="4846320"/>
            <a:ext cx="8229600" cy="228600"/>
          </a:xfrm>
          <a:prstGeom prst="rect">
            <a:avLst/>
          </a:prstGeom>
          <a:noFill/>
        </p:spPr>
        <p:txBody>
          <a:bodyPr wrap="square" anchor="ctr">
            <a:spAutoFit/>
          </a:bodyPr>
          <a:lstStyle/>
          <a:p>
            <a:pPr algn="ctr"/>
            <a:r>
              <a:rPr sz="750" b="0" i="0">
                <a:solidFill>
                  <a:srgbClr val="64748B"/>
                </a:solidFill>
                <a:latin typeface="Calibri"/>
              </a:rPr>
              <a:t>MLOps Credit Scoring Pipeline  ·  April 2026  ·  github.com/kholostovamk/mlops-credit-scoring</a:t>
            </a:r>
          </a:p>
        </p:txBody>
      </p:sp>
      <p:pic>
        <p:nvPicPr>
          <p:cNvPr id="13" name="Picture 12" descr="A screenshot of a computer&#10;&#10;AI-generated content may be incorrect.">
            <a:extLst>
              <a:ext uri="{FF2B5EF4-FFF2-40B4-BE49-F238E27FC236}">
                <a16:creationId xmlns:a16="http://schemas.microsoft.com/office/drawing/2014/main" id="{30588D71-A0A6-AA9D-E3EE-4AE9585C0866}"/>
              </a:ext>
            </a:extLst>
          </p:cNvPr>
          <p:cNvPicPr>
            <a:picLocks noChangeAspect="1"/>
          </p:cNvPicPr>
          <p:nvPr/>
        </p:nvPicPr>
        <p:blipFill>
          <a:blip r:embed="rId2"/>
          <a:stretch>
            <a:fillRect/>
          </a:stretch>
        </p:blipFill>
        <p:spPr>
          <a:xfrm>
            <a:off x="685799" y="1966734"/>
            <a:ext cx="7772400" cy="21252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Shape 2"/>
          <p:cNvSpPr/>
          <p:nvPr/>
        </p:nvSpPr>
        <p:spPr>
          <a:xfrm>
            <a:off x="7223760" y="301752"/>
            <a:ext cx="1600200" cy="402336"/>
          </a:xfrm>
          <a:prstGeom prst="rect">
            <a:avLst/>
          </a:prstGeom>
          <a:solidFill>
            <a:srgbClr val="F59E0B"/>
          </a:solidFill>
          <a:ln w="12700">
            <a:solidFill>
              <a:srgbClr val="F59E0B"/>
            </a:solidFill>
            <a:prstDash val="solid"/>
          </a:ln>
        </p:spPr>
        <p:txBody>
          <a:bodyPr/>
          <a:lstStyle/>
          <a:p>
            <a:endParaRPr lang="en-US"/>
          </a:p>
        </p:txBody>
      </p:sp>
      <p:sp>
        <p:nvSpPr>
          <p:cNvPr id="5" name="Text 3"/>
          <p:cNvSpPr/>
          <p:nvPr/>
        </p:nvSpPr>
        <p:spPr>
          <a:xfrm>
            <a:off x="7223760" y="301752"/>
            <a:ext cx="16002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BONUS</a:t>
            </a:r>
            <a:endParaRPr lang="en-US" sz="1100" dirty="0"/>
          </a:p>
        </p:txBody>
      </p:sp>
      <p:sp>
        <p:nvSpPr>
          <p:cNvPr id="6" name="Text 4"/>
          <p:cNvSpPr/>
          <p:nvPr/>
        </p:nvSpPr>
        <p:spPr>
          <a:xfrm>
            <a:off x="365760" y="0"/>
            <a:ext cx="676656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09  Governance &amp; Incident Playbook</a:t>
            </a:r>
            <a:endParaRPr lang="en-US" sz="2600" dirty="0"/>
          </a:p>
        </p:txBody>
      </p:sp>
      <p:sp>
        <p:nvSpPr>
          <p:cNvPr id="7" name="Shape 5"/>
          <p:cNvSpPr/>
          <p:nvPr/>
        </p:nvSpPr>
        <p:spPr>
          <a:xfrm>
            <a:off x="320040" y="1234440"/>
            <a:ext cx="411480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8" name="Shape 6"/>
          <p:cNvSpPr/>
          <p:nvPr/>
        </p:nvSpPr>
        <p:spPr>
          <a:xfrm>
            <a:off x="320040" y="1234440"/>
            <a:ext cx="4114800" cy="73152"/>
          </a:xfrm>
          <a:prstGeom prst="rect">
            <a:avLst/>
          </a:prstGeom>
          <a:solidFill>
            <a:srgbClr val="1B2A4A"/>
          </a:solidFill>
          <a:ln w="12700">
            <a:solidFill>
              <a:srgbClr val="1B2A4A"/>
            </a:solidFill>
            <a:prstDash val="solid"/>
          </a:ln>
        </p:spPr>
        <p:txBody>
          <a:bodyPr/>
          <a:lstStyle/>
          <a:p>
            <a:endParaRPr lang="en-US"/>
          </a:p>
        </p:txBody>
      </p:sp>
      <p:sp>
        <p:nvSpPr>
          <p:cNvPr id="9" name="Text 7"/>
          <p:cNvSpPr/>
          <p:nvPr/>
        </p:nvSpPr>
        <p:spPr>
          <a:xfrm>
            <a:off x="457200" y="1389888"/>
            <a:ext cx="3840480" cy="384048"/>
          </a:xfrm>
          <a:prstGeom prst="rect">
            <a:avLst/>
          </a:prstGeom>
          <a:noFill/>
          <a:ln/>
        </p:spPr>
        <p:txBody>
          <a:bodyPr wrap="square" lIns="0" tIns="0" rIns="0" bIns="0" rtlCol="0" anchor="ctr"/>
          <a:lstStyle/>
          <a:p>
            <a:pPr marL="0" indent="0">
              <a:buNone/>
            </a:pPr>
            <a:r>
              <a:rPr lang="en-US" sz="1600" b="1" dirty="0">
                <a:solidFill>
                  <a:srgbClr val="1B2A4A"/>
                </a:solidFill>
                <a:latin typeface="Georgia" pitchFamily="34" charset="0"/>
                <a:ea typeface="Georgia" pitchFamily="34" charset="-122"/>
                <a:cs typeface="Georgia" pitchFamily="34" charset="-120"/>
              </a:rPr>
              <a:t>Model Audit Log</a:t>
            </a:r>
            <a:endParaRPr lang="en-US" sz="1600" dirty="0"/>
          </a:p>
        </p:txBody>
      </p:sp>
      <p:sp>
        <p:nvSpPr>
          <p:cNvPr id="10" name="Shape 8"/>
          <p:cNvSpPr/>
          <p:nvPr/>
        </p:nvSpPr>
        <p:spPr>
          <a:xfrm>
            <a:off x="411480" y="1993392"/>
            <a:ext cx="164592" cy="164592"/>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685800" y="1901952"/>
            <a:ext cx="3611880" cy="402336"/>
          </a:xfrm>
          <a:prstGeom prst="rect">
            <a:avLst/>
          </a:prstGeom>
          <a:noFill/>
          <a:ln/>
        </p:spPr>
        <p:txBody>
          <a:bodyPr wrap="square" lIns="0" tIns="0" rIns="0" bIns="0"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Model version, training date, dataset hash</a:t>
            </a:r>
            <a:endParaRPr lang="en-US" sz="1150" dirty="0"/>
          </a:p>
        </p:txBody>
      </p:sp>
      <p:sp>
        <p:nvSpPr>
          <p:cNvPr id="12" name="Shape 10"/>
          <p:cNvSpPr/>
          <p:nvPr/>
        </p:nvSpPr>
        <p:spPr>
          <a:xfrm>
            <a:off x="411480" y="2450592"/>
            <a:ext cx="164592" cy="164592"/>
          </a:xfrm>
          <a:prstGeom prst="rect">
            <a:avLst/>
          </a:prstGeom>
          <a:solidFill>
            <a:srgbClr val="0D9488"/>
          </a:solidFill>
          <a:ln w="12700">
            <a:solidFill>
              <a:srgbClr val="0D9488"/>
            </a:solidFill>
            <a:prstDash val="solid"/>
          </a:ln>
        </p:spPr>
        <p:txBody>
          <a:bodyPr/>
          <a:lstStyle/>
          <a:p>
            <a:endParaRPr lang="en-US"/>
          </a:p>
        </p:txBody>
      </p:sp>
      <p:sp>
        <p:nvSpPr>
          <p:cNvPr id="13" name="Text 11"/>
          <p:cNvSpPr/>
          <p:nvPr/>
        </p:nvSpPr>
        <p:spPr>
          <a:xfrm>
            <a:off x="685800" y="2359152"/>
            <a:ext cx="3611880" cy="402336"/>
          </a:xfrm>
          <a:prstGeom prst="rect">
            <a:avLst/>
          </a:prstGeom>
          <a:noFill/>
          <a:ln/>
        </p:spPr>
        <p:txBody>
          <a:bodyPr wrap="square" lIns="0" tIns="0" rIns="0" bIns="0"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Hyperparameters from best Optuna trial</a:t>
            </a:r>
            <a:endParaRPr lang="en-US" sz="1150" dirty="0"/>
          </a:p>
        </p:txBody>
      </p:sp>
      <p:sp>
        <p:nvSpPr>
          <p:cNvPr id="14" name="Shape 12"/>
          <p:cNvSpPr/>
          <p:nvPr/>
        </p:nvSpPr>
        <p:spPr>
          <a:xfrm>
            <a:off x="411480" y="2907792"/>
            <a:ext cx="164592" cy="164592"/>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685800" y="2816352"/>
            <a:ext cx="3611880" cy="402336"/>
          </a:xfrm>
          <a:prstGeom prst="rect">
            <a:avLst/>
          </a:prstGeom>
          <a:noFill/>
          <a:ln/>
        </p:spPr>
        <p:txBody>
          <a:bodyPr wrap="square" lIns="0" tIns="0" rIns="0" bIns="0"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Performance metrics: AUC-ROC, F1, accuracy</a:t>
            </a:r>
            <a:endParaRPr lang="en-US" sz="1150" dirty="0"/>
          </a:p>
        </p:txBody>
      </p:sp>
      <p:sp>
        <p:nvSpPr>
          <p:cNvPr id="16" name="Shape 14"/>
          <p:cNvSpPr/>
          <p:nvPr/>
        </p:nvSpPr>
        <p:spPr>
          <a:xfrm>
            <a:off x="411480" y="3364992"/>
            <a:ext cx="164592" cy="164592"/>
          </a:xfrm>
          <a:prstGeom prst="rect">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685800" y="3273552"/>
            <a:ext cx="3611880" cy="402336"/>
          </a:xfrm>
          <a:prstGeom prst="rect">
            <a:avLst/>
          </a:prstGeom>
          <a:noFill/>
          <a:ln/>
        </p:spPr>
        <p:txBody>
          <a:bodyPr wrap="square" lIns="0" tIns="0" rIns="0" bIns="0"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Fairness audit across SEX, EDUCATION, MARRIAGE groups</a:t>
            </a:r>
            <a:endParaRPr lang="en-US" sz="1150" dirty="0"/>
          </a:p>
        </p:txBody>
      </p:sp>
      <p:sp>
        <p:nvSpPr>
          <p:cNvPr id="18" name="Shape 16"/>
          <p:cNvSpPr/>
          <p:nvPr/>
        </p:nvSpPr>
        <p:spPr>
          <a:xfrm>
            <a:off x="411480" y="3822192"/>
            <a:ext cx="164592" cy="164592"/>
          </a:xfrm>
          <a:prstGeom prst="rect">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685800" y="3730752"/>
            <a:ext cx="3611880" cy="402336"/>
          </a:xfrm>
          <a:prstGeom prst="rect">
            <a:avLst/>
          </a:prstGeom>
          <a:noFill/>
          <a:ln/>
        </p:spPr>
        <p:txBody>
          <a:bodyPr wrap="square" lIns="0" tIns="0" rIns="0" bIns="0"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Drift baseline — PSI reference scores</a:t>
            </a:r>
            <a:endParaRPr lang="en-US" sz="1150" dirty="0"/>
          </a:p>
        </p:txBody>
      </p:sp>
      <p:sp>
        <p:nvSpPr>
          <p:cNvPr id="20" name="Shape 18"/>
          <p:cNvSpPr/>
          <p:nvPr/>
        </p:nvSpPr>
        <p:spPr>
          <a:xfrm>
            <a:off x="411480" y="4279392"/>
            <a:ext cx="164592" cy="164592"/>
          </a:xfrm>
          <a:prstGeom prst="rect">
            <a:avLst/>
          </a:prstGeom>
          <a:solidFill>
            <a:srgbClr val="0D9488"/>
          </a:solidFill>
          <a:ln w="12700">
            <a:solidFill>
              <a:srgbClr val="0D9488"/>
            </a:solidFill>
            <a:prstDash val="solid"/>
          </a:ln>
        </p:spPr>
        <p:txBody>
          <a:bodyPr/>
          <a:lstStyle/>
          <a:p>
            <a:endParaRPr lang="en-US"/>
          </a:p>
        </p:txBody>
      </p:sp>
      <p:sp>
        <p:nvSpPr>
          <p:cNvPr id="21" name="Text 19"/>
          <p:cNvSpPr/>
          <p:nvPr/>
        </p:nvSpPr>
        <p:spPr>
          <a:xfrm>
            <a:off x="685800" y="4187952"/>
            <a:ext cx="3611880" cy="402336"/>
          </a:xfrm>
          <a:prstGeom prst="rect">
            <a:avLst/>
          </a:prstGeom>
          <a:noFill/>
          <a:ln/>
        </p:spPr>
        <p:txBody>
          <a:bodyPr wrap="square" lIns="0" tIns="0" rIns="0" bIns="0"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Deployment target &amp; approver sign-off</a:t>
            </a:r>
            <a:endParaRPr lang="en-US" sz="1150" dirty="0"/>
          </a:p>
        </p:txBody>
      </p:sp>
      <p:sp>
        <p:nvSpPr>
          <p:cNvPr id="22" name="Shape 20"/>
          <p:cNvSpPr/>
          <p:nvPr/>
        </p:nvSpPr>
        <p:spPr>
          <a:xfrm>
            <a:off x="4709160" y="1234440"/>
            <a:ext cx="411480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23" name="Shape 21"/>
          <p:cNvSpPr/>
          <p:nvPr/>
        </p:nvSpPr>
        <p:spPr>
          <a:xfrm>
            <a:off x="4709160" y="1234440"/>
            <a:ext cx="4114800" cy="73152"/>
          </a:xfrm>
          <a:prstGeom prst="rect">
            <a:avLst/>
          </a:prstGeom>
          <a:solidFill>
            <a:srgbClr val="0D9488"/>
          </a:solidFill>
          <a:ln w="12700">
            <a:solidFill>
              <a:srgbClr val="0D9488"/>
            </a:solidFill>
            <a:prstDash val="solid"/>
          </a:ln>
        </p:spPr>
        <p:txBody>
          <a:bodyPr/>
          <a:lstStyle/>
          <a:p>
            <a:endParaRPr lang="en-US"/>
          </a:p>
        </p:txBody>
      </p:sp>
      <p:sp>
        <p:nvSpPr>
          <p:cNvPr id="24" name="Text 22"/>
          <p:cNvSpPr/>
          <p:nvPr/>
        </p:nvSpPr>
        <p:spPr>
          <a:xfrm>
            <a:off x="4846320" y="1389888"/>
            <a:ext cx="3840480" cy="384048"/>
          </a:xfrm>
          <a:prstGeom prst="rect">
            <a:avLst/>
          </a:prstGeom>
          <a:noFill/>
          <a:ln/>
        </p:spPr>
        <p:txBody>
          <a:bodyPr wrap="square" lIns="0" tIns="0" rIns="0" bIns="0" rtlCol="0" anchor="ctr"/>
          <a:lstStyle/>
          <a:p>
            <a:pPr marL="0" indent="0">
              <a:buNone/>
            </a:pPr>
            <a:r>
              <a:rPr lang="en-US" sz="1600" b="1" dirty="0">
                <a:solidFill>
                  <a:srgbClr val="1B2A4A"/>
                </a:solidFill>
                <a:latin typeface="Georgia" pitchFamily="34" charset="0"/>
                <a:ea typeface="Georgia" pitchFamily="34" charset="-122"/>
                <a:cs typeface="Georgia" pitchFamily="34" charset="-120"/>
              </a:rPr>
              <a:t>Incident Playbook — 5 Runbooks</a:t>
            </a:r>
            <a:endParaRPr lang="en-US" sz="1600" dirty="0"/>
          </a:p>
        </p:txBody>
      </p:sp>
      <p:sp>
        <p:nvSpPr>
          <p:cNvPr id="25" name="Shape 23"/>
          <p:cNvSpPr/>
          <p:nvPr/>
        </p:nvSpPr>
        <p:spPr>
          <a:xfrm>
            <a:off x="4800600" y="1901952"/>
            <a:ext cx="3913632" cy="475488"/>
          </a:xfrm>
          <a:prstGeom prst="rect">
            <a:avLst/>
          </a:prstGeom>
          <a:solidFill>
            <a:srgbClr val="F8FAFC"/>
          </a:solidFill>
          <a:ln w="6350">
            <a:solidFill>
              <a:srgbClr val="E2E8F0"/>
            </a:solidFill>
            <a:prstDash val="solid"/>
          </a:ln>
        </p:spPr>
        <p:txBody>
          <a:bodyPr/>
          <a:lstStyle/>
          <a:p>
            <a:endParaRPr lang="en-US"/>
          </a:p>
        </p:txBody>
      </p:sp>
      <p:sp>
        <p:nvSpPr>
          <p:cNvPr id="26" name="Shape 24"/>
          <p:cNvSpPr/>
          <p:nvPr/>
        </p:nvSpPr>
        <p:spPr>
          <a:xfrm>
            <a:off x="4800600" y="1901952"/>
            <a:ext cx="73152" cy="475488"/>
          </a:xfrm>
          <a:prstGeom prst="rect">
            <a:avLst/>
          </a:prstGeom>
          <a:solidFill>
            <a:srgbClr val="DC2626"/>
          </a:solidFill>
          <a:ln w="12700">
            <a:solidFill>
              <a:srgbClr val="DC2626"/>
            </a:solidFill>
            <a:prstDash val="solid"/>
          </a:ln>
        </p:spPr>
        <p:txBody>
          <a:bodyPr/>
          <a:lstStyle/>
          <a:p>
            <a:endParaRPr lang="en-US"/>
          </a:p>
        </p:txBody>
      </p:sp>
      <p:sp>
        <p:nvSpPr>
          <p:cNvPr id="27" name="Text 25"/>
          <p:cNvSpPr/>
          <p:nvPr/>
        </p:nvSpPr>
        <p:spPr>
          <a:xfrm>
            <a:off x="4956048" y="1901952"/>
            <a:ext cx="777240" cy="475488"/>
          </a:xfrm>
          <a:prstGeom prst="rect">
            <a:avLst/>
          </a:prstGeom>
          <a:noFill/>
          <a:ln/>
        </p:spPr>
        <p:txBody>
          <a:bodyPr wrap="square" lIns="0" tIns="0" rIns="0" bIns="0" rtlCol="0" anchor="ctr"/>
          <a:lstStyle/>
          <a:p>
            <a:pPr marL="0" indent="0" algn="l">
              <a:buNone/>
            </a:pPr>
            <a:r>
              <a:rPr lang="en-US" sz="1000" b="1" dirty="0">
                <a:solidFill>
                  <a:srgbClr val="DC2626"/>
                </a:solidFill>
                <a:latin typeface="Calibri" pitchFamily="34" charset="0"/>
                <a:ea typeface="Calibri" pitchFamily="34" charset="-122"/>
                <a:cs typeface="Calibri" pitchFamily="34" charset="-120"/>
              </a:rPr>
              <a:t>INC-001</a:t>
            </a:r>
            <a:endParaRPr lang="en-US" sz="1000" dirty="0"/>
          </a:p>
        </p:txBody>
      </p:sp>
      <p:sp>
        <p:nvSpPr>
          <p:cNvPr id="28" name="Text 26"/>
          <p:cNvSpPr/>
          <p:nvPr/>
        </p:nvSpPr>
        <p:spPr>
          <a:xfrm>
            <a:off x="5760720" y="1901952"/>
            <a:ext cx="2834640" cy="475488"/>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Endpoint Down</a:t>
            </a:r>
            <a:endParaRPr lang="en-US" sz="1200" dirty="0"/>
          </a:p>
        </p:txBody>
      </p:sp>
      <p:sp>
        <p:nvSpPr>
          <p:cNvPr id="29" name="Shape 27"/>
          <p:cNvSpPr/>
          <p:nvPr/>
        </p:nvSpPr>
        <p:spPr>
          <a:xfrm>
            <a:off x="4800600" y="2450592"/>
            <a:ext cx="3913632" cy="475488"/>
          </a:xfrm>
          <a:prstGeom prst="rect">
            <a:avLst/>
          </a:prstGeom>
          <a:solidFill>
            <a:srgbClr val="F8FAFC"/>
          </a:solidFill>
          <a:ln w="6350">
            <a:solidFill>
              <a:srgbClr val="E2E8F0"/>
            </a:solidFill>
            <a:prstDash val="solid"/>
          </a:ln>
        </p:spPr>
        <p:txBody>
          <a:bodyPr/>
          <a:lstStyle/>
          <a:p>
            <a:endParaRPr lang="en-US"/>
          </a:p>
        </p:txBody>
      </p:sp>
      <p:sp>
        <p:nvSpPr>
          <p:cNvPr id="30" name="Shape 28"/>
          <p:cNvSpPr/>
          <p:nvPr/>
        </p:nvSpPr>
        <p:spPr>
          <a:xfrm>
            <a:off x="4800600" y="2450592"/>
            <a:ext cx="73152" cy="475488"/>
          </a:xfrm>
          <a:prstGeom prst="rect">
            <a:avLst/>
          </a:prstGeom>
          <a:solidFill>
            <a:srgbClr val="D97706"/>
          </a:solidFill>
          <a:ln w="12700">
            <a:solidFill>
              <a:srgbClr val="D97706"/>
            </a:solidFill>
            <a:prstDash val="solid"/>
          </a:ln>
        </p:spPr>
        <p:txBody>
          <a:bodyPr/>
          <a:lstStyle/>
          <a:p>
            <a:endParaRPr lang="en-US"/>
          </a:p>
        </p:txBody>
      </p:sp>
      <p:sp>
        <p:nvSpPr>
          <p:cNvPr id="31" name="Text 29"/>
          <p:cNvSpPr/>
          <p:nvPr/>
        </p:nvSpPr>
        <p:spPr>
          <a:xfrm>
            <a:off x="4956048" y="2450592"/>
            <a:ext cx="777240" cy="475488"/>
          </a:xfrm>
          <a:prstGeom prst="rect">
            <a:avLst/>
          </a:prstGeom>
          <a:noFill/>
          <a:ln/>
        </p:spPr>
        <p:txBody>
          <a:bodyPr wrap="square" lIns="0" tIns="0" rIns="0" bIns="0" rtlCol="0" anchor="ctr"/>
          <a:lstStyle/>
          <a:p>
            <a:pPr marL="0" indent="0" algn="l">
              <a:buNone/>
            </a:pPr>
            <a:r>
              <a:rPr lang="en-US" sz="1000" b="1" dirty="0">
                <a:solidFill>
                  <a:srgbClr val="D97706"/>
                </a:solidFill>
                <a:latin typeface="Calibri" pitchFamily="34" charset="0"/>
                <a:ea typeface="Calibri" pitchFamily="34" charset="-122"/>
                <a:cs typeface="Calibri" pitchFamily="34" charset="-120"/>
              </a:rPr>
              <a:t>INC-002</a:t>
            </a:r>
            <a:endParaRPr lang="en-US" sz="1000" dirty="0"/>
          </a:p>
        </p:txBody>
      </p:sp>
      <p:sp>
        <p:nvSpPr>
          <p:cNvPr id="32" name="Text 30"/>
          <p:cNvSpPr/>
          <p:nvPr/>
        </p:nvSpPr>
        <p:spPr>
          <a:xfrm>
            <a:off x="5760720" y="2450592"/>
            <a:ext cx="2834640" cy="475488"/>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Feature Drift Detected</a:t>
            </a:r>
            <a:endParaRPr lang="en-US" sz="1200" dirty="0"/>
          </a:p>
        </p:txBody>
      </p:sp>
      <p:sp>
        <p:nvSpPr>
          <p:cNvPr id="33" name="Shape 31"/>
          <p:cNvSpPr/>
          <p:nvPr/>
        </p:nvSpPr>
        <p:spPr>
          <a:xfrm>
            <a:off x="4800600" y="2999232"/>
            <a:ext cx="3913632" cy="475488"/>
          </a:xfrm>
          <a:prstGeom prst="rect">
            <a:avLst/>
          </a:prstGeom>
          <a:solidFill>
            <a:srgbClr val="F8FAFC"/>
          </a:solidFill>
          <a:ln w="6350">
            <a:solidFill>
              <a:srgbClr val="E2E8F0"/>
            </a:solidFill>
            <a:prstDash val="solid"/>
          </a:ln>
        </p:spPr>
        <p:txBody>
          <a:bodyPr/>
          <a:lstStyle/>
          <a:p>
            <a:endParaRPr lang="en-US"/>
          </a:p>
        </p:txBody>
      </p:sp>
      <p:sp>
        <p:nvSpPr>
          <p:cNvPr id="34" name="Shape 32"/>
          <p:cNvSpPr/>
          <p:nvPr/>
        </p:nvSpPr>
        <p:spPr>
          <a:xfrm>
            <a:off x="4800600" y="2999232"/>
            <a:ext cx="73152" cy="475488"/>
          </a:xfrm>
          <a:prstGeom prst="rect">
            <a:avLst/>
          </a:prstGeom>
          <a:solidFill>
            <a:srgbClr val="D97706"/>
          </a:solidFill>
          <a:ln w="12700">
            <a:solidFill>
              <a:srgbClr val="D97706"/>
            </a:solidFill>
            <a:prstDash val="solid"/>
          </a:ln>
        </p:spPr>
        <p:txBody>
          <a:bodyPr/>
          <a:lstStyle/>
          <a:p>
            <a:endParaRPr lang="en-US"/>
          </a:p>
        </p:txBody>
      </p:sp>
      <p:sp>
        <p:nvSpPr>
          <p:cNvPr id="35" name="Text 33"/>
          <p:cNvSpPr/>
          <p:nvPr/>
        </p:nvSpPr>
        <p:spPr>
          <a:xfrm>
            <a:off x="4956048" y="2999232"/>
            <a:ext cx="777240" cy="475488"/>
          </a:xfrm>
          <a:prstGeom prst="rect">
            <a:avLst/>
          </a:prstGeom>
          <a:noFill/>
          <a:ln/>
        </p:spPr>
        <p:txBody>
          <a:bodyPr wrap="square" lIns="0" tIns="0" rIns="0" bIns="0" rtlCol="0" anchor="ctr"/>
          <a:lstStyle/>
          <a:p>
            <a:pPr marL="0" indent="0" algn="l">
              <a:buNone/>
            </a:pPr>
            <a:r>
              <a:rPr lang="en-US" sz="1000" b="1" dirty="0">
                <a:solidFill>
                  <a:srgbClr val="D97706"/>
                </a:solidFill>
                <a:latin typeface="Calibri" pitchFamily="34" charset="0"/>
                <a:ea typeface="Calibri" pitchFamily="34" charset="-122"/>
                <a:cs typeface="Calibri" pitchFamily="34" charset="-120"/>
              </a:rPr>
              <a:t>INC-003</a:t>
            </a:r>
            <a:endParaRPr lang="en-US" sz="1000" dirty="0"/>
          </a:p>
        </p:txBody>
      </p:sp>
      <p:sp>
        <p:nvSpPr>
          <p:cNvPr id="36" name="Text 34"/>
          <p:cNvSpPr/>
          <p:nvPr/>
        </p:nvSpPr>
        <p:spPr>
          <a:xfrm>
            <a:off x="5760720" y="2999232"/>
            <a:ext cx="2834640" cy="475488"/>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Concept Drift / Decay</a:t>
            </a:r>
            <a:endParaRPr lang="en-US" sz="1200" dirty="0"/>
          </a:p>
        </p:txBody>
      </p:sp>
      <p:sp>
        <p:nvSpPr>
          <p:cNvPr id="37" name="Shape 35"/>
          <p:cNvSpPr/>
          <p:nvPr/>
        </p:nvSpPr>
        <p:spPr>
          <a:xfrm>
            <a:off x="4800600" y="3547872"/>
            <a:ext cx="3913632" cy="475488"/>
          </a:xfrm>
          <a:prstGeom prst="rect">
            <a:avLst/>
          </a:prstGeom>
          <a:solidFill>
            <a:srgbClr val="F8FAFC"/>
          </a:solidFill>
          <a:ln w="6350">
            <a:solidFill>
              <a:srgbClr val="E2E8F0"/>
            </a:solidFill>
            <a:prstDash val="solid"/>
          </a:ln>
        </p:spPr>
        <p:txBody>
          <a:bodyPr/>
          <a:lstStyle/>
          <a:p>
            <a:endParaRPr lang="en-US"/>
          </a:p>
        </p:txBody>
      </p:sp>
      <p:sp>
        <p:nvSpPr>
          <p:cNvPr id="38" name="Shape 36"/>
          <p:cNvSpPr/>
          <p:nvPr/>
        </p:nvSpPr>
        <p:spPr>
          <a:xfrm>
            <a:off x="4800600" y="3547872"/>
            <a:ext cx="73152" cy="475488"/>
          </a:xfrm>
          <a:prstGeom prst="rect">
            <a:avLst/>
          </a:prstGeom>
          <a:solidFill>
            <a:srgbClr val="7C3AED"/>
          </a:solidFill>
          <a:ln w="12700">
            <a:solidFill>
              <a:srgbClr val="7C3AED"/>
            </a:solidFill>
            <a:prstDash val="solid"/>
          </a:ln>
        </p:spPr>
        <p:txBody>
          <a:bodyPr/>
          <a:lstStyle/>
          <a:p>
            <a:endParaRPr lang="en-US"/>
          </a:p>
        </p:txBody>
      </p:sp>
      <p:sp>
        <p:nvSpPr>
          <p:cNvPr id="39" name="Text 37"/>
          <p:cNvSpPr/>
          <p:nvPr/>
        </p:nvSpPr>
        <p:spPr>
          <a:xfrm>
            <a:off x="4956048" y="3547872"/>
            <a:ext cx="777240" cy="475488"/>
          </a:xfrm>
          <a:prstGeom prst="rect">
            <a:avLst/>
          </a:prstGeom>
          <a:noFill/>
          <a:ln/>
        </p:spPr>
        <p:txBody>
          <a:bodyPr wrap="square" lIns="0" tIns="0" rIns="0" bIns="0" rtlCol="0" anchor="ctr"/>
          <a:lstStyle/>
          <a:p>
            <a:pPr marL="0" indent="0" algn="l">
              <a:buNone/>
            </a:pPr>
            <a:r>
              <a:rPr lang="en-US" sz="1000" b="1" dirty="0">
                <a:solidFill>
                  <a:srgbClr val="7C3AED"/>
                </a:solidFill>
                <a:latin typeface="Calibri" pitchFamily="34" charset="0"/>
                <a:ea typeface="Calibri" pitchFamily="34" charset="-122"/>
                <a:cs typeface="Calibri" pitchFamily="34" charset="-120"/>
              </a:rPr>
              <a:t>INC-004</a:t>
            </a:r>
            <a:endParaRPr lang="en-US" sz="1000" dirty="0"/>
          </a:p>
        </p:txBody>
      </p:sp>
      <p:sp>
        <p:nvSpPr>
          <p:cNvPr id="40" name="Text 38"/>
          <p:cNvSpPr/>
          <p:nvPr/>
        </p:nvSpPr>
        <p:spPr>
          <a:xfrm>
            <a:off x="5760720" y="3547872"/>
            <a:ext cx="2834640" cy="475488"/>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Fairness Violation</a:t>
            </a:r>
            <a:endParaRPr lang="en-US" sz="1200" dirty="0"/>
          </a:p>
        </p:txBody>
      </p:sp>
      <p:sp>
        <p:nvSpPr>
          <p:cNvPr id="41" name="Shape 39"/>
          <p:cNvSpPr/>
          <p:nvPr/>
        </p:nvSpPr>
        <p:spPr>
          <a:xfrm>
            <a:off x="4800600" y="4096512"/>
            <a:ext cx="3913632" cy="475488"/>
          </a:xfrm>
          <a:prstGeom prst="rect">
            <a:avLst/>
          </a:prstGeom>
          <a:solidFill>
            <a:srgbClr val="F8FAFC"/>
          </a:solidFill>
          <a:ln w="6350">
            <a:solidFill>
              <a:srgbClr val="E2E8F0"/>
            </a:solidFill>
            <a:prstDash val="solid"/>
          </a:ln>
        </p:spPr>
        <p:txBody>
          <a:bodyPr/>
          <a:lstStyle/>
          <a:p>
            <a:endParaRPr lang="en-US"/>
          </a:p>
        </p:txBody>
      </p:sp>
      <p:sp>
        <p:nvSpPr>
          <p:cNvPr id="42" name="Shape 40"/>
          <p:cNvSpPr/>
          <p:nvPr/>
        </p:nvSpPr>
        <p:spPr>
          <a:xfrm>
            <a:off x="4800600" y="4096512"/>
            <a:ext cx="73152" cy="475488"/>
          </a:xfrm>
          <a:prstGeom prst="rect">
            <a:avLst/>
          </a:prstGeom>
          <a:solidFill>
            <a:srgbClr val="0891B2"/>
          </a:solidFill>
          <a:ln w="12700">
            <a:solidFill>
              <a:srgbClr val="0891B2"/>
            </a:solidFill>
            <a:prstDash val="solid"/>
          </a:ln>
        </p:spPr>
        <p:txBody>
          <a:bodyPr/>
          <a:lstStyle/>
          <a:p>
            <a:endParaRPr lang="en-US"/>
          </a:p>
        </p:txBody>
      </p:sp>
      <p:sp>
        <p:nvSpPr>
          <p:cNvPr id="43" name="Text 41"/>
          <p:cNvSpPr/>
          <p:nvPr/>
        </p:nvSpPr>
        <p:spPr>
          <a:xfrm>
            <a:off x="4956048" y="4096512"/>
            <a:ext cx="777240" cy="475488"/>
          </a:xfrm>
          <a:prstGeom prst="rect">
            <a:avLst/>
          </a:prstGeom>
          <a:noFill/>
          <a:ln/>
        </p:spPr>
        <p:txBody>
          <a:bodyPr wrap="square" lIns="0" tIns="0" rIns="0" bIns="0" rtlCol="0" anchor="ctr"/>
          <a:lstStyle/>
          <a:p>
            <a:pPr marL="0" indent="0" algn="l">
              <a:buNone/>
            </a:pPr>
            <a:r>
              <a:rPr lang="en-US" sz="1000" b="1" dirty="0">
                <a:solidFill>
                  <a:srgbClr val="0891B2"/>
                </a:solidFill>
                <a:latin typeface="Calibri" pitchFamily="34" charset="0"/>
                <a:ea typeface="Calibri" pitchFamily="34" charset="-122"/>
                <a:cs typeface="Calibri" pitchFamily="34" charset="-120"/>
              </a:rPr>
              <a:t>INC-005</a:t>
            </a:r>
            <a:endParaRPr lang="en-US" sz="1000" dirty="0"/>
          </a:p>
        </p:txBody>
      </p:sp>
      <p:sp>
        <p:nvSpPr>
          <p:cNvPr id="44" name="Text 42"/>
          <p:cNvSpPr/>
          <p:nvPr/>
        </p:nvSpPr>
        <p:spPr>
          <a:xfrm>
            <a:off x="5760720" y="4096512"/>
            <a:ext cx="2834640" cy="475488"/>
          </a:xfrm>
          <a:prstGeom prst="rect">
            <a:avLst/>
          </a:prstGeom>
          <a:noFill/>
          <a:ln/>
        </p:spPr>
        <p:txBody>
          <a:bodyPr wrap="square" lIns="0" tIns="0" rIns="0" bIns="0" rtlCol="0" anchor="ctr"/>
          <a:lstStyle/>
          <a:p>
            <a:pPr marL="0" indent="0" algn="l">
              <a:buNone/>
            </a:pPr>
            <a:r>
              <a:rPr lang="en-US" sz="1200" dirty="0">
                <a:solidFill>
                  <a:srgbClr val="1E293B"/>
                </a:solidFill>
                <a:latin typeface="Calibri" pitchFamily="34" charset="0"/>
                <a:ea typeface="Calibri" pitchFamily="34" charset="-122"/>
                <a:cs typeface="Calibri" pitchFamily="34" charset="-120"/>
              </a:rPr>
              <a:t>CI/CD Pipeline Failure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10058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Shape 2"/>
          <p:cNvSpPr/>
          <p:nvPr/>
        </p:nvSpPr>
        <p:spPr>
          <a:xfrm>
            <a:off x="7223760" y="301752"/>
            <a:ext cx="1600200" cy="402336"/>
          </a:xfrm>
          <a:prstGeom prst="rect">
            <a:avLst/>
          </a:prstGeom>
          <a:solidFill>
            <a:srgbClr val="F59E0B"/>
          </a:solidFill>
          <a:ln w="12700">
            <a:solidFill>
              <a:srgbClr val="F59E0B"/>
            </a:solidFill>
            <a:prstDash val="solid"/>
          </a:ln>
        </p:spPr>
        <p:txBody>
          <a:bodyPr/>
          <a:lstStyle/>
          <a:p>
            <a:endParaRPr lang="en-US"/>
          </a:p>
        </p:txBody>
      </p:sp>
      <p:sp>
        <p:nvSpPr>
          <p:cNvPr id="5" name="Text 3"/>
          <p:cNvSpPr/>
          <p:nvPr/>
        </p:nvSpPr>
        <p:spPr>
          <a:xfrm>
            <a:off x="7223760" y="301752"/>
            <a:ext cx="16002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BONUS</a:t>
            </a:r>
            <a:endParaRPr lang="en-US" sz="1100" dirty="0"/>
          </a:p>
        </p:txBody>
      </p:sp>
      <p:sp>
        <p:nvSpPr>
          <p:cNvPr id="6" name="Text 4"/>
          <p:cNvSpPr/>
          <p:nvPr/>
        </p:nvSpPr>
        <p:spPr>
          <a:xfrm>
            <a:off x="365760" y="0"/>
            <a:ext cx="6766560" cy="100584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10  Optional Enhancements Showcase</a:t>
            </a:r>
            <a:endParaRPr lang="en-US" sz="2600" dirty="0"/>
          </a:p>
        </p:txBody>
      </p:sp>
      <p:sp>
        <p:nvSpPr>
          <p:cNvPr id="7" name="Shape 5"/>
          <p:cNvSpPr/>
          <p:nvPr/>
        </p:nvSpPr>
        <p:spPr>
          <a:xfrm>
            <a:off x="320040" y="1234440"/>
            <a:ext cx="411480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8" name="Shape 6"/>
          <p:cNvSpPr/>
          <p:nvPr/>
        </p:nvSpPr>
        <p:spPr>
          <a:xfrm>
            <a:off x="320040" y="1234440"/>
            <a:ext cx="4114800" cy="73152"/>
          </a:xfrm>
          <a:prstGeom prst="rect">
            <a:avLst/>
          </a:prstGeom>
          <a:solidFill>
            <a:srgbClr val="0D9488"/>
          </a:solidFill>
          <a:ln w="12700">
            <a:solidFill>
              <a:srgbClr val="0D9488"/>
            </a:solidFill>
            <a:prstDash val="solid"/>
          </a:ln>
        </p:spPr>
        <p:txBody>
          <a:bodyPr/>
          <a:lstStyle/>
          <a:p>
            <a:endParaRPr lang="en-US"/>
          </a:p>
        </p:txBody>
      </p:sp>
      <p:sp>
        <p:nvSpPr>
          <p:cNvPr id="9" name="Text 7"/>
          <p:cNvSpPr/>
          <p:nvPr/>
        </p:nvSpPr>
        <p:spPr>
          <a:xfrm>
            <a:off x="457200" y="1389888"/>
            <a:ext cx="3840480" cy="384048"/>
          </a:xfrm>
          <a:prstGeom prst="rect">
            <a:avLst/>
          </a:prstGeom>
          <a:noFill/>
          <a:ln/>
        </p:spPr>
        <p:txBody>
          <a:bodyPr wrap="square" lIns="0" tIns="0" rIns="0" bIns="0" rtlCol="0" anchor="ctr"/>
          <a:lstStyle/>
          <a:p>
            <a:pPr marL="0" indent="0">
              <a:buNone/>
            </a:pPr>
            <a:r>
              <a:rPr lang="en-US" sz="1600" b="1" dirty="0">
                <a:solidFill>
                  <a:srgbClr val="1B2A4A"/>
                </a:solidFill>
                <a:latin typeface="Georgia" pitchFamily="34" charset="0"/>
                <a:ea typeface="Georgia" pitchFamily="34" charset="-122"/>
                <a:cs typeface="Georgia" pitchFamily="34" charset="-120"/>
              </a:rPr>
              <a:t>MLflow Experiment Tracking</a:t>
            </a:r>
            <a:endParaRPr lang="en-US" sz="1600" dirty="0"/>
          </a:p>
        </p:txBody>
      </p:sp>
      <p:sp>
        <p:nvSpPr>
          <p:cNvPr id="10" name="Text 8"/>
          <p:cNvSpPr/>
          <p:nvPr/>
        </p:nvSpPr>
        <p:spPr>
          <a:xfrm>
            <a:off x="457200" y="1901952"/>
            <a:ext cx="3840480" cy="237744"/>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Experiment Runs</a:t>
            </a:r>
            <a:endParaRPr lang="en-US" sz="1150" dirty="0"/>
          </a:p>
        </p:txBody>
      </p:sp>
      <p:sp>
        <p:nvSpPr>
          <p:cNvPr id="11" name="Text 9"/>
          <p:cNvSpPr/>
          <p:nvPr/>
        </p:nvSpPr>
        <p:spPr>
          <a:xfrm>
            <a:off x="457200" y="2139696"/>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Every Optuna trial logged: params, CV score, duration</a:t>
            </a:r>
            <a:endParaRPr lang="en-US" sz="1050" dirty="0"/>
          </a:p>
        </p:txBody>
      </p:sp>
      <p:sp>
        <p:nvSpPr>
          <p:cNvPr id="12" name="Text 10"/>
          <p:cNvSpPr/>
          <p:nvPr/>
        </p:nvSpPr>
        <p:spPr>
          <a:xfrm>
            <a:off x="457200" y="2432304"/>
            <a:ext cx="3840480" cy="237744"/>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Best Run Promotion</a:t>
            </a:r>
            <a:endParaRPr lang="en-US" sz="1150" dirty="0"/>
          </a:p>
        </p:txBody>
      </p:sp>
      <p:sp>
        <p:nvSpPr>
          <p:cNvPr id="13" name="Text 11"/>
          <p:cNvSpPr/>
          <p:nvPr/>
        </p:nvSpPr>
        <p:spPr>
          <a:xfrm>
            <a:off x="457200" y="2670048"/>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Top trial's artifacts logged to parent MLflow run</a:t>
            </a:r>
            <a:endParaRPr lang="en-US" sz="1050" dirty="0"/>
          </a:p>
        </p:txBody>
      </p:sp>
      <p:sp>
        <p:nvSpPr>
          <p:cNvPr id="14" name="Text 12"/>
          <p:cNvSpPr/>
          <p:nvPr/>
        </p:nvSpPr>
        <p:spPr>
          <a:xfrm>
            <a:off x="457200" y="2962656"/>
            <a:ext cx="3840480" cy="237744"/>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Model Registry</a:t>
            </a:r>
            <a:endParaRPr lang="en-US" sz="1150" dirty="0"/>
          </a:p>
        </p:txBody>
      </p:sp>
      <p:sp>
        <p:nvSpPr>
          <p:cNvPr id="15" name="Text 13"/>
          <p:cNvSpPr/>
          <p:nvPr/>
        </p:nvSpPr>
        <p:spPr>
          <a:xfrm>
            <a:off x="457200" y="3200400"/>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Registered as 'credit-scoring-xgb' with version tracking</a:t>
            </a:r>
            <a:endParaRPr lang="en-US" sz="1050" dirty="0"/>
          </a:p>
        </p:txBody>
      </p:sp>
      <p:sp>
        <p:nvSpPr>
          <p:cNvPr id="16" name="Text 14"/>
          <p:cNvSpPr/>
          <p:nvPr/>
        </p:nvSpPr>
        <p:spPr>
          <a:xfrm>
            <a:off x="457200" y="3493008"/>
            <a:ext cx="3840480" cy="237744"/>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Auto-logging</a:t>
            </a:r>
            <a:endParaRPr lang="en-US" sz="1150" dirty="0"/>
          </a:p>
        </p:txBody>
      </p:sp>
      <p:sp>
        <p:nvSpPr>
          <p:cNvPr id="17" name="Text 15"/>
          <p:cNvSpPr/>
          <p:nvPr/>
        </p:nvSpPr>
        <p:spPr>
          <a:xfrm>
            <a:off x="457200" y="3730752"/>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mlflow.sklearn autolog captures feature importances &amp; signature</a:t>
            </a:r>
            <a:endParaRPr lang="en-US" sz="1050" dirty="0"/>
          </a:p>
        </p:txBody>
      </p:sp>
      <p:sp>
        <p:nvSpPr>
          <p:cNvPr id="18" name="Text 16"/>
          <p:cNvSpPr/>
          <p:nvPr/>
        </p:nvSpPr>
        <p:spPr>
          <a:xfrm>
            <a:off x="457200" y="4023360"/>
            <a:ext cx="3840480" cy="237744"/>
          </a:xfrm>
          <a:prstGeom prst="rect">
            <a:avLst/>
          </a:prstGeom>
          <a:noFill/>
          <a:ln/>
        </p:spPr>
        <p:txBody>
          <a:bodyPr wrap="square" lIns="0" tIns="0" rIns="0" bIns="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Metrics Dashboard</a:t>
            </a:r>
            <a:endParaRPr lang="en-US" sz="1150" dirty="0"/>
          </a:p>
        </p:txBody>
      </p:sp>
      <p:sp>
        <p:nvSpPr>
          <p:cNvPr id="19" name="Text 17"/>
          <p:cNvSpPr/>
          <p:nvPr/>
        </p:nvSpPr>
        <p:spPr>
          <a:xfrm>
            <a:off x="457200" y="4261104"/>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Compare AUC-ROC across runs; filter by hyperparameter range</a:t>
            </a:r>
            <a:endParaRPr lang="en-US" sz="1050" dirty="0"/>
          </a:p>
        </p:txBody>
      </p:sp>
      <p:sp>
        <p:nvSpPr>
          <p:cNvPr id="20" name="Shape 18"/>
          <p:cNvSpPr/>
          <p:nvPr/>
        </p:nvSpPr>
        <p:spPr>
          <a:xfrm>
            <a:off x="4709160" y="1234440"/>
            <a:ext cx="4114800" cy="3566160"/>
          </a:xfrm>
          <a:prstGeom prst="rect">
            <a:avLst/>
          </a:prstGeom>
          <a:solidFill>
            <a:srgbClr val="FFFFFF"/>
          </a:solidFill>
          <a:ln w="12700">
            <a:solidFill>
              <a:srgbClr val="E2E8F0"/>
            </a:solidFill>
            <a:prstDash val="solid"/>
          </a:ln>
          <a:effectLst>
            <a:outerShdw blurRad="101600" dist="38100" dir="8100000" algn="bl" rotWithShape="0">
              <a:srgbClr val="1B2A4A">
                <a:alpha val="10000"/>
              </a:srgbClr>
            </a:outerShdw>
          </a:effectLst>
        </p:spPr>
        <p:txBody>
          <a:bodyPr/>
          <a:lstStyle/>
          <a:p>
            <a:endParaRPr lang="en-US"/>
          </a:p>
        </p:txBody>
      </p:sp>
      <p:sp>
        <p:nvSpPr>
          <p:cNvPr id="21" name="Shape 19"/>
          <p:cNvSpPr/>
          <p:nvPr/>
        </p:nvSpPr>
        <p:spPr>
          <a:xfrm>
            <a:off x="4709160" y="1234440"/>
            <a:ext cx="4114800" cy="73152"/>
          </a:xfrm>
          <a:prstGeom prst="rect">
            <a:avLst/>
          </a:prstGeom>
          <a:solidFill>
            <a:srgbClr val="0891B2"/>
          </a:solidFill>
          <a:ln w="12700">
            <a:solidFill>
              <a:srgbClr val="0891B2"/>
            </a:solidFill>
            <a:prstDash val="solid"/>
          </a:ln>
        </p:spPr>
        <p:txBody>
          <a:bodyPr/>
          <a:lstStyle/>
          <a:p>
            <a:endParaRPr lang="en-US"/>
          </a:p>
        </p:txBody>
      </p:sp>
      <p:sp>
        <p:nvSpPr>
          <p:cNvPr id="22" name="Text 20"/>
          <p:cNvSpPr/>
          <p:nvPr/>
        </p:nvSpPr>
        <p:spPr>
          <a:xfrm>
            <a:off x="4846320" y="1389888"/>
            <a:ext cx="3840480" cy="384048"/>
          </a:xfrm>
          <a:prstGeom prst="rect">
            <a:avLst/>
          </a:prstGeom>
          <a:noFill/>
          <a:ln/>
        </p:spPr>
        <p:txBody>
          <a:bodyPr wrap="square" lIns="0" tIns="0" rIns="0" bIns="0" rtlCol="0" anchor="ctr"/>
          <a:lstStyle/>
          <a:p>
            <a:pPr marL="0" indent="0">
              <a:buNone/>
            </a:pPr>
            <a:r>
              <a:rPr lang="en-US" sz="1600" b="1" dirty="0">
                <a:solidFill>
                  <a:srgbClr val="1B2A4A"/>
                </a:solidFill>
                <a:latin typeface="Georgia" pitchFamily="34" charset="0"/>
                <a:ea typeface="Georgia" pitchFamily="34" charset="-122"/>
                <a:cs typeface="Georgia" pitchFamily="34" charset="-120"/>
              </a:rPr>
              <a:t>Prometheus + Grafana Monitoring</a:t>
            </a:r>
            <a:endParaRPr lang="en-US" sz="1600" dirty="0"/>
          </a:p>
        </p:txBody>
      </p:sp>
      <p:sp>
        <p:nvSpPr>
          <p:cNvPr id="23" name="Text 21"/>
          <p:cNvSpPr/>
          <p:nvPr/>
        </p:nvSpPr>
        <p:spPr>
          <a:xfrm>
            <a:off x="4846320" y="1901952"/>
            <a:ext cx="3840480" cy="237744"/>
          </a:xfrm>
          <a:prstGeom prst="rect">
            <a:avLst/>
          </a:prstGeom>
          <a:noFill/>
          <a:ln/>
        </p:spPr>
        <p:txBody>
          <a:bodyPr wrap="square" lIns="0" tIns="0" rIns="0" bIns="0" rtlCol="0" anchor="ctr"/>
          <a:lstStyle/>
          <a:p>
            <a:pPr marL="0" indent="0">
              <a:buNone/>
            </a:pPr>
            <a:r>
              <a:rPr lang="en-US" sz="1150" b="1" dirty="0">
                <a:solidFill>
                  <a:srgbClr val="0891B2"/>
                </a:solidFill>
                <a:latin typeface="Calibri" pitchFamily="34" charset="0"/>
                <a:ea typeface="Calibri" pitchFamily="34" charset="-122"/>
                <a:cs typeface="Calibri" pitchFamily="34" charset="-120"/>
              </a:rPr>
              <a:t>Prometheus Metrics</a:t>
            </a:r>
            <a:endParaRPr lang="en-US" sz="1150" dirty="0"/>
          </a:p>
        </p:txBody>
      </p:sp>
      <p:sp>
        <p:nvSpPr>
          <p:cNvPr id="24" name="Text 22"/>
          <p:cNvSpPr/>
          <p:nvPr/>
        </p:nvSpPr>
        <p:spPr>
          <a:xfrm>
            <a:off x="4846320" y="2139696"/>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Request count, latency (p50/p95), error rate — scraped every 15s</a:t>
            </a:r>
            <a:endParaRPr lang="en-US" sz="1050" dirty="0"/>
          </a:p>
        </p:txBody>
      </p:sp>
      <p:sp>
        <p:nvSpPr>
          <p:cNvPr id="25" name="Text 23"/>
          <p:cNvSpPr/>
          <p:nvPr/>
        </p:nvSpPr>
        <p:spPr>
          <a:xfrm>
            <a:off x="4846320" y="2432304"/>
            <a:ext cx="3840480" cy="237744"/>
          </a:xfrm>
          <a:prstGeom prst="rect">
            <a:avLst/>
          </a:prstGeom>
          <a:noFill/>
          <a:ln/>
        </p:spPr>
        <p:txBody>
          <a:bodyPr wrap="square" lIns="0" tIns="0" rIns="0" bIns="0" rtlCol="0" anchor="ctr"/>
          <a:lstStyle/>
          <a:p>
            <a:pPr marL="0" indent="0">
              <a:buNone/>
            </a:pPr>
            <a:r>
              <a:rPr lang="en-US" sz="1150" b="1" dirty="0">
                <a:solidFill>
                  <a:srgbClr val="0891B2"/>
                </a:solidFill>
                <a:latin typeface="Calibri" pitchFamily="34" charset="0"/>
                <a:ea typeface="Calibri" pitchFamily="34" charset="-122"/>
                <a:cs typeface="Calibri" pitchFamily="34" charset="-120"/>
              </a:rPr>
              <a:t>Grafana Dashboard</a:t>
            </a:r>
            <a:endParaRPr lang="en-US" sz="1150" dirty="0"/>
          </a:p>
        </p:txBody>
      </p:sp>
      <p:sp>
        <p:nvSpPr>
          <p:cNvPr id="26" name="Text 24"/>
          <p:cNvSpPr/>
          <p:nvPr/>
        </p:nvSpPr>
        <p:spPr>
          <a:xfrm>
            <a:off x="4846320" y="2670048"/>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4 panels: throughput, latency, errors, drift score</a:t>
            </a:r>
            <a:endParaRPr lang="en-US" sz="1050" dirty="0"/>
          </a:p>
        </p:txBody>
      </p:sp>
      <p:sp>
        <p:nvSpPr>
          <p:cNvPr id="27" name="Text 25"/>
          <p:cNvSpPr/>
          <p:nvPr/>
        </p:nvSpPr>
        <p:spPr>
          <a:xfrm>
            <a:off x="4846320" y="2962656"/>
            <a:ext cx="3840480" cy="237744"/>
          </a:xfrm>
          <a:prstGeom prst="rect">
            <a:avLst/>
          </a:prstGeom>
          <a:noFill/>
          <a:ln/>
        </p:spPr>
        <p:txBody>
          <a:bodyPr wrap="square" lIns="0" tIns="0" rIns="0" bIns="0" rtlCol="0" anchor="ctr"/>
          <a:lstStyle/>
          <a:p>
            <a:pPr marL="0" indent="0">
              <a:buNone/>
            </a:pPr>
            <a:r>
              <a:rPr lang="en-US" sz="1150" b="1" dirty="0">
                <a:solidFill>
                  <a:srgbClr val="0891B2"/>
                </a:solidFill>
                <a:latin typeface="Calibri" pitchFamily="34" charset="0"/>
                <a:ea typeface="Calibri" pitchFamily="34" charset="-122"/>
                <a:cs typeface="Calibri" pitchFamily="34" charset="-120"/>
              </a:rPr>
              <a:t>PSI Drift Detector</a:t>
            </a:r>
            <a:endParaRPr lang="en-US" sz="1150" dirty="0"/>
          </a:p>
        </p:txBody>
      </p:sp>
      <p:sp>
        <p:nvSpPr>
          <p:cNvPr id="28" name="Text 26"/>
          <p:cNvSpPr/>
          <p:nvPr/>
        </p:nvSpPr>
        <p:spPr>
          <a:xfrm>
            <a:off x="4846320" y="3200400"/>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Rolling 1,000-sample buffer · alerts when PSI &gt; 0.2</a:t>
            </a:r>
            <a:endParaRPr lang="en-US" sz="1050" dirty="0"/>
          </a:p>
        </p:txBody>
      </p:sp>
      <p:sp>
        <p:nvSpPr>
          <p:cNvPr id="29" name="Text 27"/>
          <p:cNvSpPr/>
          <p:nvPr/>
        </p:nvSpPr>
        <p:spPr>
          <a:xfrm>
            <a:off x="4846320" y="3493008"/>
            <a:ext cx="3840480" cy="237744"/>
          </a:xfrm>
          <a:prstGeom prst="rect">
            <a:avLst/>
          </a:prstGeom>
          <a:noFill/>
          <a:ln/>
        </p:spPr>
        <p:txBody>
          <a:bodyPr wrap="square" lIns="0" tIns="0" rIns="0" bIns="0" rtlCol="0" anchor="ctr"/>
          <a:lstStyle/>
          <a:p>
            <a:pPr marL="0" indent="0">
              <a:buNone/>
            </a:pPr>
            <a:r>
              <a:rPr lang="en-US" sz="1150" b="1" dirty="0">
                <a:solidFill>
                  <a:srgbClr val="0891B2"/>
                </a:solidFill>
                <a:latin typeface="Calibri" pitchFamily="34" charset="0"/>
                <a:ea typeface="Calibri" pitchFamily="34" charset="-122"/>
                <a:cs typeface="Calibri" pitchFamily="34" charset="-120"/>
              </a:rPr>
              <a:t>Alert Rules</a:t>
            </a:r>
            <a:endParaRPr lang="en-US" sz="1150" dirty="0"/>
          </a:p>
        </p:txBody>
      </p:sp>
      <p:sp>
        <p:nvSpPr>
          <p:cNvPr id="30" name="Text 28"/>
          <p:cNvSpPr/>
          <p:nvPr/>
        </p:nvSpPr>
        <p:spPr>
          <a:xfrm>
            <a:off x="4846320" y="3730752"/>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High error rate, latency spikes, drift threshold breaches</a:t>
            </a:r>
            <a:endParaRPr lang="en-US" sz="1050" dirty="0"/>
          </a:p>
        </p:txBody>
      </p:sp>
      <p:sp>
        <p:nvSpPr>
          <p:cNvPr id="31" name="Text 29"/>
          <p:cNvSpPr/>
          <p:nvPr/>
        </p:nvSpPr>
        <p:spPr>
          <a:xfrm>
            <a:off x="4846320" y="4023360"/>
            <a:ext cx="3840480" cy="237744"/>
          </a:xfrm>
          <a:prstGeom prst="rect">
            <a:avLst/>
          </a:prstGeom>
          <a:noFill/>
          <a:ln/>
        </p:spPr>
        <p:txBody>
          <a:bodyPr wrap="square" lIns="0" tIns="0" rIns="0" bIns="0" rtlCol="0" anchor="ctr"/>
          <a:lstStyle/>
          <a:p>
            <a:pPr marL="0" indent="0">
              <a:buNone/>
            </a:pPr>
            <a:r>
              <a:rPr lang="en-US" sz="1150" b="1" dirty="0">
                <a:solidFill>
                  <a:srgbClr val="0891B2"/>
                </a:solidFill>
                <a:latin typeface="Calibri" pitchFamily="34" charset="0"/>
                <a:ea typeface="Calibri" pitchFamily="34" charset="-122"/>
                <a:cs typeface="Calibri" pitchFamily="34" charset="-120"/>
              </a:rPr>
              <a:t>Sidecar Pattern</a:t>
            </a:r>
            <a:endParaRPr lang="en-US" sz="1150" dirty="0"/>
          </a:p>
        </p:txBody>
      </p:sp>
      <p:sp>
        <p:nvSpPr>
          <p:cNvPr id="32" name="Text 30"/>
          <p:cNvSpPr/>
          <p:nvPr/>
        </p:nvSpPr>
        <p:spPr>
          <a:xfrm>
            <a:off x="4846320" y="4261104"/>
            <a:ext cx="3840480" cy="23774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drift_detector.py runs alongside inference on port 8081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4400"/>
            <a:ext cx="9144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475488"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201168"/>
            <a:ext cx="475488" cy="475488"/>
          </a:xfrm>
          <a:prstGeom prst="rect">
            <a:avLst/>
          </a:prstGeom>
          <a:noFill/>
        </p:spPr>
        <p:txBody>
          <a:bodyPr wrap="square" anchor="ctr">
            <a:spAutoFit/>
          </a:bodyPr>
          <a:lstStyle/>
          <a:p>
            <a:pPr algn="ctr"/>
            <a:r>
              <a:rPr sz="1300" b="1" i="0">
                <a:solidFill>
                  <a:srgbClr val="FFFFFF"/>
                </a:solidFill>
                <a:latin typeface="Calibri"/>
              </a:rPr>
              <a:t>10b</a:t>
            </a:r>
          </a:p>
        </p:txBody>
      </p:sp>
      <p:sp>
        <p:nvSpPr>
          <p:cNvPr id="6" name="TextBox 5"/>
          <p:cNvSpPr txBox="1"/>
          <p:nvPr/>
        </p:nvSpPr>
        <p:spPr>
          <a:xfrm>
            <a:off x="914400" y="109728"/>
            <a:ext cx="7863840" cy="658368"/>
          </a:xfrm>
          <a:prstGeom prst="rect">
            <a:avLst/>
          </a:prstGeom>
          <a:noFill/>
        </p:spPr>
        <p:txBody>
          <a:bodyPr wrap="square" anchor="ctr">
            <a:spAutoFit/>
          </a:bodyPr>
          <a:lstStyle/>
          <a:p>
            <a:pPr algn="l"/>
            <a:r>
              <a:rPr sz="2200" b="1" i="0">
                <a:solidFill>
                  <a:srgbClr val="FFFFFF"/>
                </a:solidFill>
                <a:latin typeface="Georgia"/>
              </a:rPr>
              <a:t>Grafana Dashboard — Live Monitoring Metrics</a:t>
            </a:r>
          </a:p>
        </p:txBody>
      </p:sp>
      <p:sp>
        <p:nvSpPr>
          <p:cNvPr id="7" name="TextBox 6"/>
          <p:cNvSpPr txBox="1"/>
          <p:nvPr/>
        </p:nvSpPr>
        <p:spPr>
          <a:xfrm>
            <a:off x="320040" y="1051560"/>
            <a:ext cx="8503920" cy="365760"/>
          </a:xfrm>
          <a:prstGeom prst="rect">
            <a:avLst/>
          </a:prstGeom>
          <a:noFill/>
        </p:spPr>
        <p:txBody>
          <a:bodyPr wrap="square" anchor="t">
            <a:spAutoFit/>
          </a:bodyPr>
          <a:lstStyle/>
          <a:p>
            <a:pPr algn="l"/>
            <a:r>
              <a:rPr sz="1100" b="0" i="1">
                <a:solidFill>
                  <a:srgbClr val="64748B"/>
                </a:solidFill>
                <a:latin typeface="Calibri"/>
              </a:rPr>
              <a:t>Evidence: Prometheus + Grafana monitoring stack running via docker compose</a:t>
            </a:r>
          </a:p>
        </p:txBody>
      </p:sp>
      <p:sp>
        <p:nvSpPr>
          <p:cNvPr id="8" name="Rectangle 7"/>
          <p:cNvSpPr/>
          <p:nvPr/>
        </p:nvSpPr>
        <p:spPr>
          <a:xfrm>
            <a:off x="457200" y="1508760"/>
            <a:ext cx="8229600" cy="3200400"/>
          </a:xfrm>
          <a:prstGeom prst="rect">
            <a:avLst/>
          </a:prstGeom>
          <a:solidFill>
            <a:srgbClr val="F0F9F8"/>
          </a:solidFill>
          <a:ln w="25400">
            <a:solidFill>
              <a:srgbClr val="0D9488"/>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331720"/>
            <a:ext cx="8229600" cy="457200"/>
          </a:xfrm>
          <a:prstGeom prst="rect">
            <a:avLst/>
          </a:prstGeom>
          <a:noFill/>
        </p:spPr>
        <p:txBody>
          <a:bodyPr wrap="square" anchor="ctr">
            <a:spAutoFit/>
          </a:bodyPr>
          <a:lstStyle/>
          <a:p>
            <a:pPr algn="ctr"/>
            <a:r>
              <a:rPr sz="1400" b="1" i="0">
                <a:solidFill>
                  <a:srgbClr val="64748B"/>
                </a:solidFill>
                <a:latin typeface="Calibri"/>
              </a:rPr>
              <a:t>[ INSERT SCREENSHOT HERE ]</a:t>
            </a:r>
          </a:p>
        </p:txBody>
      </p:sp>
      <p:sp>
        <p:nvSpPr>
          <p:cNvPr id="10" name="TextBox 9"/>
          <p:cNvSpPr txBox="1"/>
          <p:nvPr/>
        </p:nvSpPr>
        <p:spPr>
          <a:xfrm>
            <a:off x="822960" y="2880360"/>
            <a:ext cx="7498079" cy="731520"/>
          </a:xfrm>
          <a:prstGeom prst="rect">
            <a:avLst/>
          </a:prstGeom>
          <a:noFill/>
        </p:spPr>
        <p:txBody>
          <a:bodyPr wrap="square" anchor="t">
            <a:spAutoFit/>
          </a:bodyPr>
          <a:lstStyle/>
          <a:p>
            <a:pPr algn="ctr"/>
            <a:r>
              <a:rPr sz="1000" b="0" i="0">
                <a:solidFill>
                  <a:srgbClr val="1B2A4A"/>
                </a:solidFill>
                <a:latin typeface="Calibri"/>
              </a:rPr>
              <a:t>Run: docker compose up --build  →  open http://localhost:3000  →  login admin/admin
Screenshot should show: Inference Requests/s · p95 Latency (ms) · Rolling Prediction Probability · CPU &amp; Memory Usage</a:t>
            </a:r>
          </a:p>
        </p:txBody>
      </p:sp>
      <p:sp>
        <p:nvSpPr>
          <p:cNvPr id="11" name="TextBox 10"/>
          <p:cNvSpPr txBox="1"/>
          <p:nvPr/>
        </p:nvSpPr>
        <p:spPr>
          <a:xfrm>
            <a:off x="457200" y="4846320"/>
            <a:ext cx="8229600" cy="228600"/>
          </a:xfrm>
          <a:prstGeom prst="rect">
            <a:avLst/>
          </a:prstGeom>
          <a:noFill/>
        </p:spPr>
        <p:txBody>
          <a:bodyPr wrap="square" anchor="ctr">
            <a:spAutoFit/>
          </a:bodyPr>
          <a:lstStyle/>
          <a:p>
            <a:pPr algn="ctr"/>
            <a:r>
              <a:rPr sz="750" b="0" i="0">
                <a:solidFill>
                  <a:srgbClr val="64748B"/>
                </a:solidFill>
                <a:latin typeface="Calibri"/>
              </a:rPr>
              <a:t>MLOps Credit Scoring Pipeline  ·  April 2026  ·  github.com/kholostovamk/mlops-credit-scoring</a:t>
            </a:r>
          </a:p>
        </p:txBody>
      </p:sp>
      <p:pic>
        <p:nvPicPr>
          <p:cNvPr id="13" name="Picture 12" descr="A screenshot of a computer&#10;&#10;AI-generated content may be incorrect.">
            <a:extLst>
              <a:ext uri="{FF2B5EF4-FFF2-40B4-BE49-F238E27FC236}">
                <a16:creationId xmlns:a16="http://schemas.microsoft.com/office/drawing/2014/main" id="{90DEA5D9-368A-86B2-11A1-90D0212149B8}"/>
              </a:ext>
            </a:extLst>
          </p:cNvPr>
          <p:cNvPicPr>
            <a:picLocks noChangeAspect="1"/>
          </p:cNvPicPr>
          <p:nvPr/>
        </p:nvPicPr>
        <p:blipFill>
          <a:blip r:embed="rId2"/>
          <a:stretch>
            <a:fillRect/>
          </a:stretch>
        </p:blipFill>
        <p:spPr>
          <a:xfrm>
            <a:off x="426855" y="1106423"/>
            <a:ext cx="8290288" cy="367596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365760" y="109728"/>
            <a:ext cx="841248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11  Lessons Learned &amp; Next Steps</a:t>
            </a:r>
            <a:endParaRPr lang="en-US" sz="2600" dirty="0"/>
          </a:p>
        </p:txBody>
      </p:sp>
      <p:sp>
        <p:nvSpPr>
          <p:cNvPr id="4" name="Text 2"/>
          <p:cNvSpPr/>
          <p:nvPr/>
        </p:nvSpPr>
        <p:spPr>
          <a:xfrm>
            <a:off x="320040" y="1005840"/>
            <a:ext cx="4114800" cy="438912"/>
          </a:xfrm>
          <a:prstGeom prst="rect">
            <a:avLst/>
          </a:prstGeom>
          <a:noFill/>
          <a:ln/>
        </p:spPr>
        <p:txBody>
          <a:bodyPr wrap="square" lIns="0" tIns="0" rIns="0" bIns="0" rtlCol="0" anchor="ctr"/>
          <a:lstStyle/>
          <a:p>
            <a:pPr marL="0" indent="0">
              <a:buNone/>
            </a:pPr>
            <a:r>
              <a:rPr lang="en-US" sz="1700" b="1" dirty="0">
                <a:solidFill>
                  <a:srgbClr val="14B8A6"/>
                </a:solidFill>
                <a:latin typeface="Georgia" pitchFamily="34" charset="0"/>
                <a:ea typeface="Georgia" pitchFamily="34" charset="-122"/>
                <a:cs typeface="Georgia" pitchFamily="34" charset="-120"/>
              </a:rPr>
              <a:t>Lessons Learned</a:t>
            </a:r>
            <a:endParaRPr lang="en-US" sz="1700" dirty="0"/>
          </a:p>
        </p:txBody>
      </p:sp>
      <p:sp>
        <p:nvSpPr>
          <p:cNvPr id="5" name="Shape 3"/>
          <p:cNvSpPr/>
          <p:nvPr/>
        </p:nvSpPr>
        <p:spPr>
          <a:xfrm>
            <a:off x="320040" y="1554480"/>
            <a:ext cx="4114800" cy="777240"/>
          </a:xfrm>
          <a:prstGeom prst="rect">
            <a:avLst/>
          </a:prstGeom>
          <a:solidFill>
            <a:srgbClr val="1E3A5F"/>
          </a:solidFill>
          <a:ln w="6350">
            <a:solidFill>
              <a:srgbClr val="0D9488"/>
            </a:solidFill>
            <a:prstDash val="solid"/>
          </a:ln>
        </p:spPr>
        <p:txBody>
          <a:bodyPr/>
          <a:lstStyle/>
          <a:p>
            <a:endParaRPr lang="en-US"/>
          </a:p>
        </p:txBody>
      </p:sp>
      <p:sp>
        <p:nvSpPr>
          <p:cNvPr id="6" name="Shape 4"/>
          <p:cNvSpPr/>
          <p:nvPr/>
        </p:nvSpPr>
        <p:spPr>
          <a:xfrm>
            <a:off x="320040" y="1554480"/>
            <a:ext cx="73152" cy="777240"/>
          </a:xfrm>
          <a:prstGeom prst="rect">
            <a:avLst/>
          </a:prstGeom>
          <a:solidFill>
            <a:srgbClr val="14B8A6"/>
          </a:solidFill>
          <a:ln w="12700">
            <a:solidFill>
              <a:srgbClr val="14B8A6"/>
            </a:solidFill>
            <a:prstDash val="solid"/>
          </a:ln>
        </p:spPr>
        <p:txBody>
          <a:bodyPr/>
          <a:lstStyle/>
          <a:p>
            <a:endParaRPr lang="en-US"/>
          </a:p>
        </p:txBody>
      </p:sp>
      <p:sp>
        <p:nvSpPr>
          <p:cNvPr id="7" name="Text 5"/>
          <p:cNvSpPr/>
          <p:nvPr/>
        </p:nvSpPr>
        <p:spPr>
          <a:xfrm>
            <a:off x="502920" y="1600200"/>
            <a:ext cx="384048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IAM permissions shape architecture</a:t>
            </a:r>
            <a:endParaRPr lang="en-US" sz="1200" dirty="0"/>
          </a:p>
        </p:txBody>
      </p:sp>
      <p:sp>
        <p:nvSpPr>
          <p:cNvPr id="8" name="Text 6"/>
          <p:cNvSpPr/>
          <p:nvPr/>
        </p:nvSpPr>
        <p:spPr>
          <a:xfrm>
            <a:off x="502920" y="1956816"/>
            <a:ext cx="384048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S3 write restrictions forced baking the model into Docker — creative constraint solving</a:t>
            </a:r>
            <a:endParaRPr lang="en-US" sz="1050" dirty="0"/>
          </a:p>
        </p:txBody>
      </p:sp>
      <p:sp>
        <p:nvSpPr>
          <p:cNvPr id="9" name="Shape 7"/>
          <p:cNvSpPr/>
          <p:nvPr/>
        </p:nvSpPr>
        <p:spPr>
          <a:xfrm>
            <a:off x="320040" y="2423160"/>
            <a:ext cx="4114800" cy="777240"/>
          </a:xfrm>
          <a:prstGeom prst="rect">
            <a:avLst/>
          </a:prstGeom>
          <a:solidFill>
            <a:srgbClr val="1E3A5F"/>
          </a:solidFill>
          <a:ln w="6350">
            <a:solidFill>
              <a:srgbClr val="0D9488"/>
            </a:solidFill>
            <a:prstDash val="solid"/>
          </a:ln>
        </p:spPr>
        <p:txBody>
          <a:bodyPr/>
          <a:lstStyle/>
          <a:p>
            <a:endParaRPr lang="en-US"/>
          </a:p>
        </p:txBody>
      </p:sp>
      <p:sp>
        <p:nvSpPr>
          <p:cNvPr id="10" name="Shape 8"/>
          <p:cNvSpPr/>
          <p:nvPr/>
        </p:nvSpPr>
        <p:spPr>
          <a:xfrm>
            <a:off x="320040" y="2423160"/>
            <a:ext cx="73152" cy="777240"/>
          </a:xfrm>
          <a:prstGeom prst="rect">
            <a:avLst/>
          </a:prstGeom>
          <a:solidFill>
            <a:srgbClr val="14B8A6"/>
          </a:solidFill>
          <a:ln w="12700">
            <a:solidFill>
              <a:srgbClr val="14B8A6"/>
            </a:solidFill>
            <a:prstDash val="solid"/>
          </a:ln>
        </p:spPr>
        <p:txBody>
          <a:bodyPr/>
          <a:lstStyle/>
          <a:p>
            <a:endParaRPr lang="en-US"/>
          </a:p>
        </p:txBody>
      </p:sp>
      <p:sp>
        <p:nvSpPr>
          <p:cNvPr id="11" name="Text 9"/>
          <p:cNvSpPr/>
          <p:nvPr/>
        </p:nvSpPr>
        <p:spPr>
          <a:xfrm>
            <a:off x="502920" y="2468880"/>
            <a:ext cx="384048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Container failures are hard to debug</a:t>
            </a:r>
            <a:endParaRPr lang="en-US" sz="1200" dirty="0"/>
          </a:p>
        </p:txBody>
      </p:sp>
      <p:sp>
        <p:nvSpPr>
          <p:cNvPr id="12" name="Text 10"/>
          <p:cNvSpPr/>
          <p:nvPr/>
        </p:nvSpPr>
        <p:spPr>
          <a:xfrm>
            <a:off x="502920" y="2825496"/>
            <a:ext cx="384048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No CloudWatch access → local smoke tests in CI are an essential safety net</a:t>
            </a:r>
            <a:endParaRPr lang="en-US" sz="1050" dirty="0"/>
          </a:p>
        </p:txBody>
      </p:sp>
      <p:sp>
        <p:nvSpPr>
          <p:cNvPr id="13" name="Shape 11"/>
          <p:cNvSpPr/>
          <p:nvPr/>
        </p:nvSpPr>
        <p:spPr>
          <a:xfrm>
            <a:off x="320040" y="3291840"/>
            <a:ext cx="4114800" cy="777240"/>
          </a:xfrm>
          <a:prstGeom prst="rect">
            <a:avLst/>
          </a:prstGeom>
          <a:solidFill>
            <a:srgbClr val="1E3A5F"/>
          </a:solidFill>
          <a:ln w="6350">
            <a:solidFill>
              <a:srgbClr val="0D9488"/>
            </a:solidFill>
            <a:prstDash val="solid"/>
          </a:ln>
        </p:spPr>
        <p:txBody>
          <a:bodyPr/>
          <a:lstStyle/>
          <a:p>
            <a:endParaRPr lang="en-US"/>
          </a:p>
        </p:txBody>
      </p:sp>
      <p:sp>
        <p:nvSpPr>
          <p:cNvPr id="14" name="Shape 12"/>
          <p:cNvSpPr/>
          <p:nvPr/>
        </p:nvSpPr>
        <p:spPr>
          <a:xfrm>
            <a:off x="320040" y="3291840"/>
            <a:ext cx="73152" cy="777240"/>
          </a:xfrm>
          <a:prstGeom prst="rect">
            <a:avLst/>
          </a:prstGeom>
          <a:solidFill>
            <a:srgbClr val="14B8A6"/>
          </a:solidFill>
          <a:ln w="12700">
            <a:solidFill>
              <a:srgbClr val="14B8A6"/>
            </a:solidFill>
            <a:prstDash val="solid"/>
          </a:ln>
        </p:spPr>
        <p:txBody>
          <a:bodyPr/>
          <a:lstStyle/>
          <a:p>
            <a:endParaRPr lang="en-US"/>
          </a:p>
        </p:txBody>
      </p:sp>
      <p:sp>
        <p:nvSpPr>
          <p:cNvPr id="15" name="Text 13"/>
          <p:cNvSpPr/>
          <p:nvPr/>
        </p:nvSpPr>
        <p:spPr>
          <a:xfrm>
            <a:off x="502920" y="3337560"/>
            <a:ext cx="384048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DVC + GitHub Actions work well together</a:t>
            </a:r>
            <a:endParaRPr lang="en-US" sz="1200" dirty="0"/>
          </a:p>
        </p:txBody>
      </p:sp>
      <p:sp>
        <p:nvSpPr>
          <p:cNvPr id="16" name="Text 14"/>
          <p:cNvSpPr/>
          <p:nvPr/>
        </p:nvSpPr>
        <p:spPr>
          <a:xfrm>
            <a:off x="502920" y="3694176"/>
            <a:ext cx="384048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Artifacts API cleanly replaces cloud storage for pipeline hand-offs between jobs</a:t>
            </a:r>
            <a:endParaRPr lang="en-US" sz="1050" dirty="0"/>
          </a:p>
        </p:txBody>
      </p:sp>
      <p:sp>
        <p:nvSpPr>
          <p:cNvPr id="17" name="Shape 15"/>
          <p:cNvSpPr/>
          <p:nvPr/>
        </p:nvSpPr>
        <p:spPr>
          <a:xfrm>
            <a:off x="320040" y="4160520"/>
            <a:ext cx="4114800" cy="777240"/>
          </a:xfrm>
          <a:prstGeom prst="rect">
            <a:avLst/>
          </a:prstGeom>
          <a:solidFill>
            <a:srgbClr val="1E3A5F"/>
          </a:solidFill>
          <a:ln w="6350">
            <a:solidFill>
              <a:srgbClr val="0D9488"/>
            </a:solidFill>
            <a:prstDash val="solid"/>
          </a:ln>
        </p:spPr>
        <p:txBody>
          <a:bodyPr/>
          <a:lstStyle/>
          <a:p>
            <a:endParaRPr lang="en-US"/>
          </a:p>
        </p:txBody>
      </p:sp>
      <p:sp>
        <p:nvSpPr>
          <p:cNvPr id="18" name="Shape 16"/>
          <p:cNvSpPr/>
          <p:nvPr/>
        </p:nvSpPr>
        <p:spPr>
          <a:xfrm>
            <a:off x="320040" y="4160520"/>
            <a:ext cx="73152" cy="777240"/>
          </a:xfrm>
          <a:prstGeom prst="rect">
            <a:avLst/>
          </a:prstGeom>
          <a:solidFill>
            <a:srgbClr val="14B8A6"/>
          </a:solidFill>
          <a:ln w="12700">
            <a:solidFill>
              <a:srgbClr val="14B8A6"/>
            </a:solidFill>
            <a:prstDash val="solid"/>
          </a:ln>
        </p:spPr>
        <p:txBody>
          <a:bodyPr/>
          <a:lstStyle/>
          <a:p>
            <a:endParaRPr lang="en-US"/>
          </a:p>
        </p:txBody>
      </p:sp>
      <p:sp>
        <p:nvSpPr>
          <p:cNvPr id="19" name="Text 17"/>
          <p:cNvSpPr/>
          <p:nvPr/>
        </p:nvSpPr>
        <p:spPr>
          <a:xfrm>
            <a:off x="502920" y="4206240"/>
            <a:ext cx="384048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Fairness is a first-class metric</a:t>
            </a:r>
            <a:endParaRPr lang="en-US" sz="1200" dirty="0"/>
          </a:p>
        </p:txBody>
      </p:sp>
      <p:sp>
        <p:nvSpPr>
          <p:cNvPr id="20" name="Text 18"/>
          <p:cNvSpPr/>
          <p:nvPr/>
        </p:nvSpPr>
        <p:spPr>
          <a:xfrm>
            <a:off x="502920" y="4562856"/>
            <a:ext cx="384048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Built directly into evaluate.py — runs on every model version automatically</a:t>
            </a:r>
            <a:endParaRPr lang="en-US" sz="1050" dirty="0"/>
          </a:p>
        </p:txBody>
      </p:sp>
      <p:sp>
        <p:nvSpPr>
          <p:cNvPr id="21" name="Shape 19"/>
          <p:cNvSpPr/>
          <p:nvPr/>
        </p:nvSpPr>
        <p:spPr>
          <a:xfrm>
            <a:off x="4663440" y="1005840"/>
            <a:ext cx="0" cy="3749040"/>
          </a:xfrm>
          <a:prstGeom prst="line">
            <a:avLst/>
          </a:prstGeom>
          <a:noFill/>
          <a:ln w="10160">
            <a:solidFill>
              <a:srgbClr val="0D9488">
                <a:alpha val="40000"/>
              </a:srgbClr>
            </a:solidFill>
            <a:prstDash val="solid"/>
          </a:ln>
        </p:spPr>
        <p:txBody>
          <a:bodyPr/>
          <a:lstStyle/>
          <a:p>
            <a:endParaRPr lang="en-US"/>
          </a:p>
        </p:txBody>
      </p:sp>
      <p:sp>
        <p:nvSpPr>
          <p:cNvPr id="22" name="Text 20"/>
          <p:cNvSpPr/>
          <p:nvPr/>
        </p:nvSpPr>
        <p:spPr>
          <a:xfrm>
            <a:off x="4892040" y="1005840"/>
            <a:ext cx="3931920" cy="438912"/>
          </a:xfrm>
          <a:prstGeom prst="rect">
            <a:avLst/>
          </a:prstGeom>
          <a:noFill/>
          <a:ln/>
        </p:spPr>
        <p:txBody>
          <a:bodyPr wrap="square" lIns="0" tIns="0" rIns="0" bIns="0" rtlCol="0" anchor="ctr"/>
          <a:lstStyle/>
          <a:p>
            <a:pPr marL="0" indent="0">
              <a:buNone/>
            </a:pPr>
            <a:r>
              <a:rPr lang="en-US" sz="1700" b="1" dirty="0">
                <a:solidFill>
                  <a:srgbClr val="14B8A6"/>
                </a:solidFill>
                <a:latin typeface="Georgia" pitchFamily="34" charset="0"/>
                <a:ea typeface="Georgia" pitchFamily="34" charset="-122"/>
                <a:cs typeface="Georgia" pitchFamily="34" charset="-120"/>
              </a:rPr>
              <a:t>Next Steps</a:t>
            </a:r>
            <a:endParaRPr lang="en-US" sz="1700" dirty="0"/>
          </a:p>
        </p:txBody>
      </p:sp>
      <p:sp>
        <p:nvSpPr>
          <p:cNvPr id="23" name="Shape 21"/>
          <p:cNvSpPr/>
          <p:nvPr/>
        </p:nvSpPr>
        <p:spPr>
          <a:xfrm>
            <a:off x="4892040" y="1554480"/>
            <a:ext cx="3931920" cy="777240"/>
          </a:xfrm>
          <a:prstGeom prst="rect">
            <a:avLst/>
          </a:prstGeom>
          <a:solidFill>
            <a:srgbClr val="1E3A5F"/>
          </a:solidFill>
          <a:ln w="6350">
            <a:solidFill>
              <a:srgbClr val="0D9488"/>
            </a:solidFill>
            <a:prstDash val="solid"/>
          </a:ln>
        </p:spPr>
        <p:txBody>
          <a:bodyPr/>
          <a:lstStyle/>
          <a:p>
            <a:endParaRPr lang="en-US"/>
          </a:p>
        </p:txBody>
      </p:sp>
      <p:sp>
        <p:nvSpPr>
          <p:cNvPr id="24" name="Shape 22"/>
          <p:cNvSpPr/>
          <p:nvPr/>
        </p:nvSpPr>
        <p:spPr>
          <a:xfrm>
            <a:off x="4892040" y="1554480"/>
            <a:ext cx="73152" cy="777240"/>
          </a:xfrm>
          <a:prstGeom prst="rect">
            <a:avLst/>
          </a:prstGeom>
          <a:solidFill>
            <a:srgbClr val="14B8A6"/>
          </a:solidFill>
          <a:ln w="12700">
            <a:solidFill>
              <a:srgbClr val="14B8A6"/>
            </a:solidFill>
            <a:prstDash val="solid"/>
          </a:ln>
        </p:spPr>
        <p:txBody>
          <a:bodyPr/>
          <a:lstStyle/>
          <a:p>
            <a:endParaRPr lang="en-US"/>
          </a:p>
        </p:txBody>
      </p:sp>
      <p:sp>
        <p:nvSpPr>
          <p:cNvPr id="25" name="Text 23"/>
          <p:cNvSpPr/>
          <p:nvPr/>
        </p:nvSpPr>
        <p:spPr>
          <a:xfrm>
            <a:off x="5074920" y="1600200"/>
            <a:ext cx="365760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A/B Testing</a:t>
            </a:r>
            <a:endParaRPr lang="en-US" sz="1200" dirty="0"/>
          </a:p>
        </p:txBody>
      </p:sp>
      <p:sp>
        <p:nvSpPr>
          <p:cNvPr id="26" name="Text 24"/>
          <p:cNvSpPr/>
          <p:nvPr/>
        </p:nvSpPr>
        <p:spPr>
          <a:xfrm>
            <a:off x="5074920" y="1956816"/>
            <a:ext cx="365760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Champion/challenger endpoints with traffic splitting by real-world conversion</a:t>
            </a:r>
            <a:endParaRPr lang="en-US" sz="1050" dirty="0"/>
          </a:p>
        </p:txBody>
      </p:sp>
      <p:sp>
        <p:nvSpPr>
          <p:cNvPr id="27" name="Shape 25"/>
          <p:cNvSpPr/>
          <p:nvPr/>
        </p:nvSpPr>
        <p:spPr>
          <a:xfrm>
            <a:off x="4892040" y="2423160"/>
            <a:ext cx="3931920" cy="777240"/>
          </a:xfrm>
          <a:prstGeom prst="rect">
            <a:avLst/>
          </a:prstGeom>
          <a:solidFill>
            <a:srgbClr val="1E3A5F"/>
          </a:solidFill>
          <a:ln w="6350">
            <a:solidFill>
              <a:srgbClr val="0D9488"/>
            </a:solidFill>
            <a:prstDash val="solid"/>
          </a:ln>
        </p:spPr>
        <p:txBody>
          <a:bodyPr/>
          <a:lstStyle/>
          <a:p>
            <a:endParaRPr lang="en-US"/>
          </a:p>
        </p:txBody>
      </p:sp>
      <p:sp>
        <p:nvSpPr>
          <p:cNvPr id="28" name="Shape 26"/>
          <p:cNvSpPr/>
          <p:nvPr/>
        </p:nvSpPr>
        <p:spPr>
          <a:xfrm>
            <a:off x="4892040" y="2423160"/>
            <a:ext cx="73152" cy="777240"/>
          </a:xfrm>
          <a:prstGeom prst="rect">
            <a:avLst/>
          </a:prstGeom>
          <a:solidFill>
            <a:srgbClr val="14B8A6"/>
          </a:solidFill>
          <a:ln w="12700">
            <a:solidFill>
              <a:srgbClr val="14B8A6"/>
            </a:solidFill>
            <a:prstDash val="solid"/>
          </a:ln>
        </p:spPr>
        <p:txBody>
          <a:bodyPr/>
          <a:lstStyle/>
          <a:p>
            <a:endParaRPr lang="en-US"/>
          </a:p>
        </p:txBody>
      </p:sp>
      <p:sp>
        <p:nvSpPr>
          <p:cNvPr id="29" name="Text 27"/>
          <p:cNvSpPr/>
          <p:nvPr/>
        </p:nvSpPr>
        <p:spPr>
          <a:xfrm>
            <a:off x="5074920" y="2468880"/>
            <a:ext cx="365760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Auto-Retraining</a:t>
            </a:r>
            <a:endParaRPr lang="en-US" sz="1200" dirty="0"/>
          </a:p>
        </p:txBody>
      </p:sp>
      <p:sp>
        <p:nvSpPr>
          <p:cNvPr id="30" name="Text 28"/>
          <p:cNvSpPr/>
          <p:nvPr/>
        </p:nvSpPr>
        <p:spPr>
          <a:xfrm>
            <a:off x="5074920" y="2825496"/>
            <a:ext cx="365760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Trigger pipeline when PSI drift score exceeds 0.2 — close the feedback loop</a:t>
            </a:r>
            <a:endParaRPr lang="en-US" sz="1050" dirty="0"/>
          </a:p>
        </p:txBody>
      </p:sp>
      <p:sp>
        <p:nvSpPr>
          <p:cNvPr id="31" name="Shape 29"/>
          <p:cNvSpPr/>
          <p:nvPr/>
        </p:nvSpPr>
        <p:spPr>
          <a:xfrm>
            <a:off x="4892040" y="3291840"/>
            <a:ext cx="3931920" cy="777240"/>
          </a:xfrm>
          <a:prstGeom prst="rect">
            <a:avLst/>
          </a:prstGeom>
          <a:solidFill>
            <a:srgbClr val="1E3A5F"/>
          </a:solidFill>
          <a:ln w="6350">
            <a:solidFill>
              <a:srgbClr val="0D9488"/>
            </a:solidFill>
            <a:prstDash val="solid"/>
          </a:ln>
        </p:spPr>
        <p:txBody>
          <a:bodyPr/>
          <a:lstStyle/>
          <a:p>
            <a:endParaRPr lang="en-US"/>
          </a:p>
        </p:txBody>
      </p:sp>
      <p:sp>
        <p:nvSpPr>
          <p:cNvPr id="32" name="Shape 30"/>
          <p:cNvSpPr/>
          <p:nvPr/>
        </p:nvSpPr>
        <p:spPr>
          <a:xfrm>
            <a:off x="4892040" y="3291840"/>
            <a:ext cx="73152" cy="777240"/>
          </a:xfrm>
          <a:prstGeom prst="rect">
            <a:avLst/>
          </a:prstGeom>
          <a:solidFill>
            <a:srgbClr val="14B8A6"/>
          </a:solidFill>
          <a:ln w="12700">
            <a:solidFill>
              <a:srgbClr val="14B8A6"/>
            </a:solidFill>
            <a:prstDash val="solid"/>
          </a:ln>
        </p:spPr>
        <p:txBody>
          <a:bodyPr/>
          <a:lstStyle/>
          <a:p>
            <a:endParaRPr lang="en-US"/>
          </a:p>
        </p:txBody>
      </p:sp>
      <p:sp>
        <p:nvSpPr>
          <p:cNvPr id="33" name="Text 31"/>
          <p:cNvSpPr/>
          <p:nvPr/>
        </p:nvSpPr>
        <p:spPr>
          <a:xfrm>
            <a:off x="5074920" y="3337560"/>
            <a:ext cx="365760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Feature Store</a:t>
            </a:r>
            <a:endParaRPr lang="en-US" sz="1200" dirty="0"/>
          </a:p>
        </p:txBody>
      </p:sp>
      <p:sp>
        <p:nvSpPr>
          <p:cNvPr id="34" name="Text 32"/>
          <p:cNvSpPr/>
          <p:nvPr/>
        </p:nvSpPr>
        <p:spPr>
          <a:xfrm>
            <a:off x="5074920" y="3694176"/>
            <a:ext cx="365760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SageMaker Feature Store for real-time serving and cross-team consistency</a:t>
            </a:r>
            <a:endParaRPr lang="en-US" sz="1050" dirty="0"/>
          </a:p>
        </p:txBody>
      </p:sp>
      <p:sp>
        <p:nvSpPr>
          <p:cNvPr id="35" name="Shape 33"/>
          <p:cNvSpPr/>
          <p:nvPr/>
        </p:nvSpPr>
        <p:spPr>
          <a:xfrm>
            <a:off x="4892040" y="4160520"/>
            <a:ext cx="3931920" cy="777240"/>
          </a:xfrm>
          <a:prstGeom prst="rect">
            <a:avLst/>
          </a:prstGeom>
          <a:solidFill>
            <a:srgbClr val="1E3A5F"/>
          </a:solidFill>
          <a:ln w="6350">
            <a:solidFill>
              <a:srgbClr val="0D9488"/>
            </a:solidFill>
            <a:prstDash val="solid"/>
          </a:ln>
        </p:spPr>
        <p:txBody>
          <a:bodyPr/>
          <a:lstStyle/>
          <a:p>
            <a:endParaRPr lang="en-US"/>
          </a:p>
        </p:txBody>
      </p:sp>
      <p:sp>
        <p:nvSpPr>
          <p:cNvPr id="36" name="Shape 34"/>
          <p:cNvSpPr/>
          <p:nvPr/>
        </p:nvSpPr>
        <p:spPr>
          <a:xfrm>
            <a:off x="4892040" y="4160520"/>
            <a:ext cx="73152" cy="777240"/>
          </a:xfrm>
          <a:prstGeom prst="rect">
            <a:avLst/>
          </a:prstGeom>
          <a:solidFill>
            <a:srgbClr val="14B8A6"/>
          </a:solidFill>
          <a:ln w="12700">
            <a:solidFill>
              <a:srgbClr val="14B8A6"/>
            </a:solidFill>
            <a:prstDash val="solid"/>
          </a:ln>
        </p:spPr>
        <p:txBody>
          <a:bodyPr/>
          <a:lstStyle/>
          <a:p>
            <a:endParaRPr lang="en-US"/>
          </a:p>
        </p:txBody>
      </p:sp>
      <p:sp>
        <p:nvSpPr>
          <p:cNvPr id="37" name="Text 35"/>
          <p:cNvSpPr/>
          <p:nvPr/>
        </p:nvSpPr>
        <p:spPr>
          <a:xfrm>
            <a:off x="5074920" y="4206240"/>
            <a:ext cx="3657600" cy="320040"/>
          </a:xfrm>
          <a:prstGeom prst="rect">
            <a:avLst/>
          </a:prstGeom>
          <a:noFill/>
          <a:ln/>
        </p:spPr>
        <p:txBody>
          <a:bodyPr wrap="square" lIns="0" tIns="0" rIns="0" bIns="0" rtlCol="0" anchor="ctr"/>
          <a:lstStyle/>
          <a:p>
            <a:pPr marL="0" indent="0" algn="l">
              <a:buNone/>
            </a:pPr>
            <a:r>
              <a:rPr lang="en-US" sz="1200" b="1" dirty="0">
                <a:solidFill>
                  <a:srgbClr val="14B8A6"/>
                </a:solidFill>
                <a:latin typeface="Calibri" pitchFamily="34" charset="0"/>
                <a:ea typeface="Calibri" pitchFamily="34" charset="-122"/>
                <a:cs typeface="Calibri" pitchFamily="34" charset="-120"/>
              </a:rPr>
              <a:t>SageMaker Pipelines</a:t>
            </a:r>
            <a:endParaRPr lang="en-US" sz="1200" dirty="0"/>
          </a:p>
        </p:txBody>
      </p:sp>
      <p:sp>
        <p:nvSpPr>
          <p:cNvPr id="38" name="Text 36"/>
          <p:cNvSpPr/>
          <p:nvPr/>
        </p:nvSpPr>
        <p:spPr>
          <a:xfrm>
            <a:off x="5074920" y="4562856"/>
            <a:ext cx="3657600" cy="329184"/>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Replace GitHub Actions CD with native SM Pipelines for step caching + lineage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5943600" y="-731520"/>
            <a:ext cx="4754880" cy="4754880"/>
          </a:xfrm>
          <a:prstGeom prst="ellipse">
            <a:avLst/>
          </a:prstGeom>
          <a:solidFill>
            <a:srgbClr val="0D9488">
              <a:alpha val="10000"/>
            </a:srgbClr>
          </a:solidFill>
          <a:ln w="6350">
            <a:solidFill>
              <a:srgbClr val="14B8A6">
                <a:alpha val="25000"/>
              </a:srgbClr>
            </a:solidFill>
            <a:prstDash val="solid"/>
          </a:ln>
        </p:spPr>
        <p:txBody>
          <a:bodyPr/>
          <a:lstStyle/>
          <a:p>
            <a:endParaRPr lang="en-US"/>
          </a:p>
        </p:txBody>
      </p:sp>
      <p:sp>
        <p:nvSpPr>
          <p:cNvPr id="4" name="Text 2"/>
          <p:cNvSpPr/>
          <p:nvPr/>
        </p:nvSpPr>
        <p:spPr>
          <a:xfrm>
            <a:off x="457200" y="640080"/>
            <a:ext cx="5943600" cy="1188720"/>
          </a:xfrm>
          <a:prstGeom prst="rect">
            <a:avLst/>
          </a:prstGeom>
          <a:noFill/>
          <a:ln/>
        </p:spPr>
        <p:txBody>
          <a:bodyPr wrap="square" lIns="0" tIns="0" rIns="0" bIns="0" rtlCol="0" anchor="ctr"/>
          <a:lstStyle/>
          <a:p>
            <a:pPr marL="0" indent="0" algn="l">
              <a:buNone/>
            </a:pPr>
            <a:r>
              <a:rPr lang="en-US" sz="5800" b="1" dirty="0">
                <a:solidFill>
                  <a:srgbClr val="FFFFFF"/>
                </a:solidFill>
                <a:latin typeface="Georgia" pitchFamily="34" charset="0"/>
                <a:ea typeface="Georgia" pitchFamily="34" charset="-122"/>
                <a:cs typeface="Georgia" pitchFamily="34" charset="-120"/>
              </a:rPr>
              <a:t>Thank You</a:t>
            </a:r>
            <a:endParaRPr lang="en-US" sz="5800" dirty="0"/>
          </a:p>
        </p:txBody>
      </p:sp>
      <p:sp>
        <p:nvSpPr>
          <p:cNvPr id="5" name="Text 3"/>
          <p:cNvSpPr/>
          <p:nvPr/>
        </p:nvSpPr>
        <p:spPr>
          <a:xfrm>
            <a:off x="457200" y="1920240"/>
            <a:ext cx="6400800" cy="457200"/>
          </a:xfrm>
          <a:prstGeom prst="rect">
            <a:avLst/>
          </a:prstGeom>
          <a:noFill/>
          <a:ln/>
        </p:spPr>
        <p:txBody>
          <a:bodyPr wrap="square" lIns="0" tIns="0" rIns="0" bIns="0" rtlCol="0" anchor="ctr"/>
          <a:lstStyle/>
          <a:p>
            <a:pPr marL="0" indent="0" algn="l">
              <a:buNone/>
            </a:pPr>
            <a:r>
              <a:rPr lang="en-US" sz="1600" dirty="0">
                <a:solidFill>
                  <a:srgbClr val="14B8A6"/>
                </a:solidFill>
                <a:latin typeface="Calibri" pitchFamily="34" charset="0"/>
                <a:ea typeface="Calibri" pitchFamily="34" charset="-122"/>
                <a:cs typeface="Calibri" pitchFamily="34" charset="-120"/>
              </a:rPr>
              <a:t>MLOps Credit Scoring Pipeline — End-to-End</a:t>
            </a:r>
            <a:endParaRPr lang="en-US" sz="1600" dirty="0"/>
          </a:p>
        </p:txBody>
      </p:sp>
      <p:sp>
        <p:nvSpPr>
          <p:cNvPr id="6" name="Shape 4"/>
          <p:cNvSpPr/>
          <p:nvPr/>
        </p:nvSpPr>
        <p:spPr>
          <a:xfrm>
            <a:off x="457200" y="2578608"/>
            <a:ext cx="1920240" cy="1115568"/>
          </a:xfrm>
          <a:prstGeom prst="rect">
            <a:avLst/>
          </a:prstGeom>
          <a:solidFill>
            <a:srgbClr val="1E3A5F"/>
          </a:solidFill>
          <a:ln w="12700">
            <a:solidFill>
              <a:srgbClr val="0D9488"/>
            </a:solidFill>
            <a:prstDash val="solid"/>
          </a:ln>
        </p:spPr>
        <p:txBody>
          <a:bodyPr/>
          <a:lstStyle/>
          <a:p>
            <a:endParaRPr lang="en-US"/>
          </a:p>
        </p:txBody>
      </p:sp>
      <p:sp>
        <p:nvSpPr>
          <p:cNvPr id="7" name="Text 5"/>
          <p:cNvSpPr/>
          <p:nvPr/>
        </p:nvSpPr>
        <p:spPr>
          <a:xfrm>
            <a:off x="457200" y="2688336"/>
            <a:ext cx="1920240" cy="594360"/>
          </a:xfrm>
          <a:prstGeom prst="rect">
            <a:avLst/>
          </a:prstGeom>
          <a:noFill/>
          <a:ln/>
        </p:spPr>
        <p:txBody>
          <a:bodyPr wrap="square" lIns="0" tIns="0" rIns="0" bIns="0" rtlCol="0" anchor="ctr"/>
          <a:lstStyle/>
          <a:p>
            <a:pPr marL="0" indent="0" algn="ctr">
              <a:buNone/>
            </a:pPr>
            <a:r>
              <a:rPr lang="en-US" sz="2600" b="1" dirty="0">
                <a:solidFill>
                  <a:srgbClr val="14B8A6"/>
                </a:solidFill>
                <a:latin typeface="Georgia" pitchFamily="34" charset="0"/>
                <a:ea typeface="Georgia" pitchFamily="34" charset="-122"/>
                <a:cs typeface="Georgia" pitchFamily="34" charset="-120"/>
              </a:rPr>
              <a:t>0.778</a:t>
            </a:r>
            <a:endParaRPr lang="en-US" sz="2600" dirty="0"/>
          </a:p>
        </p:txBody>
      </p:sp>
      <p:sp>
        <p:nvSpPr>
          <p:cNvPr id="8" name="Text 6"/>
          <p:cNvSpPr/>
          <p:nvPr/>
        </p:nvSpPr>
        <p:spPr>
          <a:xfrm>
            <a:off x="457200" y="329184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AUC-ROC</a:t>
            </a:r>
            <a:endParaRPr lang="en-US" sz="1100" dirty="0"/>
          </a:p>
        </p:txBody>
      </p:sp>
      <p:sp>
        <p:nvSpPr>
          <p:cNvPr id="9" name="Shape 7"/>
          <p:cNvSpPr/>
          <p:nvPr/>
        </p:nvSpPr>
        <p:spPr>
          <a:xfrm>
            <a:off x="2578608" y="2578608"/>
            <a:ext cx="1920240" cy="1115568"/>
          </a:xfrm>
          <a:prstGeom prst="rect">
            <a:avLst/>
          </a:prstGeom>
          <a:solidFill>
            <a:srgbClr val="1E3A5F"/>
          </a:solidFill>
          <a:ln w="12700">
            <a:solidFill>
              <a:srgbClr val="0D9488"/>
            </a:solidFill>
            <a:prstDash val="solid"/>
          </a:ln>
        </p:spPr>
        <p:txBody>
          <a:bodyPr/>
          <a:lstStyle/>
          <a:p>
            <a:endParaRPr lang="en-US"/>
          </a:p>
        </p:txBody>
      </p:sp>
      <p:sp>
        <p:nvSpPr>
          <p:cNvPr id="10" name="Text 8"/>
          <p:cNvSpPr/>
          <p:nvPr/>
        </p:nvSpPr>
        <p:spPr>
          <a:xfrm>
            <a:off x="2578608" y="2688336"/>
            <a:ext cx="1920240" cy="594360"/>
          </a:xfrm>
          <a:prstGeom prst="rect">
            <a:avLst/>
          </a:prstGeom>
          <a:noFill/>
          <a:ln/>
        </p:spPr>
        <p:txBody>
          <a:bodyPr wrap="square" lIns="0" tIns="0" rIns="0" bIns="0" rtlCol="0" anchor="ctr"/>
          <a:lstStyle/>
          <a:p>
            <a:pPr marL="0" indent="0" algn="ctr">
              <a:buNone/>
            </a:pPr>
            <a:r>
              <a:rPr lang="en-US" sz="2600" b="1" dirty="0">
                <a:solidFill>
                  <a:srgbClr val="14B8A6"/>
                </a:solidFill>
                <a:latin typeface="Georgia" pitchFamily="34" charset="0"/>
                <a:ea typeface="Georgia" pitchFamily="34" charset="-122"/>
                <a:cs typeface="Georgia" pitchFamily="34" charset="-120"/>
              </a:rPr>
              <a:t>13</a:t>
            </a:r>
            <a:endParaRPr lang="en-US" sz="2600" dirty="0"/>
          </a:p>
        </p:txBody>
      </p:sp>
      <p:sp>
        <p:nvSpPr>
          <p:cNvPr id="11" name="Text 9"/>
          <p:cNvSpPr/>
          <p:nvPr/>
        </p:nvSpPr>
        <p:spPr>
          <a:xfrm>
            <a:off x="2578608" y="329184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Unit Tests</a:t>
            </a:r>
            <a:endParaRPr lang="en-US" sz="1100" dirty="0"/>
          </a:p>
        </p:txBody>
      </p:sp>
      <p:sp>
        <p:nvSpPr>
          <p:cNvPr id="12" name="Shape 10"/>
          <p:cNvSpPr/>
          <p:nvPr/>
        </p:nvSpPr>
        <p:spPr>
          <a:xfrm>
            <a:off x="4700016" y="2578608"/>
            <a:ext cx="1920240" cy="1115568"/>
          </a:xfrm>
          <a:prstGeom prst="rect">
            <a:avLst/>
          </a:prstGeom>
          <a:solidFill>
            <a:srgbClr val="1E3A5F"/>
          </a:solidFill>
          <a:ln w="12700">
            <a:solidFill>
              <a:srgbClr val="0D9488"/>
            </a:solidFill>
            <a:prstDash val="solid"/>
          </a:ln>
        </p:spPr>
        <p:txBody>
          <a:bodyPr/>
          <a:lstStyle/>
          <a:p>
            <a:endParaRPr lang="en-US"/>
          </a:p>
        </p:txBody>
      </p:sp>
      <p:sp>
        <p:nvSpPr>
          <p:cNvPr id="13" name="Text 11"/>
          <p:cNvSpPr/>
          <p:nvPr/>
        </p:nvSpPr>
        <p:spPr>
          <a:xfrm>
            <a:off x="4700016" y="2688336"/>
            <a:ext cx="1920240" cy="594360"/>
          </a:xfrm>
          <a:prstGeom prst="rect">
            <a:avLst/>
          </a:prstGeom>
          <a:noFill/>
          <a:ln/>
        </p:spPr>
        <p:txBody>
          <a:bodyPr wrap="square" lIns="0" tIns="0" rIns="0" bIns="0" rtlCol="0" anchor="ctr"/>
          <a:lstStyle/>
          <a:p>
            <a:pPr marL="0" indent="0" algn="ctr">
              <a:buNone/>
            </a:pPr>
            <a:r>
              <a:rPr lang="en-US" sz="2600" b="1" dirty="0">
                <a:solidFill>
                  <a:srgbClr val="14B8A6"/>
                </a:solidFill>
                <a:latin typeface="Georgia" pitchFamily="34" charset="0"/>
                <a:ea typeface="Georgia" pitchFamily="34" charset="-122"/>
                <a:cs typeface="Georgia" pitchFamily="34" charset="-120"/>
              </a:rPr>
              <a:t>4 Stages</a:t>
            </a:r>
            <a:endParaRPr lang="en-US" sz="2600" dirty="0"/>
          </a:p>
        </p:txBody>
      </p:sp>
      <p:sp>
        <p:nvSpPr>
          <p:cNvPr id="14" name="Text 12"/>
          <p:cNvSpPr/>
          <p:nvPr/>
        </p:nvSpPr>
        <p:spPr>
          <a:xfrm>
            <a:off x="4700016" y="329184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DVC Pipeline</a:t>
            </a:r>
            <a:endParaRPr lang="en-US" sz="1100" dirty="0"/>
          </a:p>
        </p:txBody>
      </p:sp>
      <p:sp>
        <p:nvSpPr>
          <p:cNvPr id="15" name="Shape 13"/>
          <p:cNvSpPr/>
          <p:nvPr/>
        </p:nvSpPr>
        <p:spPr>
          <a:xfrm>
            <a:off x="6821424" y="2578608"/>
            <a:ext cx="1920240" cy="1115568"/>
          </a:xfrm>
          <a:prstGeom prst="rect">
            <a:avLst/>
          </a:prstGeom>
          <a:solidFill>
            <a:srgbClr val="1E3A5F"/>
          </a:solidFill>
          <a:ln w="12700">
            <a:solidFill>
              <a:srgbClr val="0D9488"/>
            </a:solidFill>
            <a:prstDash val="solid"/>
          </a:ln>
        </p:spPr>
        <p:txBody>
          <a:bodyPr/>
          <a:lstStyle/>
          <a:p>
            <a:endParaRPr lang="en-US"/>
          </a:p>
        </p:txBody>
      </p:sp>
      <p:sp>
        <p:nvSpPr>
          <p:cNvPr id="16" name="Text 14"/>
          <p:cNvSpPr/>
          <p:nvPr/>
        </p:nvSpPr>
        <p:spPr>
          <a:xfrm>
            <a:off x="6821424" y="2688336"/>
            <a:ext cx="1920240" cy="594360"/>
          </a:xfrm>
          <a:prstGeom prst="rect">
            <a:avLst/>
          </a:prstGeom>
          <a:noFill/>
          <a:ln/>
        </p:spPr>
        <p:txBody>
          <a:bodyPr wrap="square" lIns="0" tIns="0" rIns="0" bIns="0" rtlCol="0" anchor="ctr"/>
          <a:lstStyle/>
          <a:p>
            <a:pPr marL="0" indent="0" algn="ctr">
              <a:buNone/>
            </a:pPr>
            <a:r>
              <a:rPr lang="en-US" sz="2600" b="1" dirty="0">
                <a:solidFill>
                  <a:srgbClr val="14B8A6"/>
                </a:solidFill>
                <a:latin typeface="Georgia" pitchFamily="34" charset="0"/>
                <a:ea typeface="Georgia" pitchFamily="34" charset="-122"/>
                <a:cs typeface="Georgia" pitchFamily="34" charset="-120"/>
              </a:rPr>
              <a:t>AWS SM</a:t>
            </a:r>
            <a:endParaRPr lang="en-US" sz="2600" dirty="0"/>
          </a:p>
        </p:txBody>
      </p:sp>
      <p:sp>
        <p:nvSpPr>
          <p:cNvPr id="17" name="Text 15"/>
          <p:cNvSpPr/>
          <p:nvPr/>
        </p:nvSpPr>
        <p:spPr>
          <a:xfrm>
            <a:off x="6821424" y="3291840"/>
            <a:ext cx="192024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Deployment</a:t>
            </a:r>
            <a:endParaRPr lang="en-US" sz="1100" dirty="0"/>
          </a:p>
        </p:txBody>
      </p:sp>
      <p:sp>
        <p:nvSpPr>
          <p:cNvPr id="18" name="Shape 16"/>
          <p:cNvSpPr/>
          <p:nvPr/>
        </p:nvSpPr>
        <p:spPr>
          <a:xfrm>
            <a:off x="457200" y="3913632"/>
            <a:ext cx="5047488" cy="457200"/>
          </a:xfrm>
          <a:prstGeom prst="rect">
            <a:avLst/>
          </a:prstGeom>
          <a:solidFill>
            <a:srgbClr val="1E3A5F"/>
          </a:solidFill>
          <a:ln w="12700">
            <a:solidFill>
              <a:srgbClr val="0D9488"/>
            </a:solidFill>
            <a:prstDash val="solid"/>
          </a:ln>
        </p:spPr>
        <p:txBody>
          <a:bodyPr/>
          <a:lstStyle/>
          <a:p>
            <a:endParaRPr lang="en-US"/>
          </a:p>
        </p:txBody>
      </p:sp>
      <p:sp>
        <p:nvSpPr>
          <p:cNvPr id="19" name="Text 17"/>
          <p:cNvSpPr/>
          <p:nvPr/>
        </p:nvSpPr>
        <p:spPr>
          <a:xfrm>
            <a:off x="457200" y="3913632"/>
            <a:ext cx="5047488" cy="457200"/>
          </a:xfrm>
          <a:prstGeom prst="rect">
            <a:avLst/>
          </a:prstGeom>
          <a:noFill/>
          <a:ln/>
        </p:spPr>
        <p:txBody>
          <a:bodyPr wrap="square" lIns="0" tIns="0" rIns="0" bIns="0" rtlCol="0" anchor="ctr"/>
          <a:lstStyle/>
          <a:p>
            <a:pPr marL="0" indent="0" algn="ctr">
              <a:buNone/>
            </a:pPr>
            <a:r>
              <a:rPr lang="en-US" sz="1300" dirty="0">
                <a:solidFill>
                  <a:srgbClr val="14B8A6"/>
                </a:solidFill>
                <a:latin typeface="Calibri" pitchFamily="34" charset="0"/>
                <a:ea typeface="Calibri" pitchFamily="34" charset="-122"/>
                <a:cs typeface="Calibri" pitchFamily="34" charset="-120"/>
              </a:rPr>
              <a:t>github.com/kholostovamk/mlops-credit-scoring</a:t>
            </a:r>
            <a:endParaRPr lang="en-US" sz="1300" dirty="0"/>
          </a:p>
        </p:txBody>
      </p:sp>
      <p:sp>
        <p:nvSpPr>
          <p:cNvPr id="20" name="Text 18"/>
          <p:cNvSpPr/>
          <p:nvPr/>
        </p:nvSpPr>
        <p:spPr>
          <a:xfrm>
            <a:off x="457200" y="4572000"/>
            <a:ext cx="4114800" cy="32004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Margo Kholostova  ·  April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2606</Words>
  <Application>Microsoft Macintosh PowerPoint</Application>
  <PresentationFormat>On-screen Show (16:9)</PresentationFormat>
  <Paragraphs>274</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Credit Scoring Pipeline</dc:title>
  <dc:subject>PptxGenJS Presentation</dc:subject>
  <dc:creator>Margo Kholostova</dc:creator>
  <cp:lastModifiedBy>Margarita Kholostova</cp:lastModifiedBy>
  <cp:revision>5</cp:revision>
  <dcterms:created xsi:type="dcterms:W3CDTF">2026-04-22T02:08:26Z</dcterms:created>
  <dcterms:modified xsi:type="dcterms:W3CDTF">2026-04-22T02:21:34Z</dcterms:modified>
</cp:coreProperties>
</file>