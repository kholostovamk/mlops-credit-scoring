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Margo, and this is my MLOps final project — an end-to-end credit scoring pipeline built on DVC, MLflow, Docker, AWS SageMaker, and GitHub Actions. I'll walk through the problem, the architecture, and each major component, including two bonus elements: MLflow experiment tracking and a governance and incident response framework. The total runtime is about 13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problem is predicting whether a credit card customer will default on their next payment. I used the UCI Default of Credit Card Clients dataset from Taiwan — 30,000 customers, 23 features covering payment history, bill amounts, and demographics. About 22% of customers defaulted, which introduces a moderate class imbalance. The goal is to build a model that a bank could deploy to flag high-risk accounts before extending further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full system architecture at a glance. The main data pipeline flows left to right: ingest the raw data, validate it, train and tune the model, then evaluate results. Below that are three cross-cutting concerns that span the whole system: the CI/CD pipeline on GitHub Actions, Prometheus and Grafana monitoring with PSI-based drift detection, and the governance layer with audit logs and incident playbooks. The entire stack runs in AWS us-east-1.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has four DVC stages wired together in dvc.yaml. Stage one downloads and cleans the UCI dataset. Stage two runs schema checks, null detection, and value range validation — it exits with code 1 if anything critical fails, which blocks the rest of the pipeline. Stage three trains the XGBoost model with Optuna HPO. Stage four evaluates on the held-out test set. DVC tracks every artifact hash, so re-running only happens when inputs actually change. I used GitHub Actions artifacts to pass models between jobs since the course IAM account lacked S3 write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I used XGBoost inside a scikit-learn Pipeline with StandardScaler preprocessing. Optuna ran 20 trials with TPE sampling and 5-fold cross-validation to tune max_depth, learning rate, n_estimators, subsample, and colsample. The best trial achieved an AUC-ROC of 0.778 and overall accuracy of 82%. F1 of 0.642 reflects the class imbalance — the model trades some recall for precision. Every trial is logged to MLflow and the best model is registered to the MLflow Model Registry under the name credit-scoring-xgb.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Containerization uses a two-stage Docker build. The builder stage installs all dependencies including build tools. The runtime stage is a minimal python:3.11-slim image — only the compiled packages and source files are copied over, keeping the image lean. The model is baked directly into the image under /opt/program/models, so there's no S3 pull at inference time. The Flask server exposes two endpoints: GET /ping for SageMaker health checks, and POST /invocations which accepts JSON or CSV input and returns probabilities and binary predictions. Before pushing to ECR, GitHub Actions runs the container locally and hits /ping to confirm it starts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SageMaker deployment went through some interesting engineering. The main challenge was that the course IAM account blocked S3 writes, so I couldn't use the standard ModelDataUrl approach that points SageMaker at a model.tar.gz in S3. Instead, the model is baked into the Docker image itself. The CD pipeline creates a SageMaker Model resource pointing to the ECR image, creates an EndpointConfig, and then creates or updates the Endpoint. If the endpoint is in a Failed state from a previous run, the workflow deletes it and recreates cleanly. After deployment it polls until InService, then fires a final smoke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runs on every push to a feature branch or pull request to main. It has three jobs: flake8 linting for PEP8 compliance, pytest with 13 unit tests covering data validation logic, inference hooks, and metrics computation, and a sanity train job that runs the full pipeline on 200 rows with 5 Optuna trials to confirm nothing is broken end-to-end. CD triggers only on pushes to main and runs the three heavier jobs sequentially: full DVC pipeline repro, Docker build with local smoke test and ECR push, and finally SageMaker deployment. Total CD runtime is about 10 to 11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two bonus components. For governance, every deployed model version gets a structured audit log entry recording the model version, training date, dataset hash, best hyperparameters, all performance metrics, fairness audit results across SEX, EDUCATION, and MARRIAGE groups, the PSI baseline scores, and the approver sign-off. The incident playbook has five runbooks covering the most likely production failures: endpoint down, feature drift, concept drift and model decay, fairness violations, and CI/CD pipeline failures. Each runbook specifies detection signals, immediate response steps, escalation path, and remediation.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bonus enhancement is MLflow experiment tracking. Every Optuna trial is logged as a child run under the parent experiment — parameters, CV score, and duration. The best trial's artifacts are promoted to the parent run, and the final model is registered to the MLflow Model Registry. The second enhancement is the monitoring stack. Prometheus scrapes inference metrics every 15 seconds. Grafana has a four-panel dashboard showing requests per second, p95 latency, error rate, and drift score. The drift detector runs as a sidecar process on port 8081, maintains a rolling buffer of 1,000 recent predictions, computes PSI against the training baseline, and fires an alert when PSI exceeds 0.2, which indicates significant distribution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key lessons from this project. First, IAM constraints shaped the whole architecture — not being able to write to S3 forced the creative solution of baking the model into Docker, which actually makes the container more self-contained and portable. Second, container debugging without CloudWatch is painful — adding a local smoke test in CI was the key fix that gave us visibility into container startup failures. Third, DVC and GitHub Actions work together cleanly — using the artifacts API to pass pipeline outputs between jobs is a lightweight alternative to a full artifact store. Fourth, fairness auditing should be built in from day one, not added as an afterthought. On next steps: A/B testing with champion/challenger endpoints, auto-retraining triggered by PSI drift, a SageMaker Feature Store, and replacing the GitHub Actions CD with native SageMaker Pipelines for better lineage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pipeline delivers a 0.778 AUC-ROC baseline on a real-world credit scoring dataset, with 13 unit tests, a 4-stage DVC pipeline, and a live SageMaker endpoint deployed via fully automated CI/CD. The GitHub repo is at github.com/kholostovamk/mlops-credit-scoring and contains all source code, the DVC pipeline, Docker configuration, monitoring setup, governance documents, and the final report PDF. Thanks for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Shape 1"/>
          <p:cNvSpPr/>
          <p:nvPr/>
        </p:nvSpPr>
        <p:spPr>
          <a:xfrm>
            <a:off x="6217920" y="-914400"/>
            <a:ext cx="4754880" cy="4754880"/>
          </a:xfrm>
          <a:prstGeom prst="ellipse">
            <a:avLst/>
          </a:prstGeom>
          <a:solidFill>
            <a:srgbClr val="0D9488">
              <a:alpha val="12000"/>
            </a:srgbClr>
          </a:solidFill>
          <a:ln w="12700">
            <a:solidFill>
              <a:srgbClr val="14B8A6">
                <a:alpha val="30000"/>
              </a:srgbClr>
            </a:solidFill>
            <a:prstDash val="solid"/>
          </a:ln>
        </p:spPr>
      </p:sp>
      <p:sp>
        <p:nvSpPr>
          <p:cNvPr id="4" name="Shape 2"/>
          <p:cNvSpPr/>
          <p:nvPr/>
        </p:nvSpPr>
        <p:spPr>
          <a:xfrm>
            <a:off x="7498080" y="2926080"/>
            <a:ext cx="2560320" cy="2560320"/>
          </a:xfrm>
          <a:prstGeom prst="ellipse">
            <a:avLst/>
          </a:prstGeom>
          <a:solidFill>
            <a:srgbClr val="0D9488">
              <a:alpha val="8000"/>
            </a:srgbClr>
          </a:solidFill>
          <a:ln w="6350">
            <a:solidFill>
              <a:srgbClr val="14B8A6">
                <a:alpha val="20000"/>
              </a:srgbClr>
            </a:solidFill>
            <a:prstDash val="solid"/>
          </a:ln>
        </p:spPr>
      </p:sp>
      <p:sp>
        <p:nvSpPr>
          <p:cNvPr id="5" name="Shape 3"/>
          <p:cNvSpPr/>
          <p:nvPr/>
        </p:nvSpPr>
        <p:spPr>
          <a:xfrm>
            <a:off x="457200" y="960120"/>
            <a:ext cx="2103120" cy="347472"/>
          </a:xfrm>
          <a:prstGeom prst="rect">
            <a:avLst/>
          </a:prstGeom>
          <a:solidFill>
            <a:srgbClr val="0D9488"/>
          </a:solidFill>
          <a:ln w="12700">
            <a:solidFill>
              <a:srgbClr val="0D9488"/>
            </a:solidFill>
            <a:prstDash val="solid"/>
          </a:ln>
        </p:spPr>
      </p:sp>
      <p:sp>
        <p:nvSpPr>
          <p:cNvPr id="6" name="Text 4"/>
          <p:cNvSpPr/>
          <p:nvPr/>
        </p:nvSpPr>
        <p:spPr>
          <a:xfrm>
            <a:off x="457200" y="960120"/>
            <a:ext cx="210312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FINAL PROJECT  ·  MLOPS</a:t>
            </a:r>
            <a:endParaRPr lang="en-US" sz="900" dirty="0"/>
          </a:p>
        </p:txBody>
      </p:sp>
      <p:sp>
        <p:nvSpPr>
          <p:cNvPr id="7" name="Text 5"/>
          <p:cNvSpPr/>
          <p:nvPr/>
        </p:nvSpPr>
        <p:spPr>
          <a:xfrm>
            <a:off x="457200" y="1417320"/>
            <a:ext cx="7315200" cy="1920240"/>
          </a:xfrm>
          <a:prstGeom prst="rect">
            <a:avLst/>
          </a:prstGeom>
          <a:noFill/>
          <a:ln/>
        </p:spPr>
        <p:txBody>
          <a:bodyPr wrap="square" lIns="0" tIns="0" rIns="0" bIns="0" rtlCol="0" anchor="t"/>
          <a:lstStyle/>
          <a:p>
            <a:pPr algn="l" indent="0" marL="0">
              <a:buNone/>
            </a:pPr>
            <a:r>
              <a:rPr lang="en-US" sz="4800" b="1" dirty="0">
                <a:solidFill>
                  <a:srgbClr val="FFFFFF"/>
                </a:solidFill>
                <a:latin typeface="Georgia" pitchFamily="34" charset="0"/>
                <a:ea typeface="Georgia" pitchFamily="34" charset="-122"/>
                <a:cs typeface="Georgia" pitchFamily="34" charset="-120"/>
              </a:rPr>
              <a:t>MLOps Credit</a:t>
            </a:r>
            <a:endParaRPr lang="en-US" sz="4800" dirty="0"/>
          </a:p>
          <a:p>
            <a:pPr algn="l" indent="0" marL="0">
              <a:buNone/>
            </a:pPr>
            <a:r>
              <a:rPr lang="en-US" sz="4800" b="1" dirty="0">
                <a:solidFill>
                  <a:srgbClr val="FFFFFF"/>
                </a:solidFill>
                <a:latin typeface="Georgia" pitchFamily="34" charset="0"/>
                <a:ea typeface="Georgia" pitchFamily="34" charset="-122"/>
                <a:cs typeface="Georgia" pitchFamily="34" charset="-120"/>
              </a:rPr>
              <a:t>Scoring Pipeline</a:t>
            </a:r>
            <a:endParaRPr lang="en-US" sz="4800" dirty="0"/>
          </a:p>
        </p:txBody>
      </p:sp>
      <p:sp>
        <p:nvSpPr>
          <p:cNvPr id="8" name="Text 6"/>
          <p:cNvSpPr/>
          <p:nvPr/>
        </p:nvSpPr>
        <p:spPr>
          <a:xfrm>
            <a:off x="457200" y="3429000"/>
            <a:ext cx="7498080" cy="502920"/>
          </a:xfrm>
          <a:prstGeom prst="rect">
            <a:avLst/>
          </a:prstGeom>
          <a:noFill/>
          <a:ln/>
        </p:spPr>
        <p:txBody>
          <a:bodyPr wrap="square" lIns="0" tIns="0" rIns="0" bIns="0" rtlCol="0" anchor="ctr"/>
          <a:lstStyle/>
          <a:p>
            <a:pPr algn="l" indent="0" marL="0">
              <a:buNone/>
            </a:pPr>
            <a:r>
              <a:rPr lang="en-US" sz="1400" dirty="0">
                <a:solidFill>
                  <a:srgbClr val="14B8A6"/>
                </a:solidFill>
                <a:latin typeface="Calibri" pitchFamily="34" charset="0"/>
                <a:ea typeface="Calibri" pitchFamily="34" charset="-122"/>
                <a:cs typeface="Calibri" pitchFamily="34" charset="-120"/>
              </a:rPr>
              <a:t>End-to-End ML Engineering: Data → DVC → Train → Docker → SageMaker → Monitor</a:t>
            </a:r>
            <a:endParaRPr lang="en-US" sz="1400" dirty="0"/>
          </a:p>
        </p:txBody>
      </p:sp>
      <p:sp>
        <p:nvSpPr>
          <p:cNvPr id="9" name="Text 7"/>
          <p:cNvSpPr/>
          <p:nvPr/>
        </p:nvSpPr>
        <p:spPr>
          <a:xfrm>
            <a:off x="457200" y="4498848"/>
            <a:ext cx="4572000" cy="347472"/>
          </a:xfrm>
          <a:prstGeom prst="rect">
            <a:avLst/>
          </a:prstGeom>
          <a:noFill/>
          <a:ln/>
        </p:spPr>
        <p:txBody>
          <a:bodyPr wrap="square" lIns="0" tIns="0" rIns="0" bIns="0" rtlCol="0" anchor="ctr"/>
          <a:lstStyle/>
          <a:p>
            <a:pPr algn="l" indent="0" marL="0">
              <a:buNone/>
            </a:pPr>
            <a:r>
              <a:rPr lang="en-US" sz="1200" dirty="0">
                <a:solidFill>
                  <a:srgbClr val="64748B"/>
                </a:solidFill>
                <a:latin typeface="Calibri" pitchFamily="34" charset="0"/>
                <a:ea typeface="Calibri" pitchFamily="34" charset="-122"/>
                <a:cs typeface="Calibri" pitchFamily="34" charset="-120"/>
              </a:rPr>
              <a:t>Margo Kholostova  ·  April 2026</a:t>
            </a:r>
            <a:endParaRPr lang="en-US" sz="1200" dirty="0"/>
          </a:p>
        </p:txBody>
      </p:sp>
      <p:sp>
        <p:nvSpPr>
          <p:cNvPr id="10" name="Shape 8"/>
          <p:cNvSpPr/>
          <p:nvPr/>
        </p:nvSpPr>
        <p:spPr>
          <a:xfrm>
            <a:off x="5943600" y="4434840"/>
            <a:ext cx="2926080" cy="411480"/>
          </a:xfrm>
          <a:prstGeom prst="rect">
            <a:avLst/>
          </a:prstGeom>
          <a:solidFill>
            <a:srgbClr val="1E3A5F"/>
          </a:solidFill>
          <a:ln w="12700">
            <a:solidFill>
              <a:srgbClr val="0D9488"/>
            </a:solidFill>
            <a:prstDash val="solid"/>
          </a:ln>
        </p:spPr>
      </p:sp>
      <p:sp>
        <p:nvSpPr>
          <p:cNvPr id="11" name="Text 9"/>
          <p:cNvSpPr/>
          <p:nvPr/>
        </p:nvSpPr>
        <p:spPr>
          <a:xfrm>
            <a:off x="5943600" y="4434840"/>
            <a:ext cx="2926080" cy="411480"/>
          </a:xfrm>
          <a:prstGeom prst="rect">
            <a:avLst/>
          </a:prstGeom>
          <a:noFill/>
          <a:ln/>
        </p:spPr>
        <p:txBody>
          <a:bodyPr wrap="square" lIns="0" tIns="0" rIns="0" bIns="0" rtlCol="0" anchor="ctr"/>
          <a:lstStyle/>
          <a:p>
            <a:pPr algn="ctr" indent="0" marL="0">
              <a:buNone/>
            </a:pPr>
            <a:r>
              <a:rPr lang="en-US" sz="900" dirty="0">
                <a:solidFill>
                  <a:srgbClr val="14B8A6"/>
                </a:solidFill>
                <a:latin typeface="Calibri" pitchFamily="34" charset="0"/>
                <a:ea typeface="Calibri" pitchFamily="34" charset="-122"/>
                <a:cs typeface="Calibri" pitchFamily="34" charset="-120"/>
              </a:rPr>
              <a:t>github.com/kholostovamk/mlops-credit-scoring</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B2A4A"/>
          </a:solidFill>
          <a:ln w="12700">
            <a:solidFill>
              <a:srgbClr val="1B2A4A"/>
            </a:solidFill>
            <a:prstDash val="solid"/>
          </a:ln>
        </p:spPr>
      </p:sp>
      <p:sp>
        <p:nvSpPr>
          <p:cNvPr id="3" name="Shape 1"/>
          <p:cNvSpPr/>
          <p:nvPr/>
        </p:nvSpPr>
        <p:spPr>
          <a:xfrm>
            <a:off x="0" y="1005840"/>
            <a:ext cx="9144000" cy="54864"/>
          </a:xfrm>
          <a:prstGeom prst="rect">
            <a:avLst/>
          </a:prstGeom>
          <a:solidFill>
            <a:srgbClr val="0D9488"/>
          </a:solidFill>
          <a:ln w="12700">
            <a:solidFill>
              <a:srgbClr val="0D9488"/>
            </a:solidFill>
            <a:prstDash val="solid"/>
          </a:ln>
        </p:spPr>
      </p:sp>
      <p:sp>
        <p:nvSpPr>
          <p:cNvPr id="4" name="Text 2"/>
          <p:cNvSpPr/>
          <p:nvPr/>
        </p:nvSpPr>
        <p:spPr>
          <a:xfrm>
            <a:off x="365760" y="0"/>
            <a:ext cx="8412480" cy="100584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01  Introduction &amp; Problem Statement</a:t>
            </a:r>
            <a:endParaRPr lang="en-US" sz="2600" dirty="0"/>
          </a:p>
        </p:txBody>
      </p:sp>
      <p:sp>
        <p:nvSpPr>
          <p:cNvPr id="5" name="Shape 3"/>
          <p:cNvSpPr/>
          <p:nvPr/>
        </p:nvSpPr>
        <p:spPr>
          <a:xfrm>
            <a:off x="320040" y="1234440"/>
            <a:ext cx="5029200" cy="356616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6" name="Shape 4"/>
          <p:cNvSpPr/>
          <p:nvPr/>
        </p:nvSpPr>
        <p:spPr>
          <a:xfrm>
            <a:off x="320040" y="1234440"/>
            <a:ext cx="5029200" cy="73152"/>
          </a:xfrm>
          <a:prstGeom prst="rect">
            <a:avLst/>
          </a:prstGeom>
          <a:solidFill>
            <a:srgbClr val="1B2A4A"/>
          </a:solidFill>
          <a:ln w="12700">
            <a:solidFill>
              <a:srgbClr val="1B2A4A"/>
            </a:solidFill>
            <a:prstDash val="solid"/>
          </a:ln>
        </p:spPr>
      </p:sp>
      <p:sp>
        <p:nvSpPr>
          <p:cNvPr id="7" name="Shape 5"/>
          <p:cNvSpPr/>
          <p:nvPr/>
        </p:nvSpPr>
        <p:spPr>
          <a:xfrm>
            <a:off x="320040" y="1234440"/>
            <a:ext cx="91440" cy="3566160"/>
          </a:xfrm>
          <a:prstGeom prst="rect">
            <a:avLst/>
          </a:prstGeom>
          <a:solidFill>
            <a:srgbClr val="0D9488"/>
          </a:solidFill>
          <a:ln w="12700">
            <a:solidFill>
              <a:srgbClr val="0D9488"/>
            </a:solidFill>
            <a:prstDash val="solid"/>
          </a:ln>
        </p:spPr>
      </p:sp>
      <p:sp>
        <p:nvSpPr>
          <p:cNvPr id="8" name="Text 6"/>
          <p:cNvSpPr/>
          <p:nvPr/>
        </p:nvSpPr>
        <p:spPr>
          <a:xfrm>
            <a:off x="548640" y="1389888"/>
            <a:ext cx="4663440" cy="384048"/>
          </a:xfrm>
          <a:prstGeom prst="rect">
            <a:avLst/>
          </a:prstGeom>
          <a:noFill/>
          <a:ln/>
        </p:spPr>
        <p:txBody>
          <a:bodyPr wrap="square" lIns="0" tIns="0" rIns="0" bIns="0" rtlCol="0" anchor="ctr"/>
          <a:lstStyle/>
          <a:p>
            <a:pPr algn="l" indent="0" marL="0">
              <a:buNone/>
            </a:pPr>
            <a:r>
              <a:rPr lang="en-US" sz="1600" b="1" dirty="0">
                <a:solidFill>
                  <a:srgbClr val="1B2A4A"/>
                </a:solidFill>
                <a:latin typeface="Georgia" pitchFamily="34" charset="0"/>
                <a:ea typeface="Georgia" pitchFamily="34" charset="-122"/>
                <a:cs typeface="Georgia" pitchFamily="34" charset="-120"/>
              </a:rPr>
              <a:t>The Problem</a:t>
            </a:r>
            <a:endParaRPr lang="en-US" sz="1600" dirty="0"/>
          </a:p>
        </p:txBody>
      </p:sp>
      <p:sp>
        <p:nvSpPr>
          <p:cNvPr id="9" name="Text 7"/>
          <p:cNvSpPr/>
          <p:nvPr/>
        </p:nvSpPr>
        <p:spPr>
          <a:xfrm>
            <a:off x="548640" y="1828800"/>
            <a:ext cx="4572000" cy="777240"/>
          </a:xfrm>
          <a:prstGeom prst="rect">
            <a:avLst/>
          </a:prstGeom>
          <a:noFill/>
          <a:ln/>
        </p:spPr>
        <p:txBody>
          <a:bodyPr wrap="square" lIns="0" tIns="0" rIns="0" bIns="0" rtlCol="0" anchor="ctr"/>
          <a:lstStyle/>
          <a:p>
            <a:pPr algn="l" indent="0" marL="0">
              <a:buNone/>
            </a:pPr>
            <a:r>
              <a:rPr lang="en-US" sz="1250" dirty="0">
                <a:solidFill>
                  <a:srgbClr val="1E293B"/>
                </a:solidFill>
                <a:latin typeface="Calibri" pitchFamily="34" charset="0"/>
                <a:ea typeface="Calibri" pitchFamily="34" charset="-122"/>
                <a:cs typeface="Calibri" pitchFamily="34" charset="-120"/>
              </a:rPr>
              <a:t>Financial institutions must predict credit card default risk before extending credit. Late or missed payments cost billions annually in write-offs and provisioning costs.</a:t>
            </a:r>
            <a:endParaRPr lang="en-US" sz="1250" dirty="0"/>
          </a:p>
        </p:txBody>
      </p:sp>
      <p:sp>
        <p:nvSpPr>
          <p:cNvPr id="10" name="Text 8"/>
          <p:cNvSpPr/>
          <p:nvPr/>
        </p:nvSpPr>
        <p:spPr>
          <a:xfrm>
            <a:off x="548640" y="2697480"/>
            <a:ext cx="4572000" cy="347472"/>
          </a:xfrm>
          <a:prstGeom prst="rect">
            <a:avLst/>
          </a:prstGeom>
          <a:noFill/>
          <a:ln/>
        </p:spPr>
        <p:txBody>
          <a:bodyPr wrap="square" lIns="0" tIns="0" rIns="0" bIns="0" rtlCol="0" anchor="ctr"/>
          <a:lstStyle/>
          <a:p>
            <a:pPr indent="0" marL="0">
              <a:buNone/>
            </a:pPr>
            <a:r>
              <a:rPr lang="en-US" sz="1400" b="1" dirty="0">
                <a:solidFill>
                  <a:srgbClr val="1B2A4A"/>
                </a:solidFill>
                <a:latin typeface="Georgia" pitchFamily="34" charset="0"/>
                <a:ea typeface="Georgia" pitchFamily="34" charset="-122"/>
                <a:cs typeface="Georgia" pitchFamily="34" charset="-120"/>
              </a:rPr>
              <a:t>Dataset</a:t>
            </a:r>
            <a:endParaRPr lang="en-US" sz="1400" dirty="0"/>
          </a:p>
        </p:txBody>
      </p:sp>
      <p:sp>
        <p:nvSpPr>
          <p:cNvPr id="11" name="Text 9"/>
          <p:cNvSpPr/>
          <p:nvPr/>
        </p:nvSpPr>
        <p:spPr>
          <a:xfrm>
            <a:off x="548640" y="3090672"/>
            <a:ext cx="4572000" cy="1508760"/>
          </a:xfrm>
          <a:prstGeom prst="rect">
            <a:avLst/>
          </a:prstGeom>
          <a:noFill/>
          <a:ln/>
        </p:spPr>
        <p:txBody>
          <a:bodyPr wrap="square" lIns="0" tIns="0" rIns="0" bIns="0" rtlCol="0" anchor="ctr"/>
          <a:lstStyle/>
          <a:p>
            <a:pPr algn="l" indent="0" marL="0">
              <a:buNone/>
            </a:pPr>
            <a:r>
              <a:rPr lang="en-US" sz="1200" b="1" dirty="0">
                <a:solidFill>
                  <a:srgbClr val="1E293B"/>
                </a:solidFill>
                <a:latin typeface="Calibri" pitchFamily="34" charset="0"/>
                <a:ea typeface="Calibri" pitchFamily="34" charset="-122"/>
                <a:cs typeface="Calibri" pitchFamily="34" charset="-120"/>
              </a:rPr>
              <a:t>UCI Default of Credit Card Clients</a:t>
            </a:r>
            <a:endParaRPr lang="en-US" sz="1200" dirty="0"/>
          </a:p>
          <a:p>
            <a:pPr algn="l" indent="0" marL="0">
              <a:buNone/>
            </a:pPr>
            <a:r>
              <a:rPr lang="en-US" sz="1200" dirty="0">
                <a:solidFill>
                  <a:srgbClr val="1E293B"/>
                </a:solidFill>
                <a:latin typeface="Calibri" pitchFamily="34" charset="0"/>
                <a:ea typeface="Calibri" pitchFamily="34" charset="-122"/>
                <a:cs typeface="Calibri" pitchFamily="34" charset="-120"/>
              </a:rPr>
              <a:t>Taiwan bank, 2005  ·  Target: will this customer default next month?</a:t>
            </a:r>
            <a:endParaRPr lang="en-US" sz="1200" dirty="0"/>
          </a:p>
          <a:p>
            <a:pPr algn="l" indent="0" marL="0">
              <a:buNone/>
            </a:pPr>
            <a:endParaRPr lang="en-US" sz="1200" dirty="0"/>
          </a:p>
          <a:p>
            <a:pPr algn="l" indent="0" marL="0">
              <a:buNone/>
            </a:pPr>
            <a:r>
              <a:rPr lang="en-US" sz="1200" dirty="0">
                <a:solidFill>
                  <a:srgbClr val="1E293B"/>
                </a:solidFill>
                <a:latin typeface="Calibri" pitchFamily="34" charset="0"/>
                <a:ea typeface="Calibri" pitchFamily="34" charset="-122"/>
                <a:cs typeface="Calibri" pitchFamily="34" charset="-120"/>
              </a:rPr>
              <a:t>Features: payment history, bill amounts, demographics (23 total)</a:t>
            </a:r>
            <a:endParaRPr lang="en-US" sz="1200" dirty="0"/>
          </a:p>
        </p:txBody>
      </p:sp>
      <p:sp>
        <p:nvSpPr>
          <p:cNvPr id="12" name="Shape 10"/>
          <p:cNvSpPr/>
          <p:nvPr/>
        </p:nvSpPr>
        <p:spPr>
          <a:xfrm>
            <a:off x="5623560" y="1234440"/>
            <a:ext cx="3200400" cy="1042416"/>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13" name="Shape 11"/>
          <p:cNvSpPr/>
          <p:nvPr/>
        </p:nvSpPr>
        <p:spPr>
          <a:xfrm>
            <a:off x="5623560" y="1234440"/>
            <a:ext cx="3200400" cy="64008"/>
          </a:xfrm>
          <a:prstGeom prst="rect">
            <a:avLst/>
          </a:prstGeom>
          <a:solidFill>
            <a:srgbClr val="0D9488"/>
          </a:solidFill>
          <a:ln w="12700">
            <a:solidFill>
              <a:srgbClr val="0D9488"/>
            </a:solidFill>
            <a:prstDash val="solid"/>
          </a:ln>
        </p:spPr>
      </p:sp>
      <p:sp>
        <p:nvSpPr>
          <p:cNvPr id="14" name="Text 12"/>
          <p:cNvSpPr/>
          <p:nvPr/>
        </p:nvSpPr>
        <p:spPr>
          <a:xfrm>
            <a:off x="5623560" y="1307592"/>
            <a:ext cx="3200400" cy="594360"/>
          </a:xfrm>
          <a:prstGeom prst="rect">
            <a:avLst/>
          </a:prstGeom>
          <a:noFill/>
          <a:ln/>
        </p:spPr>
        <p:txBody>
          <a:bodyPr wrap="square" lIns="0" tIns="0" rIns="0" bIns="0" rtlCol="0" anchor="ctr"/>
          <a:lstStyle/>
          <a:p>
            <a:pPr algn="ctr" indent="0" marL="0">
              <a:buNone/>
            </a:pPr>
            <a:r>
              <a:rPr lang="en-US" sz="3600" b="1" dirty="0">
                <a:solidFill>
                  <a:srgbClr val="0D9488"/>
                </a:solidFill>
                <a:latin typeface="Georgia" pitchFamily="34" charset="0"/>
                <a:ea typeface="Georgia" pitchFamily="34" charset="-122"/>
                <a:cs typeface="Georgia" pitchFamily="34" charset="-120"/>
              </a:rPr>
              <a:t>30,000</a:t>
            </a:r>
            <a:endParaRPr lang="en-US" sz="3600" dirty="0"/>
          </a:p>
        </p:txBody>
      </p:sp>
      <p:sp>
        <p:nvSpPr>
          <p:cNvPr id="15" name="Text 13"/>
          <p:cNvSpPr/>
          <p:nvPr/>
        </p:nvSpPr>
        <p:spPr>
          <a:xfrm>
            <a:off x="5623560" y="1901952"/>
            <a:ext cx="320040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Customer Records</a:t>
            </a:r>
            <a:endParaRPr lang="en-US" sz="1100" dirty="0"/>
          </a:p>
        </p:txBody>
      </p:sp>
      <p:sp>
        <p:nvSpPr>
          <p:cNvPr id="16" name="Shape 14"/>
          <p:cNvSpPr/>
          <p:nvPr/>
        </p:nvSpPr>
        <p:spPr>
          <a:xfrm>
            <a:off x="5623560" y="2404872"/>
            <a:ext cx="3200400" cy="1042416"/>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17" name="Shape 15"/>
          <p:cNvSpPr/>
          <p:nvPr/>
        </p:nvSpPr>
        <p:spPr>
          <a:xfrm>
            <a:off x="5623560" y="2404872"/>
            <a:ext cx="3200400" cy="64008"/>
          </a:xfrm>
          <a:prstGeom prst="rect">
            <a:avLst/>
          </a:prstGeom>
          <a:solidFill>
            <a:srgbClr val="1B2A4A"/>
          </a:solidFill>
          <a:ln w="12700">
            <a:solidFill>
              <a:srgbClr val="1B2A4A"/>
            </a:solidFill>
            <a:prstDash val="solid"/>
          </a:ln>
        </p:spPr>
      </p:sp>
      <p:sp>
        <p:nvSpPr>
          <p:cNvPr id="18" name="Text 16"/>
          <p:cNvSpPr/>
          <p:nvPr/>
        </p:nvSpPr>
        <p:spPr>
          <a:xfrm>
            <a:off x="5623560" y="2478024"/>
            <a:ext cx="3200400" cy="594360"/>
          </a:xfrm>
          <a:prstGeom prst="rect">
            <a:avLst/>
          </a:prstGeom>
          <a:noFill/>
          <a:ln/>
        </p:spPr>
        <p:txBody>
          <a:bodyPr wrap="square" lIns="0" tIns="0" rIns="0" bIns="0" rtlCol="0" anchor="ctr"/>
          <a:lstStyle/>
          <a:p>
            <a:pPr algn="ctr" indent="0" marL="0">
              <a:buNone/>
            </a:pPr>
            <a:r>
              <a:rPr lang="en-US" sz="3600" b="1" dirty="0">
                <a:solidFill>
                  <a:srgbClr val="1B2A4A"/>
                </a:solidFill>
                <a:latin typeface="Georgia" pitchFamily="34" charset="0"/>
                <a:ea typeface="Georgia" pitchFamily="34" charset="-122"/>
                <a:cs typeface="Georgia" pitchFamily="34" charset="-120"/>
              </a:rPr>
              <a:t>23</a:t>
            </a:r>
            <a:endParaRPr lang="en-US" sz="3600" dirty="0"/>
          </a:p>
        </p:txBody>
      </p:sp>
      <p:sp>
        <p:nvSpPr>
          <p:cNvPr id="19" name="Text 17"/>
          <p:cNvSpPr/>
          <p:nvPr/>
        </p:nvSpPr>
        <p:spPr>
          <a:xfrm>
            <a:off x="5623560" y="3072384"/>
            <a:ext cx="320040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Input Features</a:t>
            </a:r>
            <a:endParaRPr lang="en-US" sz="1100" dirty="0"/>
          </a:p>
        </p:txBody>
      </p:sp>
      <p:sp>
        <p:nvSpPr>
          <p:cNvPr id="20" name="Shape 18"/>
          <p:cNvSpPr/>
          <p:nvPr/>
        </p:nvSpPr>
        <p:spPr>
          <a:xfrm>
            <a:off x="5623560" y="3575304"/>
            <a:ext cx="3200400" cy="1042416"/>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21" name="Shape 19"/>
          <p:cNvSpPr/>
          <p:nvPr/>
        </p:nvSpPr>
        <p:spPr>
          <a:xfrm>
            <a:off x="5623560" y="3575304"/>
            <a:ext cx="3200400" cy="64008"/>
          </a:xfrm>
          <a:prstGeom prst="rect">
            <a:avLst/>
          </a:prstGeom>
          <a:solidFill>
            <a:srgbClr val="B45309"/>
          </a:solidFill>
          <a:ln w="12700">
            <a:solidFill>
              <a:srgbClr val="B45309"/>
            </a:solidFill>
            <a:prstDash val="solid"/>
          </a:ln>
        </p:spPr>
      </p:sp>
      <p:sp>
        <p:nvSpPr>
          <p:cNvPr id="22" name="Text 20"/>
          <p:cNvSpPr/>
          <p:nvPr/>
        </p:nvSpPr>
        <p:spPr>
          <a:xfrm>
            <a:off x="5623560" y="3648456"/>
            <a:ext cx="3200400" cy="594360"/>
          </a:xfrm>
          <a:prstGeom prst="rect">
            <a:avLst/>
          </a:prstGeom>
          <a:noFill/>
          <a:ln/>
        </p:spPr>
        <p:txBody>
          <a:bodyPr wrap="square" lIns="0" tIns="0" rIns="0" bIns="0" rtlCol="0" anchor="ctr"/>
          <a:lstStyle/>
          <a:p>
            <a:pPr algn="ctr" indent="0" marL="0">
              <a:buNone/>
            </a:pPr>
            <a:r>
              <a:rPr lang="en-US" sz="3600" b="1" dirty="0">
                <a:solidFill>
                  <a:srgbClr val="B45309"/>
                </a:solidFill>
                <a:latin typeface="Georgia" pitchFamily="34" charset="0"/>
                <a:ea typeface="Georgia" pitchFamily="34" charset="-122"/>
                <a:cs typeface="Georgia" pitchFamily="34" charset="-120"/>
              </a:rPr>
              <a:t>22.1%</a:t>
            </a:r>
            <a:endParaRPr lang="en-US" sz="3600" dirty="0"/>
          </a:p>
        </p:txBody>
      </p:sp>
      <p:sp>
        <p:nvSpPr>
          <p:cNvPr id="23" name="Text 21"/>
          <p:cNvSpPr/>
          <p:nvPr/>
        </p:nvSpPr>
        <p:spPr>
          <a:xfrm>
            <a:off x="5623560" y="4242816"/>
            <a:ext cx="320040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Default Rate (imbalanced)</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w="12700">
            <a:solidFill>
              <a:srgbClr val="0D9488"/>
            </a:solidFill>
            <a:prstDash val="solid"/>
          </a:ln>
        </p:spPr>
      </p:sp>
      <p:sp>
        <p:nvSpPr>
          <p:cNvPr id="3" name="Text 1"/>
          <p:cNvSpPr/>
          <p:nvPr/>
        </p:nvSpPr>
        <p:spPr>
          <a:xfrm>
            <a:off x="365760" y="109728"/>
            <a:ext cx="8412480" cy="749808"/>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02  System Architecture</a:t>
            </a:r>
            <a:endParaRPr lang="en-US" sz="2600" dirty="0"/>
          </a:p>
        </p:txBody>
      </p:sp>
      <p:sp>
        <p:nvSpPr>
          <p:cNvPr id="4" name="Shape 2"/>
          <p:cNvSpPr/>
          <p:nvPr/>
        </p:nvSpPr>
        <p:spPr>
          <a:xfrm>
            <a:off x="374904" y="1005840"/>
            <a:ext cx="1261872" cy="1508760"/>
          </a:xfrm>
          <a:prstGeom prst="rect">
            <a:avLst/>
          </a:prstGeom>
          <a:solidFill>
            <a:srgbClr val="0D9488">
              <a:alpha val="85000"/>
            </a:srgbClr>
          </a:solidFill>
          <a:ln w="25400">
            <a:solidFill>
              <a:srgbClr val="0D9488"/>
            </a:solidFill>
            <a:prstDash val="solid"/>
          </a:ln>
        </p:spPr>
      </p:sp>
      <p:sp>
        <p:nvSpPr>
          <p:cNvPr id="5" name="Text 3"/>
          <p:cNvSpPr/>
          <p:nvPr/>
        </p:nvSpPr>
        <p:spPr>
          <a:xfrm>
            <a:off x="374904" y="1115568"/>
            <a:ext cx="1261872"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Data</a:t>
            </a:r>
            <a:endParaRPr lang="en-US" sz="1200" dirty="0"/>
          </a:p>
          <a:p>
            <a:pPr algn="ctr" indent="0" marL="0">
              <a:buNone/>
            </a:pPr>
            <a:r>
              <a:rPr lang="en-US" sz="1200" b="1" dirty="0">
                <a:solidFill>
                  <a:srgbClr val="FFFFFF"/>
                </a:solidFill>
                <a:latin typeface="Georgia" pitchFamily="34" charset="0"/>
                <a:ea typeface="Georgia" pitchFamily="34" charset="-122"/>
                <a:cs typeface="Georgia" pitchFamily="34" charset="-120"/>
              </a:rPr>
              <a:t>Ingestion</a:t>
            </a:r>
            <a:endParaRPr lang="en-US" sz="1200" dirty="0"/>
          </a:p>
        </p:txBody>
      </p:sp>
      <p:sp>
        <p:nvSpPr>
          <p:cNvPr id="6" name="Shape 4"/>
          <p:cNvSpPr/>
          <p:nvPr/>
        </p:nvSpPr>
        <p:spPr>
          <a:xfrm>
            <a:off x="539496" y="1828800"/>
            <a:ext cx="932688" cy="0"/>
          </a:xfrm>
          <a:prstGeom prst="line">
            <a:avLst/>
          </a:prstGeom>
          <a:noFill/>
          <a:ln w="6350">
            <a:solidFill>
              <a:srgbClr val="FFFFFF">
                <a:alpha val="40000"/>
              </a:srgbClr>
            </a:solidFill>
            <a:prstDash val="solid"/>
          </a:ln>
        </p:spPr>
      </p:sp>
      <p:sp>
        <p:nvSpPr>
          <p:cNvPr id="7" name="Text 5"/>
          <p:cNvSpPr/>
          <p:nvPr/>
        </p:nvSpPr>
        <p:spPr>
          <a:xfrm>
            <a:off x="374904" y="1883664"/>
            <a:ext cx="1261872" cy="566928"/>
          </a:xfrm>
          <a:prstGeom prst="rect">
            <a:avLst/>
          </a:prstGeom>
          <a:noFill/>
          <a:ln/>
        </p:spPr>
        <p:txBody>
          <a:bodyPr wrap="square" lIns="0" tIns="0" rIns="0" bIns="0" rtlCol="0" anchor="ctr"/>
          <a:lstStyle/>
          <a:p>
            <a:pPr algn="ctr" indent="0" marL="0">
              <a:buNone/>
            </a:pPr>
            <a:r>
              <a:rPr lang="en-US" sz="950" dirty="0">
                <a:solidFill>
                  <a:srgbClr val="CCFBF1"/>
                </a:solidFill>
                <a:latin typeface="Calibri" pitchFamily="34" charset="0"/>
                <a:ea typeface="Calibri" pitchFamily="34" charset="-122"/>
                <a:cs typeface="Calibri" pitchFamily="34" charset="-120"/>
              </a:rPr>
              <a:t>UCI API</a:t>
            </a:r>
            <a:endParaRPr lang="en-US" sz="950" dirty="0"/>
          </a:p>
          <a:p>
            <a:pPr algn="ctr" indent="0" marL="0">
              <a:buNone/>
            </a:pPr>
            <a:r>
              <a:rPr lang="en-US" sz="950" dirty="0">
                <a:solidFill>
                  <a:srgbClr val="CCFBF1"/>
                </a:solidFill>
                <a:latin typeface="Calibri" pitchFamily="34" charset="0"/>
                <a:ea typeface="Calibri" pitchFamily="34" charset="-122"/>
                <a:cs typeface="Calibri" pitchFamily="34" charset="-120"/>
              </a:rPr>
              <a:t>DVC Cache</a:t>
            </a:r>
            <a:endParaRPr lang="en-US" sz="950" dirty="0"/>
          </a:p>
        </p:txBody>
      </p:sp>
      <p:sp>
        <p:nvSpPr>
          <p:cNvPr id="8" name="Shape 6"/>
          <p:cNvSpPr/>
          <p:nvPr/>
        </p:nvSpPr>
        <p:spPr>
          <a:xfrm>
            <a:off x="1636776" y="1760220"/>
            <a:ext cx="164592" cy="0"/>
          </a:xfrm>
          <a:prstGeom prst="line">
            <a:avLst/>
          </a:prstGeom>
          <a:noFill/>
          <a:ln w="25400">
            <a:solidFill>
              <a:srgbClr val="14B8A6"/>
            </a:solidFill>
            <a:prstDash val="solid"/>
          </a:ln>
        </p:spPr>
      </p:sp>
      <p:sp>
        <p:nvSpPr>
          <p:cNvPr id="9" name="Shape 7"/>
          <p:cNvSpPr/>
          <p:nvPr/>
        </p:nvSpPr>
        <p:spPr>
          <a:xfrm>
            <a:off x="1801368" y="1005840"/>
            <a:ext cx="1261872" cy="1508760"/>
          </a:xfrm>
          <a:prstGeom prst="rect">
            <a:avLst/>
          </a:prstGeom>
          <a:solidFill>
            <a:srgbClr val="0891B2">
              <a:alpha val="85000"/>
            </a:srgbClr>
          </a:solidFill>
          <a:ln w="25400">
            <a:solidFill>
              <a:srgbClr val="0891B2"/>
            </a:solidFill>
            <a:prstDash val="solid"/>
          </a:ln>
        </p:spPr>
      </p:sp>
      <p:sp>
        <p:nvSpPr>
          <p:cNvPr id="10" name="Text 8"/>
          <p:cNvSpPr/>
          <p:nvPr/>
        </p:nvSpPr>
        <p:spPr>
          <a:xfrm>
            <a:off x="1801368" y="1115568"/>
            <a:ext cx="1261872"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Validate</a:t>
            </a:r>
            <a:endParaRPr lang="en-US" sz="1200" dirty="0"/>
          </a:p>
          <a:p>
            <a:pPr algn="ctr" indent="0" marL="0">
              <a:buNone/>
            </a:pPr>
            <a:r>
              <a:rPr lang="en-US" sz="1200" b="1" dirty="0">
                <a:solidFill>
                  <a:srgbClr val="FFFFFF"/>
                </a:solidFill>
                <a:latin typeface="Georgia" pitchFamily="34" charset="0"/>
                <a:ea typeface="Georgia" pitchFamily="34" charset="-122"/>
                <a:cs typeface="Georgia" pitchFamily="34" charset="-120"/>
              </a:rPr>
              <a:t>&amp; Version</a:t>
            </a:r>
            <a:endParaRPr lang="en-US" sz="1200" dirty="0"/>
          </a:p>
        </p:txBody>
      </p:sp>
      <p:sp>
        <p:nvSpPr>
          <p:cNvPr id="11" name="Shape 9"/>
          <p:cNvSpPr/>
          <p:nvPr/>
        </p:nvSpPr>
        <p:spPr>
          <a:xfrm>
            <a:off x="1965960" y="1828800"/>
            <a:ext cx="932688" cy="0"/>
          </a:xfrm>
          <a:prstGeom prst="line">
            <a:avLst/>
          </a:prstGeom>
          <a:noFill/>
          <a:ln w="6350">
            <a:solidFill>
              <a:srgbClr val="FFFFFF">
                <a:alpha val="40000"/>
              </a:srgbClr>
            </a:solidFill>
            <a:prstDash val="solid"/>
          </a:ln>
        </p:spPr>
      </p:sp>
      <p:sp>
        <p:nvSpPr>
          <p:cNvPr id="12" name="Text 10"/>
          <p:cNvSpPr/>
          <p:nvPr/>
        </p:nvSpPr>
        <p:spPr>
          <a:xfrm>
            <a:off x="1801368" y="1883664"/>
            <a:ext cx="1261872" cy="566928"/>
          </a:xfrm>
          <a:prstGeom prst="rect">
            <a:avLst/>
          </a:prstGeom>
          <a:noFill/>
          <a:ln/>
        </p:spPr>
        <p:txBody>
          <a:bodyPr wrap="square" lIns="0" tIns="0" rIns="0" bIns="0" rtlCol="0" anchor="ctr"/>
          <a:lstStyle/>
          <a:p>
            <a:pPr algn="ctr" indent="0" marL="0">
              <a:buNone/>
            </a:pPr>
            <a:r>
              <a:rPr lang="en-US" sz="950" dirty="0">
                <a:solidFill>
                  <a:srgbClr val="CCFBF1"/>
                </a:solidFill>
                <a:latin typeface="Calibri" pitchFamily="34" charset="0"/>
                <a:ea typeface="Calibri" pitchFamily="34" charset="-122"/>
                <a:cs typeface="Calibri" pitchFamily="34" charset="-120"/>
              </a:rPr>
              <a:t>Schema Checks</a:t>
            </a:r>
            <a:endParaRPr lang="en-US" sz="950" dirty="0"/>
          </a:p>
          <a:p>
            <a:pPr algn="ctr" indent="0" marL="0">
              <a:buNone/>
            </a:pPr>
            <a:r>
              <a:rPr lang="en-US" sz="950" dirty="0">
                <a:solidFill>
                  <a:srgbClr val="CCFBF1"/>
                </a:solidFill>
                <a:latin typeface="Calibri" pitchFamily="34" charset="0"/>
                <a:ea typeface="Calibri" pitchFamily="34" charset="-122"/>
                <a:cs typeface="Calibri" pitchFamily="34" charset="-120"/>
              </a:rPr>
              <a:t>DVC Stage</a:t>
            </a:r>
            <a:endParaRPr lang="en-US" sz="950" dirty="0"/>
          </a:p>
        </p:txBody>
      </p:sp>
      <p:sp>
        <p:nvSpPr>
          <p:cNvPr id="13" name="Shape 11"/>
          <p:cNvSpPr/>
          <p:nvPr/>
        </p:nvSpPr>
        <p:spPr>
          <a:xfrm>
            <a:off x="3063240" y="1760220"/>
            <a:ext cx="164592" cy="0"/>
          </a:xfrm>
          <a:prstGeom prst="line">
            <a:avLst/>
          </a:prstGeom>
          <a:noFill/>
          <a:ln w="25400">
            <a:solidFill>
              <a:srgbClr val="14B8A6"/>
            </a:solidFill>
            <a:prstDash val="solid"/>
          </a:ln>
        </p:spPr>
      </p:sp>
      <p:sp>
        <p:nvSpPr>
          <p:cNvPr id="14" name="Shape 12"/>
          <p:cNvSpPr/>
          <p:nvPr/>
        </p:nvSpPr>
        <p:spPr>
          <a:xfrm>
            <a:off x="3227832" y="1005840"/>
            <a:ext cx="1261872" cy="1508760"/>
          </a:xfrm>
          <a:prstGeom prst="rect">
            <a:avLst/>
          </a:prstGeom>
          <a:solidFill>
            <a:srgbClr val="0D9488">
              <a:alpha val="85000"/>
            </a:srgbClr>
          </a:solidFill>
          <a:ln w="25400">
            <a:solidFill>
              <a:srgbClr val="0D9488"/>
            </a:solidFill>
            <a:prstDash val="solid"/>
          </a:ln>
        </p:spPr>
      </p:sp>
      <p:sp>
        <p:nvSpPr>
          <p:cNvPr id="15" name="Text 13"/>
          <p:cNvSpPr/>
          <p:nvPr/>
        </p:nvSpPr>
        <p:spPr>
          <a:xfrm>
            <a:off x="3227832" y="1115568"/>
            <a:ext cx="1261872"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Train &amp;</a:t>
            </a:r>
            <a:endParaRPr lang="en-US" sz="1200" dirty="0"/>
          </a:p>
          <a:p>
            <a:pPr algn="ctr" indent="0" marL="0">
              <a:buNone/>
            </a:pPr>
            <a:r>
              <a:rPr lang="en-US" sz="1200" b="1" dirty="0">
                <a:solidFill>
                  <a:srgbClr val="FFFFFF"/>
                </a:solidFill>
                <a:latin typeface="Georgia" pitchFamily="34" charset="0"/>
                <a:ea typeface="Georgia" pitchFamily="34" charset="-122"/>
                <a:cs typeface="Georgia" pitchFamily="34" charset="-120"/>
              </a:rPr>
              <a:t>Tune</a:t>
            </a:r>
            <a:endParaRPr lang="en-US" sz="1200" dirty="0"/>
          </a:p>
        </p:txBody>
      </p:sp>
      <p:sp>
        <p:nvSpPr>
          <p:cNvPr id="16" name="Shape 14"/>
          <p:cNvSpPr/>
          <p:nvPr/>
        </p:nvSpPr>
        <p:spPr>
          <a:xfrm>
            <a:off x="3392424" y="1828800"/>
            <a:ext cx="932688" cy="0"/>
          </a:xfrm>
          <a:prstGeom prst="line">
            <a:avLst/>
          </a:prstGeom>
          <a:noFill/>
          <a:ln w="6350">
            <a:solidFill>
              <a:srgbClr val="FFFFFF">
                <a:alpha val="40000"/>
              </a:srgbClr>
            </a:solidFill>
            <a:prstDash val="solid"/>
          </a:ln>
        </p:spPr>
      </p:sp>
      <p:sp>
        <p:nvSpPr>
          <p:cNvPr id="17" name="Text 15"/>
          <p:cNvSpPr/>
          <p:nvPr/>
        </p:nvSpPr>
        <p:spPr>
          <a:xfrm>
            <a:off x="3227832" y="1883664"/>
            <a:ext cx="1261872" cy="566928"/>
          </a:xfrm>
          <a:prstGeom prst="rect">
            <a:avLst/>
          </a:prstGeom>
          <a:noFill/>
          <a:ln/>
        </p:spPr>
        <p:txBody>
          <a:bodyPr wrap="square" lIns="0" tIns="0" rIns="0" bIns="0" rtlCol="0" anchor="ctr"/>
          <a:lstStyle/>
          <a:p>
            <a:pPr algn="ctr" indent="0" marL="0">
              <a:buNone/>
            </a:pPr>
            <a:r>
              <a:rPr lang="en-US" sz="950" dirty="0">
                <a:solidFill>
                  <a:srgbClr val="CCFBF1"/>
                </a:solidFill>
                <a:latin typeface="Calibri" pitchFamily="34" charset="0"/>
                <a:ea typeface="Calibri" pitchFamily="34" charset="-122"/>
                <a:cs typeface="Calibri" pitchFamily="34" charset="-120"/>
              </a:rPr>
              <a:t>XGBoost</a:t>
            </a:r>
            <a:endParaRPr lang="en-US" sz="950" dirty="0"/>
          </a:p>
          <a:p>
            <a:pPr algn="ctr" indent="0" marL="0">
              <a:buNone/>
            </a:pPr>
            <a:r>
              <a:rPr lang="en-US" sz="950" dirty="0">
                <a:solidFill>
                  <a:srgbClr val="CCFBF1"/>
                </a:solidFill>
                <a:latin typeface="Calibri" pitchFamily="34" charset="0"/>
                <a:ea typeface="Calibri" pitchFamily="34" charset="-122"/>
                <a:cs typeface="Calibri" pitchFamily="34" charset="-120"/>
              </a:rPr>
              <a:t>Optuna HPO</a:t>
            </a:r>
            <a:endParaRPr lang="en-US" sz="950" dirty="0"/>
          </a:p>
        </p:txBody>
      </p:sp>
      <p:sp>
        <p:nvSpPr>
          <p:cNvPr id="18" name="Shape 16"/>
          <p:cNvSpPr/>
          <p:nvPr/>
        </p:nvSpPr>
        <p:spPr>
          <a:xfrm>
            <a:off x="4489704" y="1760220"/>
            <a:ext cx="164592" cy="0"/>
          </a:xfrm>
          <a:prstGeom prst="line">
            <a:avLst/>
          </a:prstGeom>
          <a:noFill/>
          <a:ln w="25400">
            <a:solidFill>
              <a:srgbClr val="14B8A6"/>
            </a:solidFill>
            <a:prstDash val="solid"/>
          </a:ln>
        </p:spPr>
      </p:sp>
      <p:sp>
        <p:nvSpPr>
          <p:cNvPr id="19" name="Shape 17"/>
          <p:cNvSpPr/>
          <p:nvPr/>
        </p:nvSpPr>
        <p:spPr>
          <a:xfrm>
            <a:off x="4654296" y="1005840"/>
            <a:ext cx="1261872" cy="1508760"/>
          </a:xfrm>
          <a:prstGeom prst="rect">
            <a:avLst/>
          </a:prstGeom>
          <a:solidFill>
            <a:srgbClr val="0891B2">
              <a:alpha val="85000"/>
            </a:srgbClr>
          </a:solidFill>
          <a:ln w="25400">
            <a:solidFill>
              <a:srgbClr val="0891B2"/>
            </a:solidFill>
            <a:prstDash val="solid"/>
          </a:ln>
        </p:spPr>
      </p:sp>
      <p:sp>
        <p:nvSpPr>
          <p:cNvPr id="20" name="Text 18"/>
          <p:cNvSpPr/>
          <p:nvPr/>
        </p:nvSpPr>
        <p:spPr>
          <a:xfrm>
            <a:off x="4654296" y="1115568"/>
            <a:ext cx="1261872"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Evaluate</a:t>
            </a:r>
            <a:endParaRPr lang="en-US" sz="1200" dirty="0"/>
          </a:p>
          <a:p>
            <a:pPr algn="ctr" indent="0" marL="0">
              <a:buNone/>
            </a:pPr>
            <a:r>
              <a:rPr lang="en-US" sz="1200" b="1" dirty="0">
                <a:solidFill>
                  <a:srgbClr val="FFFFFF"/>
                </a:solidFill>
                <a:latin typeface="Georgia" pitchFamily="34" charset="0"/>
                <a:ea typeface="Georgia" pitchFamily="34" charset="-122"/>
                <a:cs typeface="Georgia" pitchFamily="34" charset="-120"/>
              </a:rPr>
              <a:t>&amp; Track</a:t>
            </a:r>
            <a:endParaRPr lang="en-US" sz="1200" dirty="0"/>
          </a:p>
        </p:txBody>
      </p:sp>
      <p:sp>
        <p:nvSpPr>
          <p:cNvPr id="21" name="Shape 19"/>
          <p:cNvSpPr/>
          <p:nvPr/>
        </p:nvSpPr>
        <p:spPr>
          <a:xfrm>
            <a:off x="4818888" y="1828800"/>
            <a:ext cx="932688" cy="0"/>
          </a:xfrm>
          <a:prstGeom prst="line">
            <a:avLst/>
          </a:prstGeom>
          <a:noFill/>
          <a:ln w="6350">
            <a:solidFill>
              <a:srgbClr val="FFFFFF">
                <a:alpha val="40000"/>
              </a:srgbClr>
            </a:solidFill>
            <a:prstDash val="solid"/>
          </a:ln>
        </p:spPr>
      </p:sp>
      <p:sp>
        <p:nvSpPr>
          <p:cNvPr id="22" name="Text 20"/>
          <p:cNvSpPr/>
          <p:nvPr/>
        </p:nvSpPr>
        <p:spPr>
          <a:xfrm>
            <a:off x="4654296" y="1883664"/>
            <a:ext cx="1261872" cy="566928"/>
          </a:xfrm>
          <a:prstGeom prst="rect">
            <a:avLst/>
          </a:prstGeom>
          <a:noFill/>
          <a:ln/>
        </p:spPr>
        <p:txBody>
          <a:bodyPr wrap="square" lIns="0" tIns="0" rIns="0" bIns="0" rtlCol="0" anchor="ctr"/>
          <a:lstStyle/>
          <a:p>
            <a:pPr algn="ctr" indent="0" marL="0">
              <a:buNone/>
            </a:pPr>
            <a:r>
              <a:rPr lang="en-US" sz="950" dirty="0">
                <a:solidFill>
                  <a:srgbClr val="CCFBF1"/>
                </a:solidFill>
                <a:latin typeface="Calibri" pitchFamily="34" charset="0"/>
                <a:ea typeface="Calibri" pitchFamily="34" charset="-122"/>
                <a:cs typeface="Calibri" pitchFamily="34" charset="-120"/>
              </a:rPr>
              <a:t>MLflow</a:t>
            </a:r>
            <a:endParaRPr lang="en-US" sz="950" dirty="0"/>
          </a:p>
          <a:p>
            <a:pPr algn="ctr" indent="0" marL="0">
              <a:buNone/>
            </a:pPr>
            <a:r>
              <a:rPr lang="en-US" sz="950" dirty="0">
                <a:solidFill>
                  <a:srgbClr val="CCFBF1"/>
                </a:solidFill>
                <a:latin typeface="Calibri" pitchFamily="34" charset="0"/>
                <a:ea typeface="Calibri" pitchFamily="34" charset="-122"/>
                <a:cs typeface="Calibri" pitchFamily="34" charset="-120"/>
              </a:rPr>
              <a:t>Fairness Audit</a:t>
            </a:r>
            <a:endParaRPr lang="en-US" sz="950" dirty="0"/>
          </a:p>
        </p:txBody>
      </p:sp>
      <p:sp>
        <p:nvSpPr>
          <p:cNvPr id="23" name="Shape 21"/>
          <p:cNvSpPr/>
          <p:nvPr/>
        </p:nvSpPr>
        <p:spPr>
          <a:xfrm>
            <a:off x="5916168" y="1760220"/>
            <a:ext cx="164592" cy="0"/>
          </a:xfrm>
          <a:prstGeom prst="line">
            <a:avLst/>
          </a:prstGeom>
          <a:noFill/>
          <a:ln w="25400">
            <a:solidFill>
              <a:srgbClr val="14B8A6"/>
            </a:solidFill>
            <a:prstDash val="solid"/>
          </a:ln>
        </p:spPr>
      </p:sp>
      <p:sp>
        <p:nvSpPr>
          <p:cNvPr id="24" name="Shape 22"/>
          <p:cNvSpPr/>
          <p:nvPr/>
        </p:nvSpPr>
        <p:spPr>
          <a:xfrm>
            <a:off x="6080760" y="1005840"/>
            <a:ext cx="1261872" cy="1508760"/>
          </a:xfrm>
          <a:prstGeom prst="rect">
            <a:avLst/>
          </a:prstGeom>
          <a:solidFill>
            <a:srgbClr val="0D9488">
              <a:alpha val="85000"/>
            </a:srgbClr>
          </a:solidFill>
          <a:ln w="25400">
            <a:solidFill>
              <a:srgbClr val="0D9488"/>
            </a:solidFill>
            <a:prstDash val="solid"/>
          </a:ln>
        </p:spPr>
      </p:sp>
      <p:sp>
        <p:nvSpPr>
          <p:cNvPr id="25" name="Text 23"/>
          <p:cNvSpPr/>
          <p:nvPr/>
        </p:nvSpPr>
        <p:spPr>
          <a:xfrm>
            <a:off x="6080760" y="1115568"/>
            <a:ext cx="1261872"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Docker</a:t>
            </a:r>
            <a:endParaRPr lang="en-US" sz="1200" dirty="0"/>
          </a:p>
          <a:p>
            <a:pPr algn="ctr" indent="0" marL="0">
              <a:buNone/>
            </a:pPr>
            <a:r>
              <a:rPr lang="en-US" sz="1200" b="1" dirty="0">
                <a:solidFill>
                  <a:srgbClr val="FFFFFF"/>
                </a:solidFill>
                <a:latin typeface="Georgia" pitchFamily="34" charset="0"/>
                <a:ea typeface="Georgia" pitchFamily="34" charset="-122"/>
                <a:cs typeface="Georgia" pitchFamily="34" charset="-120"/>
              </a:rPr>
              <a:t>Container</a:t>
            </a:r>
            <a:endParaRPr lang="en-US" sz="1200" dirty="0"/>
          </a:p>
        </p:txBody>
      </p:sp>
      <p:sp>
        <p:nvSpPr>
          <p:cNvPr id="26" name="Shape 24"/>
          <p:cNvSpPr/>
          <p:nvPr/>
        </p:nvSpPr>
        <p:spPr>
          <a:xfrm>
            <a:off x="6245352" y="1828800"/>
            <a:ext cx="932688" cy="0"/>
          </a:xfrm>
          <a:prstGeom prst="line">
            <a:avLst/>
          </a:prstGeom>
          <a:noFill/>
          <a:ln w="6350">
            <a:solidFill>
              <a:srgbClr val="FFFFFF">
                <a:alpha val="40000"/>
              </a:srgbClr>
            </a:solidFill>
            <a:prstDash val="solid"/>
          </a:ln>
        </p:spPr>
      </p:sp>
      <p:sp>
        <p:nvSpPr>
          <p:cNvPr id="27" name="Text 25"/>
          <p:cNvSpPr/>
          <p:nvPr/>
        </p:nvSpPr>
        <p:spPr>
          <a:xfrm>
            <a:off x="6080760" y="1883664"/>
            <a:ext cx="1261872" cy="566928"/>
          </a:xfrm>
          <a:prstGeom prst="rect">
            <a:avLst/>
          </a:prstGeom>
          <a:noFill/>
          <a:ln/>
        </p:spPr>
        <p:txBody>
          <a:bodyPr wrap="square" lIns="0" tIns="0" rIns="0" bIns="0" rtlCol="0" anchor="ctr"/>
          <a:lstStyle/>
          <a:p>
            <a:pPr algn="ctr" indent="0" marL="0">
              <a:buNone/>
            </a:pPr>
            <a:r>
              <a:rPr lang="en-US" sz="950" dirty="0">
                <a:solidFill>
                  <a:srgbClr val="CCFBF1"/>
                </a:solidFill>
                <a:latin typeface="Calibri" pitchFamily="34" charset="0"/>
                <a:ea typeface="Calibri" pitchFamily="34" charset="-122"/>
                <a:cs typeface="Calibri" pitchFamily="34" charset="-120"/>
              </a:rPr>
              <a:t>ECR</a:t>
            </a:r>
            <a:endParaRPr lang="en-US" sz="950" dirty="0"/>
          </a:p>
          <a:p>
            <a:pPr algn="ctr" indent="0" marL="0">
              <a:buNone/>
            </a:pPr>
            <a:r>
              <a:rPr lang="en-US" sz="950" dirty="0">
                <a:solidFill>
                  <a:srgbClr val="CCFBF1"/>
                </a:solidFill>
                <a:latin typeface="Calibri" pitchFamily="34" charset="0"/>
                <a:ea typeface="Calibri" pitchFamily="34" charset="-122"/>
                <a:cs typeface="Calibri" pitchFamily="34" charset="-120"/>
              </a:rPr>
              <a:t>Flask Server</a:t>
            </a:r>
            <a:endParaRPr lang="en-US" sz="950" dirty="0"/>
          </a:p>
        </p:txBody>
      </p:sp>
      <p:sp>
        <p:nvSpPr>
          <p:cNvPr id="28" name="Shape 26"/>
          <p:cNvSpPr/>
          <p:nvPr/>
        </p:nvSpPr>
        <p:spPr>
          <a:xfrm>
            <a:off x="7342632" y="1760220"/>
            <a:ext cx="164592" cy="0"/>
          </a:xfrm>
          <a:prstGeom prst="line">
            <a:avLst/>
          </a:prstGeom>
          <a:noFill/>
          <a:ln w="25400">
            <a:solidFill>
              <a:srgbClr val="14B8A6"/>
            </a:solidFill>
            <a:prstDash val="solid"/>
          </a:ln>
        </p:spPr>
      </p:sp>
      <p:sp>
        <p:nvSpPr>
          <p:cNvPr id="29" name="Shape 27"/>
          <p:cNvSpPr/>
          <p:nvPr/>
        </p:nvSpPr>
        <p:spPr>
          <a:xfrm>
            <a:off x="7507224" y="1005840"/>
            <a:ext cx="1261872" cy="1508760"/>
          </a:xfrm>
          <a:prstGeom prst="rect">
            <a:avLst/>
          </a:prstGeom>
          <a:solidFill>
            <a:srgbClr val="059669">
              <a:alpha val="85000"/>
            </a:srgbClr>
          </a:solidFill>
          <a:ln w="25400">
            <a:solidFill>
              <a:srgbClr val="059669"/>
            </a:solidFill>
            <a:prstDash val="solid"/>
          </a:ln>
        </p:spPr>
      </p:sp>
      <p:sp>
        <p:nvSpPr>
          <p:cNvPr id="30" name="Text 28"/>
          <p:cNvSpPr/>
          <p:nvPr/>
        </p:nvSpPr>
        <p:spPr>
          <a:xfrm>
            <a:off x="7507224" y="1115568"/>
            <a:ext cx="1261872"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SageMaker</a:t>
            </a:r>
            <a:endParaRPr lang="en-US" sz="1200" dirty="0"/>
          </a:p>
          <a:p>
            <a:pPr algn="ctr" indent="0" marL="0">
              <a:buNone/>
            </a:pPr>
            <a:r>
              <a:rPr lang="en-US" sz="1200" b="1" dirty="0">
                <a:solidFill>
                  <a:srgbClr val="FFFFFF"/>
                </a:solidFill>
                <a:latin typeface="Georgia" pitchFamily="34" charset="0"/>
                <a:ea typeface="Georgia" pitchFamily="34" charset="-122"/>
                <a:cs typeface="Georgia" pitchFamily="34" charset="-120"/>
              </a:rPr>
              <a:t>Endpoint</a:t>
            </a:r>
            <a:endParaRPr lang="en-US" sz="1200" dirty="0"/>
          </a:p>
        </p:txBody>
      </p:sp>
      <p:sp>
        <p:nvSpPr>
          <p:cNvPr id="31" name="Shape 29"/>
          <p:cNvSpPr/>
          <p:nvPr/>
        </p:nvSpPr>
        <p:spPr>
          <a:xfrm>
            <a:off x="7671816" y="1828800"/>
            <a:ext cx="932688" cy="0"/>
          </a:xfrm>
          <a:prstGeom prst="line">
            <a:avLst/>
          </a:prstGeom>
          <a:noFill/>
          <a:ln w="6350">
            <a:solidFill>
              <a:srgbClr val="FFFFFF">
                <a:alpha val="40000"/>
              </a:srgbClr>
            </a:solidFill>
            <a:prstDash val="solid"/>
          </a:ln>
        </p:spPr>
      </p:sp>
      <p:sp>
        <p:nvSpPr>
          <p:cNvPr id="32" name="Text 30"/>
          <p:cNvSpPr/>
          <p:nvPr/>
        </p:nvSpPr>
        <p:spPr>
          <a:xfrm>
            <a:off x="7507224" y="1883664"/>
            <a:ext cx="1261872" cy="566928"/>
          </a:xfrm>
          <a:prstGeom prst="rect">
            <a:avLst/>
          </a:prstGeom>
          <a:noFill/>
          <a:ln/>
        </p:spPr>
        <p:txBody>
          <a:bodyPr wrap="square" lIns="0" tIns="0" rIns="0" bIns="0" rtlCol="0" anchor="ctr"/>
          <a:lstStyle/>
          <a:p>
            <a:pPr algn="ctr" indent="0" marL="0">
              <a:buNone/>
            </a:pPr>
            <a:r>
              <a:rPr lang="en-US" sz="950" dirty="0">
                <a:solidFill>
                  <a:srgbClr val="CCFBF1"/>
                </a:solidFill>
                <a:latin typeface="Calibri" pitchFamily="34" charset="0"/>
                <a:ea typeface="Calibri" pitchFamily="34" charset="-122"/>
                <a:cs typeface="Calibri" pitchFamily="34" charset="-120"/>
              </a:rPr>
              <a:t>AWS</a:t>
            </a:r>
            <a:endParaRPr lang="en-US" sz="950" dirty="0"/>
          </a:p>
          <a:p>
            <a:pPr algn="ctr" indent="0" marL="0">
              <a:buNone/>
            </a:pPr>
            <a:r>
              <a:rPr lang="en-US" sz="950" dirty="0">
                <a:solidFill>
                  <a:srgbClr val="CCFBF1"/>
                </a:solidFill>
                <a:latin typeface="Calibri" pitchFamily="34" charset="0"/>
                <a:ea typeface="Calibri" pitchFamily="34" charset="-122"/>
                <a:cs typeface="Calibri" pitchFamily="34" charset="-120"/>
              </a:rPr>
              <a:t>Inference</a:t>
            </a:r>
            <a:endParaRPr lang="en-US" sz="950" dirty="0"/>
          </a:p>
        </p:txBody>
      </p:sp>
      <p:sp>
        <p:nvSpPr>
          <p:cNvPr id="33" name="Shape 31"/>
          <p:cNvSpPr/>
          <p:nvPr/>
        </p:nvSpPr>
        <p:spPr>
          <a:xfrm>
            <a:off x="502920" y="2834640"/>
            <a:ext cx="2514600" cy="841248"/>
          </a:xfrm>
          <a:prstGeom prst="rect">
            <a:avLst/>
          </a:prstGeom>
          <a:solidFill>
            <a:srgbClr val="0891B2">
              <a:alpha val="20000"/>
            </a:srgbClr>
          </a:solidFill>
          <a:ln w="12700">
            <a:solidFill>
              <a:srgbClr val="0891B2"/>
            </a:solidFill>
            <a:prstDash val="solid"/>
          </a:ln>
        </p:spPr>
      </p:sp>
      <p:sp>
        <p:nvSpPr>
          <p:cNvPr id="34" name="Text 32"/>
          <p:cNvSpPr/>
          <p:nvPr/>
        </p:nvSpPr>
        <p:spPr>
          <a:xfrm>
            <a:off x="502920" y="2834640"/>
            <a:ext cx="2514600" cy="420624"/>
          </a:xfrm>
          <a:prstGeom prst="rect">
            <a:avLst/>
          </a:prstGeom>
          <a:noFill/>
          <a:ln/>
        </p:spPr>
        <p:txBody>
          <a:bodyPr wrap="square" lIns="0" tIns="0" rIns="0" bIns="0" rtlCol="0" anchor="b"/>
          <a:lstStyle/>
          <a:p>
            <a:pPr algn="ctr" indent="0" marL="0">
              <a:buNone/>
            </a:pPr>
            <a:r>
              <a:rPr lang="en-US" sz="1200" b="1" dirty="0">
                <a:solidFill>
                  <a:srgbClr val="FFFFFF"/>
                </a:solidFill>
                <a:latin typeface="Calibri" pitchFamily="34" charset="0"/>
                <a:ea typeface="Calibri" pitchFamily="34" charset="-122"/>
                <a:cs typeface="Calibri" pitchFamily="34" charset="-120"/>
              </a:rPr>
              <a:t>CI/CD Pipeline</a:t>
            </a:r>
            <a:endParaRPr lang="en-US" sz="1200" dirty="0"/>
          </a:p>
        </p:txBody>
      </p:sp>
      <p:sp>
        <p:nvSpPr>
          <p:cNvPr id="35" name="Text 33"/>
          <p:cNvSpPr/>
          <p:nvPr/>
        </p:nvSpPr>
        <p:spPr>
          <a:xfrm>
            <a:off x="502920" y="3255264"/>
            <a:ext cx="2514600" cy="347472"/>
          </a:xfrm>
          <a:prstGeom prst="rect">
            <a:avLst/>
          </a:prstGeom>
          <a:noFill/>
          <a:ln/>
        </p:spPr>
        <p:txBody>
          <a:bodyPr wrap="square" lIns="0" tIns="0" rIns="0" bIns="0" rtlCol="0" anchor="t"/>
          <a:lstStyle/>
          <a:p>
            <a:pPr algn="ctr" indent="0" marL="0">
              <a:buNone/>
            </a:pPr>
            <a:r>
              <a:rPr lang="en-US" sz="1000" dirty="0">
                <a:solidFill>
                  <a:srgbClr val="CCFBF1"/>
                </a:solidFill>
                <a:latin typeface="Calibri" pitchFamily="34" charset="0"/>
                <a:ea typeface="Calibri" pitchFamily="34" charset="-122"/>
                <a:cs typeface="Calibri" pitchFamily="34" charset="-120"/>
              </a:rPr>
              <a:t>GitHub Actions</a:t>
            </a:r>
            <a:endParaRPr lang="en-US" sz="1000" dirty="0"/>
          </a:p>
        </p:txBody>
      </p:sp>
      <p:sp>
        <p:nvSpPr>
          <p:cNvPr id="36" name="Shape 34"/>
          <p:cNvSpPr/>
          <p:nvPr/>
        </p:nvSpPr>
        <p:spPr>
          <a:xfrm>
            <a:off x="3246120" y="2834640"/>
            <a:ext cx="2514600" cy="841248"/>
          </a:xfrm>
          <a:prstGeom prst="rect">
            <a:avLst/>
          </a:prstGeom>
          <a:solidFill>
            <a:srgbClr val="0D9488">
              <a:alpha val="20000"/>
            </a:srgbClr>
          </a:solidFill>
          <a:ln w="12700">
            <a:solidFill>
              <a:srgbClr val="0D9488"/>
            </a:solidFill>
            <a:prstDash val="solid"/>
          </a:ln>
        </p:spPr>
      </p:sp>
      <p:sp>
        <p:nvSpPr>
          <p:cNvPr id="37" name="Text 35"/>
          <p:cNvSpPr/>
          <p:nvPr/>
        </p:nvSpPr>
        <p:spPr>
          <a:xfrm>
            <a:off x="3246120" y="2834640"/>
            <a:ext cx="2514600" cy="420624"/>
          </a:xfrm>
          <a:prstGeom prst="rect">
            <a:avLst/>
          </a:prstGeom>
          <a:noFill/>
          <a:ln/>
        </p:spPr>
        <p:txBody>
          <a:bodyPr wrap="square" lIns="0" tIns="0" rIns="0" bIns="0" rtlCol="0" anchor="b"/>
          <a:lstStyle/>
          <a:p>
            <a:pPr algn="ctr" indent="0" marL="0">
              <a:buNone/>
            </a:pPr>
            <a:r>
              <a:rPr lang="en-US" sz="1200" b="1" dirty="0">
                <a:solidFill>
                  <a:srgbClr val="FFFFFF"/>
                </a:solidFill>
                <a:latin typeface="Calibri" pitchFamily="34" charset="0"/>
                <a:ea typeface="Calibri" pitchFamily="34" charset="-122"/>
                <a:cs typeface="Calibri" pitchFamily="34" charset="-120"/>
              </a:rPr>
              <a:t>Monitoring</a:t>
            </a:r>
            <a:endParaRPr lang="en-US" sz="1200" dirty="0"/>
          </a:p>
        </p:txBody>
      </p:sp>
      <p:sp>
        <p:nvSpPr>
          <p:cNvPr id="38" name="Text 36"/>
          <p:cNvSpPr/>
          <p:nvPr/>
        </p:nvSpPr>
        <p:spPr>
          <a:xfrm>
            <a:off x="3246120" y="3255264"/>
            <a:ext cx="2514600" cy="347472"/>
          </a:xfrm>
          <a:prstGeom prst="rect">
            <a:avLst/>
          </a:prstGeom>
          <a:noFill/>
          <a:ln/>
        </p:spPr>
        <p:txBody>
          <a:bodyPr wrap="square" lIns="0" tIns="0" rIns="0" bIns="0" rtlCol="0" anchor="t"/>
          <a:lstStyle/>
          <a:p>
            <a:pPr algn="ctr" indent="0" marL="0">
              <a:buNone/>
            </a:pPr>
            <a:r>
              <a:rPr lang="en-US" sz="1000" dirty="0">
                <a:solidFill>
                  <a:srgbClr val="CCFBF1"/>
                </a:solidFill>
                <a:latin typeface="Calibri" pitchFamily="34" charset="0"/>
                <a:ea typeface="Calibri" pitchFamily="34" charset="-122"/>
                <a:cs typeface="Calibri" pitchFamily="34" charset="-120"/>
              </a:rPr>
              <a:t>Prometheus + Grafana + PSI</a:t>
            </a:r>
            <a:endParaRPr lang="en-US" sz="1000" dirty="0"/>
          </a:p>
        </p:txBody>
      </p:sp>
      <p:sp>
        <p:nvSpPr>
          <p:cNvPr id="39" name="Shape 37"/>
          <p:cNvSpPr/>
          <p:nvPr/>
        </p:nvSpPr>
        <p:spPr>
          <a:xfrm>
            <a:off x="5989320" y="2834640"/>
            <a:ext cx="2514600" cy="841248"/>
          </a:xfrm>
          <a:prstGeom prst="rect">
            <a:avLst/>
          </a:prstGeom>
          <a:solidFill>
            <a:srgbClr val="0891B2">
              <a:alpha val="20000"/>
            </a:srgbClr>
          </a:solidFill>
          <a:ln w="12700">
            <a:solidFill>
              <a:srgbClr val="0891B2"/>
            </a:solidFill>
            <a:prstDash val="solid"/>
          </a:ln>
        </p:spPr>
      </p:sp>
      <p:sp>
        <p:nvSpPr>
          <p:cNvPr id="40" name="Text 38"/>
          <p:cNvSpPr/>
          <p:nvPr/>
        </p:nvSpPr>
        <p:spPr>
          <a:xfrm>
            <a:off x="5989320" y="2834640"/>
            <a:ext cx="2514600" cy="420624"/>
          </a:xfrm>
          <a:prstGeom prst="rect">
            <a:avLst/>
          </a:prstGeom>
          <a:noFill/>
          <a:ln/>
        </p:spPr>
        <p:txBody>
          <a:bodyPr wrap="square" lIns="0" tIns="0" rIns="0" bIns="0" rtlCol="0" anchor="b"/>
          <a:lstStyle/>
          <a:p>
            <a:pPr algn="ctr" indent="0" marL="0">
              <a:buNone/>
            </a:pPr>
            <a:r>
              <a:rPr lang="en-US" sz="1200" b="1" dirty="0">
                <a:solidFill>
                  <a:srgbClr val="FFFFFF"/>
                </a:solidFill>
                <a:latin typeface="Calibri" pitchFamily="34" charset="0"/>
                <a:ea typeface="Calibri" pitchFamily="34" charset="-122"/>
                <a:cs typeface="Calibri" pitchFamily="34" charset="-120"/>
              </a:rPr>
              <a:t>Governance</a:t>
            </a:r>
            <a:endParaRPr lang="en-US" sz="1200" dirty="0"/>
          </a:p>
        </p:txBody>
      </p:sp>
      <p:sp>
        <p:nvSpPr>
          <p:cNvPr id="41" name="Text 39"/>
          <p:cNvSpPr/>
          <p:nvPr/>
        </p:nvSpPr>
        <p:spPr>
          <a:xfrm>
            <a:off x="5989320" y="3255264"/>
            <a:ext cx="2514600" cy="347472"/>
          </a:xfrm>
          <a:prstGeom prst="rect">
            <a:avLst/>
          </a:prstGeom>
          <a:noFill/>
          <a:ln/>
        </p:spPr>
        <p:txBody>
          <a:bodyPr wrap="square" lIns="0" tIns="0" rIns="0" bIns="0" rtlCol="0" anchor="t"/>
          <a:lstStyle/>
          <a:p>
            <a:pPr algn="ctr" indent="0" marL="0">
              <a:buNone/>
            </a:pPr>
            <a:r>
              <a:rPr lang="en-US" sz="1000" dirty="0">
                <a:solidFill>
                  <a:srgbClr val="CCFBF1"/>
                </a:solidFill>
                <a:latin typeface="Calibri" pitchFamily="34" charset="0"/>
                <a:ea typeface="Calibri" pitchFamily="34" charset="-122"/>
                <a:cs typeface="Calibri" pitchFamily="34" charset="-120"/>
              </a:rPr>
              <a:t>Audit Log + Incident Playbook</a:t>
            </a:r>
            <a:endParaRPr lang="en-US" sz="1000" dirty="0"/>
          </a:p>
        </p:txBody>
      </p:sp>
      <p:sp>
        <p:nvSpPr>
          <p:cNvPr id="42" name="Text 40"/>
          <p:cNvSpPr/>
          <p:nvPr/>
        </p:nvSpPr>
        <p:spPr>
          <a:xfrm>
            <a:off x="365760" y="3931920"/>
            <a:ext cx="8412480" cy="347472"/>
          </a:xfrm>
          <a:prstGeom prst="rect">
            <a:avLst/>
          </a:prstGeom>
          <a:noFill/>
          <a:ln/>
        </p:spPr>
        <p:txBody>
          <a:bodyPr wrap="square" lIns="0" tIns="0" rIns="0" bIns="0" rtlCol="0" anchor="ctr"/>
          <a:lstStyle/>
          <a:p>
            <a:pPr algn="ctr" indent="0" marL="0">
              <a:buNone/>
            </a:pPr>
            <a:r>
              <a:rPr lang="en-US" sz="1100" i="1" dirty="0">
                <a:solidFill>
                  <a:srgbClr val="64748B"/>
                </a:solidFill>
                <a:latin typeface="Calibri" pitchFamily="34" charset="0"/>
                <a:ea typeface="Calibri" pitchFamily="34" charset="-122"/>
                <a:cs typeface="Calibri" pitchFamily="34" charset="-120"/>
              </a:rPr>
              <a:t>Cross-cutting: Git version control  ·  AWS S3 artifact store  ·  us-east-1</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B2A4A"/>
          </a:solidFill>
          <a:ln w="12700">
            <a:solidFill>
              <a:srgbClr val="1B2A4A"/>
            </a:solidFill>
            <a:prstDash val="solid"/>
          </a:ln>
        </p:spPr>
      </p:sp>
      <p:sp>
        <p:nvSpPr>
          <p:cNvPr id="3" name="Shape 1"/>
          <p:cNvSpPr/>
          <p:nvPr/>
        </p:nvSpPr>
        <p:spPr>
          <a:xfrm>
            <a:off x="0" y="1005840"/>
            <a:ext cx="9144000" cy="54864"/>
          </a:xfrm>
          <a:prstGeom prst="rect">
            <a:avLst/>
          </a:prstGeom>
          <a:solidFill>
            <a:srgbClr val="0D9488"/>
          </a:solidFill>
          <a:ln w="12700">
            <a:solidFill>
              <a:srgbClr val="0D9488"/>
            </a:solidFill>
            <a:prstDash val="solid"/>
          </a:ln>
        </p:spPr>
      </p:sp>
      <p:sp>
        <p:nvSpPr>
          <p:cNvPr id="4" name="Text 2"/>
          <p:cNvSpPr/>
          <p:nvPr/>
        </p:nvSpPr>
        <p:spPr>
          <a:xfrm>
            <a:off x="365760" y="0"/>
            <a:ext cx="8412480" cy="100584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03  Data Versioning &amp; Pipeline</a:t>
            </a:r>
            <a:endParaRPr lang="en-US" sz="2600" dirty="0"/>
          </a:p>
        </p:txBody>
      </p:sp>
      <p:sp>
        <p:nvSpPr>
          <p:cNvPr id="5" name="Shape 3"/>
          <p:cNvSpPr/>
          <p:nvPr/>
        </p:nvSpPr>
        <p:spPr>
          <a:xfrm>
            <a:off x="310896" y="1234440"/>
            <a:ext cx="1993392" cy="352044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6" name="Shape 4"/>
          <p:cNvSpPr/>
          <p:nvPr/>
        </p:nvSpPr>
        <p:spPr>
          <a:xfrm>
            <a:off x="310896" y="1234440"/>
            <a:ext cx="1993392" cy="73152"/>
          </a:xfrm>
          <a:prstGeom prst="rect">
            <a:avLst/>
          </a:prstGeom>
          <a:solidFill>
            <a:srgbClr val="0D9488"/>
          </a:solidFill>
          <a:ln w="12700">
            <a:solidFill>
              <a:srgbClr val="0D9488"/>
            </a:solidFill>
            <a:prstDash val="solid"/>
          </a:ln>
        </p:spPr>
      </p:sp>
      <p:sp>
        <p:nvSpPr>
          <p:cNvPr id="7" name="Shape 5"/>
          <p:cNvSpPr/>
          <p:nvPr/>
        </p:nvSpPr>
        <p:spPr>
          <a:xfrm>
            <a:off x="987552" y="1417320"/>
            <a:ext cx="640080" cy="640080"/>
          </a:xfrm>
          <a:prstGeom prst="ellipse">
            <a:avLst/>
          </a:prstGeom>
          <a:solidFill>
            <a:srgbClr val="1B2A4A"/>
          </a:solidFill>
          <a:ln w="12700">
            <a:solidFill>
              <a:srgbClr val="1B2A4A"/>
            </a:solidFill>
            <a:prstDash val="solid"/>
          </a:ln>
        </p:spPr>
      </p:sp>
      <p:sp>
        <p:nvSpPr>
          <p:cNvPr id="8" name="Text 6"/>
          <p:cNvSpPr/>
          <p:nvPr/>
        </p:nvSpPr>
        <p:spPr>
          <a:xfrm>
            <a:off x="987552" y="1417320"/>
            <a:ext cx="6400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01</a:t>
            </a:r>
            <a:endParaRPr lang="en-US" sz="1400" dirty="0"/>
          </a:p>
        </p:txBody>
      </p:sp>
      <p:sp>
        <p:nvSpPr>
          <p:cNvPr id="9" name="Text 7"/>
          <p:cNvSpPr/>
          <p:nvPr/>
        </p:nvSpPr>
        <p:spPr>
          <a:xfrm>
            <a:off x="402336" y="2194560"/>
            <a:ext cx="1810512" cy="384048"/>
          </a:xfrm>
          <a:prstGeom prst="rect">
            <a:avLst/>
          </a:prstGeom>
          <a:noFill/>
          <a:ln/>
        </p:spPr>
        <p:txBody>
          <a:bodyPr wrap="square" lIns="0" tIns="0" rIns="0" bIns="0" rtlCol="0" anchor="ctr"/>
          <a:lstStyle/>
          <a:p>
            <a:pPr algn="ctr" indent="0" marL="0">
              <a:buNone/>
            </a:pPr>
            <a:r>
              <a:rPr lang="en-US" sz="1500" b="1" dirty="0">
                <a:solidFill>
                  <a:srgbClr val="1B2A4A"/>
                </a:solidFill>
                <a:latin typeface="Georgia" pitchFamily="34" charset="0"/>
                <a:ea typeface="Georgia" pitchFamily="34" charset="-122"/>
                <a:cs typeface="Georgia" pitchFamily="34" charset="-120"/>
              </a:rPr>
              <a:t>Ingest</a:t>
            </a:r>
            <a:endParaRPr lang="en-US" sz="1500" dirty="0"/>
          </a:p>
        </p:txBody>
      </p:sp>
      <p:sp>
        <p:nvSpPr>
          <p:cNvPr id="10" name="Text 8"/>
          <p:cNvSpPr/>
          <p:nvPr/>
        </p:nvSpPr>
        <p:spPr>
          <a:xfrm>
            <a:off x="448056" y="2651760"/>
            <a:ext cx="1719072" cy="1481328"/>
          </a:xfrm>
          <a:prstGeom prst="rect">
            <a:avLst/>
          </a:prstGeom>
          <a:noFill/>
          <a:ln/>
        </p:spPr>
        <p:txBody>
          <a:bodyPr wrap="square" lIns="0" tIns="0" rIns="0" bIns="0" rtlCol="0" anchor="ctr"/>
          <a:lstStyle/>
          <a:p>
            <a:pPr algn="l" indent="0" marL="0">
              <a:buNone/>
            </a:pPr>
            <a:r>
              <a:rPr lang="en-US" sz="1100" dirty="0">
                <a:solidFill>
                  <a:srgbClr val="1E293B"/>
                </a:solidFill>
                <a:latin typeface="Calibri" pitchFamily="34" charset="0"/>
                <a:ea typeface="Calibri" pitchFamily="34" charset="-122"/>
                <a:cs typeface="Calibri" pitchFamily="34" charset="-120"/>
              </a:rPr>
              <a:t>Downloads UCI ZIP from URL, extracts XLS, cleans columns → data/staged/data.csv</a:t>
            </a:r>
            <a:endParaRPr lang="en-US" sz="1100" dirty="0"/>
          </a:p>
        </p:txBody>
      </p:sp>
      <p:sp>
        <p:nvSpPr>
          <p:cNvPr id="11" name="Shape 9"/>
          <p:cNvSpPr/>
          <p:nvPr/>
        </p:nvSpPr>
        <p:spPr>
          <a:xfrm>
            <a:off x="420624" y="4206240"/>
            <a:ext cx="1773936" cy="411480"/>
          </a:xfrm>
          <a:prstGeom prst="rect">
            <a:avLst/>
          </a:prstGeom>
          <a:solidFill>
            <a:srgbClr val="CCFBF1"/>
          </a:solidFill>
          <a:ln w="6350">
            <a:solidFill>
              <a:srgbClr val="0D9488"/>
            </a:solidFill>
            <a:prstDash val="solid"/>
          </a:ln>
        </p:spPr>
      </p:sp>
      <p:sp>
        <p:nvSpPr>
          <p:cNvPr id="12" name="Text 10"/>
          <p:cNvSpPr/>
          <p:nvPr/>
        </p:nvSpPr>
        <p:spPr>
          <a:xfrm>
            <a:off x="420624" y="4206240"/>
            <a:ext cx="1773936" cy="411480"/>
          </a:xfrm>
          <a:prstGeom prst="rect">
            <a:avLst/>
          </a:prstGeom>
          <a:noFill/>
          <a:ln/>
        </p:spPr>
        <p:txBody>
          <a:bodyPr wrap="square" lIns="0" tIns="0" rIns="0" bIns="0" rtlCol="0" anchor="ctr"/>
          <a:lstStyle/>
          <a:p>
            <a:pPr algn="ctr" indent="0" marL="0">
              <a:buNone/>
            </a:pPr>
            <a:r>
              <a:rPr lang="en-US" sz="900" b="1" dirty="0">
                <a:solidFill>
                  <a:srgbClr val="0D9488"/>
                </a:solidFill>
                <a:latin typeface="Calibri" pitchFamily="34" charset="0"/>
                <a:ea typeface="Calibri" pitchFamily="34" charset="-122"/>
                <a:cs typeface="Calibri" pitchFamily="34" charset="-120"/>
              </a:rPr>
              <a:t>HTTP → data.csv</a:t>
            </a:r>
            <a:endParaRPr lang="en-US" sz="900" dirty="0"/>
          </a:p>
        </p:txBody>
      </p:sp>
      <p:sp>
        <p:nvSpPr>
          <p:cNvPr id="13" name="Shape 11"/>
          <p:cNvSpPr/>
          <p:nvPr/>
        </p:nvSpPr>
        <p:spPr>
          <a:xfrm>
            <a:off x="2304288" y="2994660"/>
            <a:ext cx="182880" cy="0"/>
          </a:xfrm>
          <a:prstGeom prst="line">
            <a:avLst/>
          </a:prstGeom>
          <a:noFill/>
          <a:ln w="25400">
            <a:solidFill>
              <a:srgbClr val="0D9488"/>
            </a:solidFill>
            <a:prstDash val="solid"/>
          </a:ln>
        </p:spPr>
      </p:sp>
      <p:sp>
        <p:nvSpPr>
          <p:cNvPr id="14" name="Shape 12"/>
          <p:cNvSpPr/>
          <p:nvPr/>
        </p:nvSpPr>
        <p:spPr>
          <a:xfrm>
            <a:off x="2487168" y="1234440"/>
            <a:ext cx="1993392" cy="352044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15" name="Shape 13"/>
          <p:cNvSpPr/>
          <p:nvPr/>
        </p:nvSpPr>
        <p:spPr>
          <a:xfrm>
            <a:off x="2487168" y="1234440"/>
            <a:ext cx="1993392" cy="73152"/>
          </a:xfrm>
          <a:prstGeom prst="rect">
            <a:avLst/>
          </a:prstGeom>
          <a:solidFill>
            <a:srgbClr val="0D9488"/>
          </a:solidFill>
          <a:ln w="12700">
            <a:solidFill>
              <a:srgbClr val="0D9488"/>
            </a:solidFill>
            <a:prstDash val="solid"/>
          </a:ln>
        </p:spPr>
      </p:sp>
      <p:sp>
        <p:nvSpPr>
          <p:cNvPr id="16" name="Shape 14"/>
          <p:cNvSpPr/>
          <p:nvPr/>
        </p:nvSpPr>
        <p:spPr>
          <a:xfrm>
            <a:off x="3163824" y="1417320"/>
            <a:ext cx="640080" cy="640080"/>
          </a:xfrm>
          <a:prstGeom prst="ellipse">
            <a:avLst/>
          </a:prstGeom>
          <a:solidFill>
            <a:srgbClr val="1B2A4A"/>
          </a:solidFill>
          <a:ln w="12700">
            <a:solidFill>
              <a:srgbClr val="1B2A4A"/>
            </a:solidFill>
            <a:prstDash val="solid"/>
          </a:ln>
        </p:spPr>
      </p:sp>
      <p:sp>
        <p:nvSpPr>
          <p:cNvPr id="17" name="Text 15"/>
          <p:cNvSpPr/>
          <p:nvPr/>
        </p:nvSpPr>
        <p:spPr>
          <a:xfrm>
            <a:off x="3163824" y="1417320"/>
            <a:ext cx="6400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02</a:t>
            </a:r>
            <a:endParaRPr lang="en-US" sz="1400" dirty="0"/>
          </a:p>
        </p:txBody>
      </p:sp>
      <p:sp>
        <p:nvSpPr>
          <p:cNvPr id="18" name="Text 16"/>
          <p:cNvSpPr/>
          <p:nvPr/>
        </p:nvSpPr>
        <p:spPr>
          <a:xfrm>
            <a:off x="2578608" y="2194560"/>
            <a:ext cx="1810512" cy="384048"/>
          </a:xfrm>
          <a:prstGeom prst="rect">
            <a:avLst/>
          </a:prstGeom>
          <a:noFill/>
          <a:ln/>
        </p:spPr>
        <p:txBody>
          <a:bodyPr wrap="square" lIns="0" tIns="0" rIns="0" bIns="0" rtlCol="0" anchor="ctr"/>
          <a:lstStyle/>
          <a:p>
            <a:pPr algn="ctr" indent="0" marL="0">
              <a:buNone/>
            </a:pPr>
            <a:r>
              <a:rPr lang="en-US" sz="1500" b="1" dirty="0">
                <a:solidFill>
                  <a:srgbClr val="1B2A4A"/>
                </a:solidFill>
                <a:latin typeface="Georgia" pitchFamily="34" charset="0"/>
                <a:ea typeface="Georgia" pitchFamily="34" charset="-122"/>
                <a:cs typeface="Georgia" pitchFamily="34" charset="-120"/>
              </a:rPr>
              <a:t>Validate</a:t>
            </a:r>
            <a:endParaRPr lang="en-US" sz="1500" dirty="0"/>
          </a:p>
        </p:txBody>
      </p:sp>
      <p:sp>
        <p:nvSpPr>
          <p:cNvPr id="19" name="Text 17"/>
          <p:cNvSpPr/>
          <p:nvPr/>
        </p:nvSpPr>
        <p:spPr>
          <a:xfrm>
            <a:off x="2624328" y="2651760"/>
            <a:ext cx="1719072" cy="1481328"/>
          </a:xfrm>
          <a:prstGeom prst="rect">
            <a:avLst/>
          </a:prstGeom>
          <a:noFill/>
          <a:ln/>
        </p:spPr>
        <p:txBody>
          <a:bodyPr wrap="square" lIns="0" tIns="0" rIns="0" bIns="0" rtlCol="0" anchor="ctr"/>
          <a:lstStyle/>
          <a:p>
            <a:pPr algn="l" indent="0" marL="0">
              <a:buNone/>
            </a:pPr>
            <a:r>
              <a:rPr lang="en-US" sz="1100" dirty="0">
                <a:solidFill>
                  <a:srgbClr val="1E293B"/>
                </a:solidFill>
                <a:latin typeface="Calibri" pitchFamily="34" charset="0"/>
                <a:ea typeface="Calibri" pitchFamily="34" charset="-122"/>
                <a:cs typeface="Calibri" pitchFamily="34" charset="-120"/>
              </a:rPr>
              <a:t>Schema, nulls, value ranges, class balance. Exits code 1 on critical failures.</a:t>
            </a:r>
            <a:endParaRPr lang="en-US" sz="1100" dirty="0"/>
          </a:p>
        </p:txBody>
      </p:sp>
      <p:sp>
        <p:nvSpPr>
          <p:cNvPr id="20" name="Shape 18"/>
          <p:cNvSpPr/>
          <p:nvPr/>
        </p:nvSpPr>
        <p:spPr>
          <a:xfrm>
            <a:off x="2596896" y="4206240"/>
            <a:ext cx="1773936" cy="411480"/>
          </a:xfrm>
          <a:prstGeom prst="rect">
            <a:avLst/>
          </a:prstGeom>
          <a:solidFill>
            <a:srgbClr val="CCFBF1"/>
          </a:solidFill>
          <a:ln w="6350">
            <a:solidFill>
              <a:srgbClr val="0D9488"/>
            </a:solidFill>
            <a:prstDash val="solid"/>
          </a:ln>
        </p:spPr>
      </p:sp>
      <p:sp>
        <p:nvSpPr>
          <p:cNvPr id="21" name="Text 19"/>
          <p:cNvSpPr/>
          <p:nvPr/>
        </p:nvSpPr>
        <p:spPr>
          <a:xfrm>
            <a:off x="2596896" y="4206240"/>
            <a:ext cx="1773936" cy="411480"/>
          </a:xfrm>
          <a:prstGeom prst="rect">
            <a:avLst/>
          </a:prstGeom>
          <a:noFill/>
          <a:ln/>
        </p:spPr>
        <p:txBody>
          <a:bodyPr wrap="square" lIns="0" tIns="0" rIns="0" bIns="0" rtlCol="0" anchor="ctr"/>
          <a:lstStyle/>
          <a:p>
            <a:pPr algn="ctr" indent="0" marL="0">
              <a:buNone/>
            </a:pPr>
            <a:r>
              <a:rPr lang="en-US" sz="900" b="1" dirty="0">
                <a:solidFill>
                  <a:srgbClr val="0D9488"/>
                </a:solidFill>
                <a:latin typeface="Calibri" pitchFamily="34" charset="0"/>
                <a:ea typeface="Calibri" pitchFamily="34" charset="-122"/>
                <a:cs typeface="Calibri" pitchFamily="34" charset="-120"/>
              </a:rPr>
              <a:t>data.csv → validation_report.json</a:t>
            </a:r>
            <a:endParaRPr lang="en-US" sz="900" dirty="0"/>
          </a:p>
        </p:txBody>
      </p:sp>
      <p:sp>
        <p:nvSpPr>
          <p:cNvPr id="22" name="Shape 20"/>
          <p:cNvSpPr/>
          <p:nvPr/>
        </p:nvSpPr>
        <p:spPr>
          <a:xfrm>
            <a:off x="4480560" y="2994660"/>
            <a:ext cx="182880" cy="0"/>
          </a:xfrm>
          <a:prstGeom prst="line">
            <a:avLst/>
          </a:prstGeom>
          <a:noFill/>
          <a:ln w="25400">
            <a:solidFill>
              <a:srgbClr val="0D9488"/>
            </a:solidFill>
            <a:prstDash val="solid"/>
          </a:ln>
        </p:spPr>
      </p:sp>
      <p:sp>
        <p:nvSpPr>
          <p:cNvPr id="23" name="Shape 21"/>
          <p:cNvSpPr/>
          <p:nvPr/>
        </p:nvSpPr>
        <p:spPr>
          <a:xfrm>
            <a:off x="4663440" y="1234440"/>
            <a:ext cx="1993392" cy="352044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24" name="Shape 22"/>
          <p:cNvSpPr/>
          <p:nvPr/>
        </p:nvSpPr>
        <p:spPr>
          <a:xfrm>
            <a:off x="4663440" y="1234440"/>
            <a:ext cx="1993392" cy="73152"/>
          </a:xfrm>
          <a:prstGeom prst="rect">
            <a:avLst/>
          </a:prstGeom>
          <a:solidFill>
            <a:srgbClr val="0D9488"/>
          </a:solidFill>
          <a:ln w="12700">
            <a:solidFill>
              <a:srgbClr val="0D9488"/>
            </a:solidFill>
            <a:prstDash val="solid"/>
          </a:ln>
        </p:spPr>
      </p:sp>
      <p:sp>
        <p:nvSpPr>
          <p:cNvPr id="25" name="Shape 23"/>
          <p:cNvSpPr/>
          <p:nvPr/>
        </p:nvSpPr>
        <p:spPr>
          <a:xfrm>
            <a:off x="5340096" y="1417320"/>
            <a:ext cx="640080" cy="640080"/>
          </a:xfrm>
          <a:prstGeom prst="ellipse">
            <a:avLst/>
          </a:prstGeom>
          <a:solidFill>
            <a:srgbClr val="1B2A4A"/>
          </a:solidFill>
          <a:ln w="12700">
            <a:solidFill>
              <a:srgbClr val="1B2A4A"/>
            </a:solidFill>
            <a:prstDash val="solid"/>
          </a:ln>
        </p:spPr>
      </p:sp>
      <p:sp>
        <p:nvSpPr>
          <p:cNvPr id="26" name="Text 24"/>
          <p:cNvSpPr/>
          <p:nvPr/>
        </p:nvSpPr>
        <p:spPr>
          <a:xfrm>
            <a:off x="5340096" y="1417320"/>
            <a:ext cx="6400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03</a:t>
            </a:r>
            <a:endParaRPr lang="en-US" sz="1400" dirty="0"/>
          </a:p>
        </p:txBody>
      </p:sp>
      <p:sp>
        <p:nvSpPr>
          <p:cNvPr id="27" name="Text 25"/>
          <p:cNvSpPr/>
          <p:nvPr/>
        </p:nvSpPr>
        <p:spPr>
          <a:xfrm>
            <a:off x="4754880" y="2194560"/>
            <a:ext cx="1810512" cy="384048"/>
          </a:xfrm>
          <a:prstGeom prst="rect">
            <a:avLst/>
          </a:prstGeom>
          <a:noFill/>
          <a:ln/>
        </p:spPr>
        <p:txBody>
          <a:bodyPr wrap="square" lIns="0" tIns="0" rIns="0" bIns="0" rtlCol="0" anchor="ctr"/>
          <a:lstStyle/>
          <a:p>
            <a:pPr algn="ctr" indent="0" marL="0">
              <a:buNone/>
            </a:pPr>
            <a:r>
              <a:rPr lang="en-US" sz="1500" b="1" dirty="0">
                <a:solidFill>
                  <a:srgbClr val="1B2A4A"/>
                </a:solidFill>
                <a:latin typeface="Georgia" pitchFamily="34" charset="0"/>
                <a:ea typeface="Georgia" pitchFamily="34" charset="-122"/>
                <a:cs typeface="Georgia" pitchFamily="34" charset="-120"/>
              </a:rPr>
              <a:t>Train</a:t>
            </a:r>
            <a:endParaRPr lang="en-US" sz="1500" dirty="0"/>
          </a:p>
        </p:txBody>
      </p:sp>
      <p:sp>
        <p:nvSpPr>
          <p:cNvPr id="28" name="Text 26"/>
          <p:cNvSpPr/>
          <p:nvPr/>
        </p:nvSpPr>
        <p:spPr>
          <a:xfrm>
            <a:off x="4800600" y="2651760"/>
            <a:ext cx="1719072" cy="1481328"/>
          </a:xfrm>
          <a:prstGeom prst="rect">
            <a:avLst/>
          </a:prstGeom>
          <a:noFill/>
          <a:ln/>
        </p:spPr>
        <p:txBody>
          <a:bodyPr wrap="square" lIns="0" tIns="0" rIns="0" bIns="0" rtlCol="0" anchor="ctr"/>
          <a:lstStyle/>
          <a:p>
            <a:pPr algn="l" indent="0" marL="0">
              <a:buNone/>
            </a:pPr>
            <a:r>
              <a:rPr lang="en-US" sz="1100" dirty="0">
                <a:solidFill>
                  <a:srgbClr val="1E293B"/>
                </a:solidFill>
                <a:latin typeface="Calibri" pitchFamily="34" charset="0"/>
                <a:ea typeface="Calibri" pitchFamily="34" charset="-122"/>
                <a:cs typeface="Calibri" pitchFamily="34" charset="-120"/>
              </a:rPr>
              <a:t>XGBoost + Optuna HPO (20 trials, 5-fold CV). MLflow tracking. Saves model.joblib.</a:t>
            </a:r>
            <a:endParaRPr lang="en-US" sz="1100" dirty="0"/>
          </a:p>
        </p:txBody>
      </p:sp>
      <p:sp>
        <p:nvSpPr>
          <p:cNvPr id="29" name="Shape 27"/>
          <p:cNvSpPr/>
          <p:nvPr/>
        </p:nvSpPr>
        <p:spPr>
          <a:xfrm>
            <a:off x="4773168" y="4206240"/>
            <a:ext cx="1773936" cy="411480"/>
          </a:xfrm>
          <a:prstGeom prst="rect">
            <a:avLst/>
          </a:prstGeom>
          <a:solidFill>
            <a:srgbClr val="CCFBF1"/>
          </a:solidFill>
          <a:ln w="6350">
            <a:solidFill>
              <a:srgbClr val="0D9488"/>
            </a:solidFill>
            <a:prstDash val="solid"/>
          </a:ln>
        </p:spPr>
      </p:sp>
      <p:sp>
        <p:nvSpPr>
          <p:cNvPr id="30" name="Text 28"/>
          <p:cNvSpPr/>
          <p:nvPr/>
        </p:nvSpPr>
        <p:spPr>
          <a:xfrm>
            <a:off x="4773168" y="4206240"/>
            <a:ext cx="1773936" cy="411480"/>
          </a:xfrm>
          <a:prstGeom prst="rect">
            <a:avLst/>
          </a:prstGeom>
          <a:noFill/>
          <a:ln/>
        </p:spPr>
        <p:txBody>
          <a:bodyPr wrap="square" lIns="0" tIns="0" rIns="0" bIns="0" rtlCol="0" anchor="ctr"/>
          <a:lstStyle/>
          <a:p>
            <a:pPr algn="ctr" indent="0" marL="0">
              <a:buNone/>
            </a:pPr>
            <a:r>
              <a:rPr lang="en-US" sz="900" b="1" dirty="0">
                <a:solidFill>
                  <a:srgbClr val="0D9488"/>
                </a:solidFill>
                <a:latin typeface="Calibri" pitchFamily="34" charset="0"/>
                <a:ea typeface="Calibri" pitchFamily="34" charset="-122"/>
                <a:cs typeface="Calibri" pitchFamily="34" charset="-120"/>
              </a:rPr>
              <a:t>data.csv + params.yaml → model</a:t>
            </a:r>
            <a:endParaRPr lang="en-US" sz="900" dirty="0"/>
          </a:p>
        </p:txBody>
      </p:sp>
      <p:sp>
        <p:nvSpPr>
          <p:cNvPr id="31" name="Shape 29"/>
          <p:cNvSpPr/>
          <p:nvPr/>
        </p:nvSpPr>
        <p:spPr>
          <a:xfrm>
            <a:off x="6656832" y="2994660"/>
            <a:ext cx="182880" cy="0"/>
          </a:xfrm>
          <a:prstGeom prst="line">
            <a:avLst/>
          </a:prstGeom>
          <a:noFill/>
          <a:ln w="25400">
            <a:solidFill>
              <a:srgbClr val="0D9488"/>
            </a:solidFill>
            <a:prstDash val="solid"/>
          </a:ln>
        </p:spPr>
      </p:sp>
      <p:sp>
        <p:nvSpPr>
          <p:cNvPr id="32" name="Shape 30"/>
          <p:cNvSpPr/>
          <p:nvPr/>
        </p:nvSpPr>
        <p:spPr>
          <a:xfrm>
            <a:off x="6839712" y="1234440"/>
            <a:ext cx="1993392" cy="352044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33" name="Shape 31"/>
          <p:cNvSpPr/>
          <p:nvPr/>
        </p:nvSpPr>
        <p:spPr>
          <a:xfrm>
            <a:off x="6839712" y="1234440"/>
            <a:ext cx="1993392" cy="73152"/>
          </a:xfrm>
          <a:prstGeom prst="rect">
            <a:avLst/>
          </a:prstGeom>
          <a:solidFill>
            <a:srgbClr val="0D9488"/>
          </a:solidFill>
          <a:ln w="12700">
            <a:solidFill>
              <a:srgbClr val="0D9488"/>
            </a:solidFill>
            <a:prstDash val="solid"/>
          </a:ln>
        </p:spPr>
      </p:sp>
      <p:sp>
        <p:nvSpPr>
          <p:cNvPr id="34" name="Shape 32"/>
          <p:cNvSpPr/>
          <p:nvPr/>
        </p:nvSpPr>
        <p:spPr>
          <a:xfrm>
            <a:off x="7516368" y="1417320"/>
            <a:ext cx="640080" cy="640080"/>
          </a:xfrm>
          <a:prstGeom prst="ellipse">
            <a:avLst/>
          </a:prstGeom>
          <a:solidFill>
            <a:srgbClr val="1B2A4A"/>
          </a:solidFill>
          <a:ln w="12700">
            <a:solidFill>
              <a:srgbClr val="1B2A4A"/>
            </a:solidFill>
            <a:prstDash val="solid"/>
          </a:ln>
        </p:spPr>
      </p:sp>
      <p:sp>
        <p:nvSpPr>
          <p:cNvPr id="35" name="Text 33"/>
          <p:cNvSpPr/>
          <p:nvPr/>
        </p:nvSpPr>
        <p:spPr>
          <a:xfrm>
            <a:off x="7516368" y="1417320"/>
            <a:ext cx="6400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04</a:t>
            </a:r>
            <a:endParaRPr lang="en-US" sz="1400" dirty="0"/>
          </a:p>
        </p:txBody>
      </p:sp>
      <p:sp>
        <p:nvSpPr>
          <p:cNvPr id="36" name="Text 34"/>
          <p:cNvSpPr/>
          <p:nvPr/>
        </p:nvSpPr>
        <p:spPr>
          <a:xfrm>
            <a:off x="6931152" y="2194560"/>
            <a:ext cx="1810512" cy="384048"/>
          </a:xfrm>
          <a:prstGeom prst="rect">
            <a:avLst/>
          </a:prstGeom>
          <a:noFill/>
          <a:ln/>
        </p:spPr>
        <p:txBody>
          <a:bodyPr wrap="square" lIns="0" tIns="0" rIns="0" bIns="0" rtlCol="0" anchor="ctr"/>
          <a:lstStyle/>
          <a:p>
            <a:pPr algn="ctr" indent="0" marL="0">
              <a:buNone/>
            </a:pPr>
            <a:r>
              <a:rPr lang="en-US" sz="1500" b="1" dirty="0">
                <a:solidFill>
                  <a:srgbClr val="1B2A4A"/>
                </a:solidFill>
                <a:latin typeface="Georgia" pitchFamily="34" charset="0"/>
                <a:ea typeface="Georgia" pitchFamily="34" charset="-122"/>
                <a:cs typeface="Georgia" pitchFamily="34" charset="-120"/>
              </a:rPr>
              <a:t>Evaluate</a:t>
            </a:r>
            <a:endParaRPr lang="en-US" sz="1500" dirty="0"/>
          </a:p>
        </p:txBody>
      </p:sp>
      <p:sp>
        <p:nvSpPr>
          <p:cNvPr id="37" name="Text 35"/>
          <p:cNvSpPr/>
          <p:nvPr/>
        </p:nvSpPr>
        <p:spPr>
          <a:xfrm>
            <a:off x="6976872" y="2651760"/>
            <a:ext cx="1719072" cy="1481328"/>
          </a:xfrm>
          <a:prstGeom prst="rect">
            <a:avLst/>
          </a:prstGeom>
          <a:noFill/>
          <a:ln/>
        </p:spPr>
        <p:txBody>
          <a:bodyPr wrap="square" lIns="0" tIns="0" rIns="0" bIns="0" rtlCol="0" anchor="ctr"/>
          <a:lstStyle/>
          <a:p>
            <a:pPr algn="l" indent="0" marL="0">
              <a:buNone/>
            </a:pPr>
            <a:r>
              <a:rPr lang="en-US" sz="1100" dirty="0">
                <a:solidFill>
                  <a:srgbClr val="1E293B"/>
                </a:solidFill>
                <a:latin typeface="Calibri" pitchFamily="34" charset="0"/>
                <a:ea typeface="Calibri" pitchFamily="34" charset="-122"/>
                <a:cs typeface="Calibri" pitchFamily="34" charset="-120"/>
              </a:rPr>
              <a:t>Accuracy, AUC-ROC, confusion matrix, feature importances, fairness audit (3 groups).</a:t>
            </a:r>
            <a:endParaRPr lang="en-US" sz="1100" dirty="0"/>
          </a:p>
        </p:txBody>
      </p:sp>
      <p:sp>
        <p:nvSpPr>
          <p:cNvPr id="38" name="Shape 36"/>
          <p:cNvSpPr/>
          <p:nvPr/>
        </p:nvSpPr>
        <p:spPr>
          <a:xfrm>
            <a:off x="6949440" y="4206240"/>
            <a:ext cx="1773936" cy="411480"/>
          </a:xfrm>
          <a:prstGeom prst="rect">
            <a:avLst/>
          </a:prstGeom>
          <a:solidFill>
            <a:srgbClr val="CCFBF1"/>
          </a:solidFill>
          <a:ln w="6350">
            <a:solidFill>
              <a:srgbClr val="0D9488"/>
            </a:solidFill>
            <a:prstDash val="solid"/>
          </a:ln>
        </p:spPr>
      </p:sp>
      <p:sp>
        <p:nvSpPr>
          <p:cNvPr id="39" name="Text 37"/>
          <p:cNvSpPr/>
          <p:nvPr/>
        </p:nvSpPr>
        <p:spPr>
          <a:xfrm>
            <a:off x="6949440" y="4206240"/>
            <a:ext cx="1773936" cy="411480"/>
          </a:xfrm>
          <a:prstGeom prst="rect">
            <a:avLst/>
          </a:prstGeom>
          <a:noFill/>
          <a:ln/>
        </p:spPr>
        <p:txBody>
          <a:bodyPr wrap="square" lIns="0" tIns="0" rIns="0" bIns="0" rtlCol="0" anchor="ctr"/>
          <a:lstStyle/>
          <a:p>
            <a:pPr algn="ctr" indent="0" marL="0">
              <a:buNone/>
            </a:pPr>
            <a:r>
              <a:rPr lang="en-US" sz="900" b="1" dirty="0">
                <a:solidFill>
                  <a:srgbClr val="0D9488"/>
                </a:solidFill>
                <a:latin typeface="Calibri" pitchFamily="34" charset="0"/>
                <a:ea typeface="Calibri" pitchFamily="34" charset="-122"/>
                <a:cs typeface="Calibri" pitchFamily="34" charset="-120"/>
              </a:rPr>
              <a:t>model → metrics/*.json</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B2A4A"/>
          </a:solidFill>
          <a:ln w="12700">
            <a:solidFill>
              <a:srgbClr val="1B2A4A"/>
            </a:solidFill>
            <a:prstDash val="solid"/>
          </a:ln>
        </p:spPr>
      </p:sp>
      <p:sp>
        <p:nvSpPr>
          <p:cNvPr id="3" name="Shape 1"/>
          <p:cNvSpPr/>
          <p:nvPr/>
        </p:nvSpPr>
        <p:spPr>
          <a:xfrm>
            <a:off x="0" y="1005840"/>
            <a:ext cx="9144000" cy="54864"/>
          </a:xfrm>
          <a:prstGeom prst="rect">
            <a:avLst/>
          </a:prstGeom>
          <a:solidFill>
            <a:srgbClr val="0D9488"/>
          </a:solidFill>
          <a:ln w="12700">
            <a:solidFill>
              <a:srgbClr val="0D9488"/>
            </a:solidFill>
            <a:prstDash val="solid"/>
          </a:ln>
        </p:spPr>
      </p:sp>
      <p:sp>
        <p:nvSpPr>
          <p:cNvPr id="4" name="Text 2"/>
          <p:cNvSpPr/>
          <p:nvPr/>
        </p:nvSpPr>
        <p:spPr>
          <a:xfrm>
            <a:off x="365760" y="0"/>
            <a:ext cx="8412480" cy="100584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04  Model Training &amp; Baseline Results</a:t>
            </a:r>
            <a:endParaRPr lang="en-US" sz="2600" dirty="0"/>
          </a:p>
        </p:txBody>
      </p:sp>
      <p:sp>
        <p:nvSpPr>
          <p:cNvPr id="5" name="Shape 3"/>
          <p:cNvSpPr/>
          <p:nvPr/>
        </p:nvSpPr>
        <p:spPr>
          <a:xfrm>
            <a:off x="320040" y="1234440"/>
            <a:ext cx="4251960" cy="356616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6" name="Shape 4"/>
          <p:cNvSpPr/>
          <p:nvPr/>
        </p:nvSpPr>
        <p:spPr>
          <a:xfrm>
            <a:off x="320040" y="1234440"/>
            <a:ext cx="4251960" cy="73152"/>
          </a:xfrm>
          <a:prstGeom prst="rect">
            <a:avLst/>
          </a:prstGeom>
          <a:solidFill>
            <a:srgbClr val="0D9488"/>
          </a:solidFill>
          <a:ln w="12700">
            <a:solidFill>
              <a:srgbClr val="0D9488"/>
            </a:solidFill>
            <a:prstDash val="solid"/>
          </a:ln>
        </p:spPr>
      </p:sp>
      <p:sp>
        <p:nvSpPr>
          <p:cNvPr id="7" name="Text 5"/>
          <p:cNvSpPr/>
          <p:nvPr/>
        </p:nvSpPr>
        <p:spPr>
          <a:xfrm>
            <a:off x="457200" y="1389888"/>
            <a:ext cx="3977640" cy="384048"/>
          </a:xfrm>
          <a:prstGeom prst="rect">
            <a:avLst/>
          </a:prstGeom>
          <a:noFill/>
          <a:ln/>
        </p:spPr>
        <p:txBody>
          <a:bodyPr wrap="square" lIns="0" tIns="0" rIns="0" bIns="0" rtlCol="0" anchor="ctr"/>
          <a:lstStyle/>
          <a:p>
            <a:pPr algn="l" indent="0" marL="0">
              <a:buNone/>
            </a:pPr>
            <a:r>
              <a:rPr lang="en-US" sz="1600" b="1" dirty="0">
                <a:solidFill>
                  <a:srgbClr val="1B2A4A"/>
                </a:solidFill>
                <a:latin typeface="Georgia" pitchFamily="34" charset="0"/>
                <a:ea typeface="Georgia" pitchFamily="34" charset="-122"/>
                <a:cs typeface="Georgia" pitchFamily="34" charset="-120"/>
              </a:rPr>
              <a:t>Training Setup</a:t>
            </a:r>
            <a:endParaRPr lang="en-US" sz="1600" dirty="0"/>
          </a:p>
        </p:txBody>
      </p:sp>
      <p:sp>
        <p:nvSpPr>
          <p:cNvPr id="8" name="Shape 6"/>
          <p:cNvSpPr/>
          <p:nvPr/>
        </p:nvSpPr>
        <p:spPr>
          <a:xfrm>
            <a:off x="411480" y="1874520"/>
            <a:ext cx="4069080" cy="420624"/>
          </a:xfrm>
          <a:prstGeom prst="rect">
            <a:avLst/>
          </a:prstGeom>
          <a:solidFill>
            <a:srgbClr val="F8FAFC"/>
          </a:solidFill>
          <a:ln w="6350">
            <a:solidFill>
              <a:srgbClr val="E2E8F0"/>
            </a:solidFill>
            <a:prstDash val="solid"/>
          </a:ln>
        </p:spPr>
      </p:sp>
      <p:sp>
        <p:nvSpPr>
          <p:cNvPr id="9" name="Text 7"/>
          <p:cNvSpPr/>
          <p:nvPr/>
        </p:nvSpPr>
        <p:spPr>
          <a:xfrm>
            <a:off x="502920" y="1874520"/>
            <a:ext cx="1417320" cy="420624"/>
          </a:xfrm>
          <a:prstGeom prst="rect">
            <a:avLst/>
          </a:prstGeom>
          <a:noFill/>
          <a:ln/>
        </p:spPr>
        <p:txBody>
          <a:bodyPr wrap="square" lIns="0" tIns="0" rIns="0" bIns="0" rtlCol="0" anchor="ctr"/>
          <a:lstStyle/>
          <a:p>
            <a:pPr algn="l" indent="0" marL="0">
              <a:buNone/>
            </a:pPr>
            <a:r>
              <a:rPr lang="en-US" sz="1050" b="1" dirty="0">
                <a:solidFill>
                  <a:srgbClr val="64748B"/>
                </a:solidFill>
                <a:latin typeface="Calibri" pitchFamily="34" charset="0"/>
                <a:ea typeface="Calibri" pitchFamily="34" charset="-122"/>
                <a:cs typeface="Calibri" pitchFamily="34" charset="-120"/>
              </a:rPr>
              <a:t>Algorithm</a:t>
            </a:r>
            <a:endParaRPr lang="en-US" sz="1050" dirty="0"/>
          </a:p>
        </p:txBody>
      </p:sp>
      <p:sp>
        <p:nvSpPr>
          <p:cNvPr id="10" name="Text 8"/>
          <p:cNvSpPr/>
          <p:nvPr/>
        </p:nvSpPr>
        <p:spPr>
          <a:xfrm>
            <a:off x="1965960" y="1874520"/>
            <a:ext cx="2423160" cy="420624"/>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XGBoost Classifier</a:t>
            </a:r>
            <a:endParaRPr lang="en-US" sz="1050" dirty="0"/>
          </a:p>
        </p:txBody>
      </p:sp>
      <p:sp>
        <p:nvSpPr>
          <p:cNvPr id="11" name="Shape 9"/>
          <p:cNvSpPr/>
          <p:nvPr/>
        </p:nvSpPr>
        <p:spPr>
          <a:xfrm>
            <a:off x="411480" y="2350008"/>
            <a:ext cx="4069080" cy="420624"/>
          </a:xfrm>
          <a:prstGeom prst="rect">
            <a:avLst/>
          </a:prstGeom>
          <a:solidFill>
            <a:srgbClr val="FFFFFF"/>
          </a:solidFill>
          <a:ln w="6350">
            <a:solidFill>
              <a:srgbClr val="E2E8F0"/>
            </a:solidFill>
            <a:prstDash val="solid"/>
          </a:ln>
        </p:spPr>
      </p:sp>
      <p:sp>
        <p:nvSpPr>
          <p:cNvPr id="12" name="Text 10"/>
          <p:cNvSpPr/>
          <p:nvPr/>
        </p:nvSpPr>
        <p:spPr>
          <a:xfrm>
            <a:off x="502920" y="2350008"/>
            <a:ext cx="1417320" cy="420624"/>
          </a:xfrm>
          <a:prstGeom prst="rect">
            <a:avLst/>
          </a:prstGeom>
          <a:noFill/>
          <a:ln/>
        </p:spPr>
        <p:txBody>
          <a:bodyPr wrap="square" lIns="0" tIns="0" rIns="0" bIns="0" rtlCol="0" anchor="ctr"/>
          <a:lstStyle/>
          <a:p>
            <a:pPr algn="l" indent="0" marL="0">
              <a:buNone/>
            </a:pPr>
            <a:r>
              <a:rPr lang="en-US" sz="1050" b="1" dirty="0">
                <a:solidFill>
                  <a:srgbClr val="64748B"/>
                </a:solidFill>
                <a:latin typeface="Calibri" pitchFamily="34" charset="0"/>
                <a:ea typeface="Calibri" pitchFamily="34" charset="-122"/>
                <a:cs typeface="Calibri" pitchFamily="34" charset="-120"/>
              </a:rPr>
              <a:t>Pre-processing</a:t>
            </a:r>
            <a:endParaRPr lang="en-US" sz="1050" dirty="0"/>
          </a:p>
        </p:txBody>
      </p:sp>
      <p:sp>
        <p:nvSpPr>
          <p:cNvPr id="13" name="Text 11"/>
          <p:cNvSpPr/>
          <p:nvPr/>
        </p:nvSpPr>
        <p:spPr>
          <a:xfrm>
            <a:off x="1965960" y="2350008"/>
            <a:ext cx="2423160" cy="420624"/>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StandardScaler (sklearn Pipeline)</a:t>
            </a:r>
            <a:endParaRPr lang="en-US" sz="1050" dirty="0"/>
          </a:p>
        </p:txBody>
      </p:sp>
      <p:sp>
        <p:nvSpPr>
          <p:cNvPr id="14" name="Shape 12"/>
          <p:cNvSpPr/>
          <p:nvPr/>
        </p:nvSpPr>
        <p:spPr>
          <a:xfrm>
            <a:off x="411480" y="2825496"/>
            <a:ext cx="4069080" cy="420624"/>
          </a:xfrm>
          <a:prstGeom prst="rect">
            <a:avLst/>
          </a:prstGeom>
          <a:solidFill>
            <a:srgbClr val="F8FAFC"/>
          </a:solidFill>
          <a:ln w="6350">
            <a:solidFill>
              <a:srgbClr val="E2E8F0"/>
            </a:solidFill>
            <a:prstDash val="solid"/>
          </a:ln>
        </p:spPr>
      </p:sp>
      <p:sp>
        <p:nvSpPr>
          <p:cNvPr id="15" name="Text 13"/>
          <p:cNvSpPr/>
          <p:nvPr/>
        </p:nvSpPr>
        <p:spPr>
          <a:xfrm>
            <a:off x="502920" y="2825496"/>
            <a:ext cx="1417320" cy="420624"/>
          </a:xfrm>
          <a:prstGeom prst="rect">
            <a:avLst/>
          </a:prstGeom>
          <a:noFill/>
          <a:ln/>
        </p:spPr>
        <p:txBody>
          <a:bodyPr wrap="square" lIns="0" tIns="0" rIns="0" bIns="0" rtlCol="0" anchor="ctr"/>
          <a:lstStyle/>
          <a:p>
            <a:pPr algn="l" indent="0" marL="0">
              <a:buNone/>
            </a:pPr>
            <a:r>
              <a:rPr lang="en-US" sz="1050" b="1" dirty="0">
                <a:solidFill>
                  <a:srgbClr val="64748B"/>
                </a:solidFill>
                <a:latin typeface="Calibri" pitchFamily="34" charset="0"/>
                <a:ea typeface="Calibri" pitchFamily="34" charset="-122"/>
                <a:cs typeface="Calibri" pitchFamily="34" charset="-120"/>
              </a:rPr>
              <a:t>HPO Framework</a:t>
            </a:r>
            <a:endParaRPr lang="en-US" sz="1050" dirty="0"/>
          </a:p>
        </p:txBody>
      </p:sp>
      <p:sp>
        <p:nvSpPr>
          <p:cNvPr id="16" name="Text 14"/>
          <p:cNvSpPr/>
          <p:nvPr/>
        </p:nvSpPr>
        <p:spPr>
          <a:xfrm>
            <a:off x="1965960" y="2825496"/>
            <a:ext cx="2423160" cy="420624"/>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Optuna TPE Sampler</a:t>
            </a:r>
            <a:endParaRPr lang="en-US" sz="1050" dirty="0"/>
          </a:p>
        </p:txBody>
      </p:sp>
      <p:sp>
        <p:nvSpPr>
          <p:cNvPr id="17" name="Shape 15"/>
          <p:cNvSpPr/>
          <p:nvPr/>
        </p:nvSpPr>
        <p:spPr>
          <a:xfrm>
            <a:off x="411480" y="3300984"/>
            <a:ext cx="4069080" cy="420624"/>
          </a:xfrm>
          <a:prstGeom prst="rect">
            <a:avLst/>
          </a:prstGeom>
          <a:solidFill>
            <a:srgbClr val="FFFFFF"/>
          </a:solidFill>
          <a:ln w="6350">
            <a:solidFill>
              <a:srgbClr val="E2E8F0"/>
            </a:solidFill>
            <a:prstDash val="solid"/>
          </a:ln>
        </p:spPr>
      </p:sp>
      <p:sp>
        <p:nvSpPr>
          <p:cNvPr id="18" name="Text 16"/>
          <p:cNvSpPr/>
          <p:nvPr/>
        </p:nvSpPr>
        <p:spPr>
          <a:xfrm>
            <a:off x="502920" y="3300984"/>
            <a:ext cx="1417320" cy="420624"/>
          </a:xfrm>
          <a:prstGeom prst="rect">
            <a:avLst/>
          </a:prstGeom>
          <a:noFill/>
          <a:ln/>
        </p:spPr>
        <p:txBody>
          <a:bodyPr wrap="square" lIns="0" tIns="0" rIns="0" bIns="0" rtlCol="0" anchor="ctr"/>
          <a:lstStyle/>
          <a:p>
            <a:pPr algn="l" indent="0" marL="0">
              <a:buNone/>
            </a:pPr>
            <a:r>
              <a:rPr lang="en-US" sz="1050" b="1" dirty="0">
                <a:solidFill>
                  <a:srgbClr val="64748B"/>
                </a:solidFill>
                <a:latin typeface="Calibri" pitchFamily="34" charset="0"/>
                <a:ea typeface="Calibri" pitchFamily="34" charset="-122"/>
                <a:cs typeface="Calibri" pitchFamily="34" charset="-120"/>
              </a:rPr>
              <a:t>Trials / CV</a:t>
            </a:r>
            <a:endParaRPr lang="en-US" sz="1050" dirty="0"/>
          </a:p>
        </p:txBody>
      </p:sp>
      <p:sp>
        <p:nvSpPr>
          <p:cNvPr id="19" name="Text 17"/>
          <p:cNvSpPr/>
          <p:nvPr/>
        </p:nvSpPr>
        <p:spPr>
          <a:xfrm>
            <a:off x="1965960" y="3300984"/>
            <a:ext cx="2423160" cy="420624"/>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20 trials · 5-fold cross-validation</a:t>
            </a:r>
            <a:endParaRPr lang="en-US" sz="1050" dirty="0"/>
          </a:p>
        </p:txBody>
      </p:sp>
      <p:sp>
        <p:nvSpPr>
          <p:cNvPr id="20" name="Shape 18"/>
          <p:cNvSpPr/>
          <p:nvPr/>
        </p:nvSpPr>
        <p:spPr>
          <a:xfrm>
            <a:off x="411480" y="3776472"/>
            <a:ext cx="4069080" cy="420624"/>
          </a:xfrm>
          <a:prstGeom prst="rect">
            <a:avLst/>
          </a:prstGeom>
          <a:solidFill>
            <a:srgbClr val="F8FAFC"/>
          </a:solidFill>
          <a:ln w="6350">
            <a:solidFill>
              <a:srgbClr val="E2E8F0"/>
            </a:solidFill>
            <a:prstDash val="solid"/>
          </a:ln>
        </p:spPr>
      </p:sp>
      <p:sp>
        <p:nvSpPr>
          <p:cNvPr id="21" name="Text 19"/>
          <p:cNvSpPr/>
          <p:nvPr/>
        </p:nvSpPr>
        <p:spPr>
          <a:xfrm>
            <a:off x="502920" y="3776472"/>
            <a:ext cx="1417320" cy="420624"/>
          </a:xfrm>
          <a:prstGeom prst="rect">
            <a:avLst/>
          </a:prstGeom>
          <a:noFill/>
          <a:ln/>
        </p:spPr>
        <p:txBody>
          <a:bodyPr wrap="square" lIns="0" tIns="0" rIns="0" bIns="0" rtlCol="0" anchor="ctr"/>
          <a:lstStyle/>
          <a:p>
            <a:pPr algn="l" indent="0" marL="0">
              <a:buNone/>
            </a:pPr>
            <a:r>
              <a:rPr lang="en-US" sz="1050" b="1" dirty="0">
                <a:solidFill>
                  <a:srgbClr val="64748B"/>
                </a:solidFill>
                <a:latin typeface="Calibri" pitchFamily="34" charset="0"/>
                <a:ea typeface="Calibri" pitchFamily="34" charset="-122"/>
                <a:cs typeface="Calibri" pitchFamily="34" charset="-120"/>
              </a:rPr>
              <a:t>Tracking</a:t>
            </a:r>
            <a:endParaRPr lang="en-US" sz="1050" dirty="0"/>
          </a:p>
        </p:txBody>
      </p:sp>
      <p:sp>
        <p:nvSpPr>
          <p:cNvPr id="22" name="Text 20"/>
          <p:cNvSpPr/>
          <p:nvPr/>
        </p:nvSpPr>
        <p:spPr>
          <a:xfrm>
            <a:off x="1965960" y="3776472"/>
            <a:ext cx="2423160" cy="420624"/>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MLflow → registered as credit-scoring-xgb</a:t>
            </a:r>
            <a:endParaRPr lang="en-US" sz="1050" dirty="0"/>
          </a:p>
        </p:txBody>
      </p:sp>
      <p:sp>
        <p:nvSpPr>
          <p:cNvPr id="23" name="Shape 21"/>
          <p:cNvSpPr/>
          <p:nvPr/>
        </p:nvSpPr>
        <p:spPr>
          <a:xfrm>
            <a:off x="411480" y="4251960"/>
            <a:ext cx="4069080" cy="420624"/>
          </a:xfrm>
          <a:prstGeom prst="rect">
            <a:avLst/>
          </a:prstGeom>
          <a:solidFill>
            <a:srgbClr val="FFFFFF"/>
          </a:solidFill>
          <a:ln w="6350">
            <a:solidFill>
              <a:srgbClr val="E2E8F0"/>
            </a:solidFill>
            <a:prstDash val="solid"/>
          </a:ln>
        </p:spPr>
      </p:sp>
      <p:sp>
        <p:nvSpPr>
          <p:cNvPr id="24" name="Text 22"/>
          <p:cNvSpPr/>
          <p:nvPr/>
        </p:nvSpPr>
        <p:spPr>
          <a:xfrm>
            <a:off x="502920" y="4251960"/>
            <a:ext cx="1417320" cy="420624"/>
          </a:xfrm>
          <a:prstGeom prst="rect">
            <a:avLst/>
          </a:prstGeom>
          <a:noFill/>
          <a:ln/>
        </p:spPr>
        <p:txBody>
          <a:bodyPr wrap="square" lIns="0" tIns="0" rIns="0" bIns="0" rtlCol="0" anchor="ctr"/>
          <a:lstStyle/>
          <a:p>
            <a:pPr algn="l" indent="0" marL="0">
              <a:buNone/>
            </a:pPr>
            <a:r>
              <a:rPr lang="en-US" sz="1050" b="1" dirty="0">
                <a:solidFill>
                  <a:srgbClr val="64748B"/>
                </a:solidFill>
                <a:latin typeface="Calibri" pitchFamily="34" charset="0"/>
                <a:ea typeface="Calibri" pitchFamily="34" charset="-122"/>
                <a:cs typeface="Calibri" pitchFamily="34" charset="-120"/>
              </a:rPr>
              <a:t>Train/Test</a:t>
            </a:r>
            <a:endParaRPr lang="en-US" sz="1050" dirty="0"/>
          </a:p>
        </p:txBody>
      </p:sp>
      <p:sp>
        <p:nvSpPr>
          <p:cNvPr id="25" name="Text 23"/>
          <p:cNvSpPr/>
          <p:nvPr/>
        </p:nvSpPr>
        <p:spPr>
          <a:xfrm>
            <a:off x="1965960" y="4251960"/>
            <a:ext cx="2423160" cy="420624"/>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80% / 20% stratified split</a:t>
            </a:r>
            <a:endParaRPr lang="en-US" sz="1050" dirty="0"/>
          </a:p>
        </p:txBody>
      </p:sp>
      <p:sp>
        <p:nvSpPr>
          <p:cNvPr id="26" name="Shape 24"/>
          <p:cNvSpPr/>
          <p:nvPr/>
        </p:nvSpPr>
        <p:spPr>
          <a:xfrm>
            <a:off x="4846320" y="1234440"/>
            <a:ext cx="1938528" cy="1664208"/>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27" name="Shape 25"/>
          <p:cNvSpPr/>
          <p:nvPr/>
        </p:nvSpPr>
        <p:spPr>
          <a:xfrm>
            <a:off x="4846320" y="1234440"/>
            <a:ext cx="1938528" cy="73152"/>
          </a:xfrm>
          <a:prstGeom prst="rect">
            <a:avLst/>
          </a:prstGeom>
          <a:solidFill>
            <a:srgbClr val="0D9488"/>
          </a:solidFill>
          <a:ln w="12700">
            <a:solidFill>
              <a:srgbClr val="0D9488"/>
            </a:solidFill>
            <a:prstDash val="solid"/>
          </a:ln>
        </p:spPr>
      </p:sp>
      <p:sp>
        <p:nvSpPr>
          <p:cNvPr id="28" name="Text 26"/>
          <p:cNvSpPr/>
          <p:nvPr/>
        </p:nvSpPr>
        <p:spPr>
          <a:xfrm>
            <a:off x="4846320" y="1417320"/>
            <a:ext cx="1938528" cy="1005840"/>
          </a:xfrm>
          <a:prstGeom prst="rect">
            <a:avLst/>
          </a:prstGeom>
          <a:noFill/>
          <a:ln/>
        </p:spPr>
        <p:txBody>
          <a:bodyPr wrap="square" lIns="0" tIns="0" rIns="0" bIns="0" rtlCol="0" anchor="ctr"/>
          <a:lstStyle/>
          <a:p>
            <a:pPr algn="ctr" indent="0" marL="0">
              <a:buNone/>
            </a:pPr>
            <a:r>
              <a:rPr lang="en-US" sz="4400" b="1" dirty="0">
                <a:solidFill>
                  <a:srgbClr val="0D9488"/>
                </a:solidFill>
                <a:latin typeface="Georgia" pitchFamily="34" charset="0"/>
                <a:ea typeface="Georgia" pitchFamily="34" charset="-122"/>
                <a:cs typeface="Georgia" pitchFamily="34" charset="-120"/>
              </a:rPr>
              <a:t>0.778</a:t>
            </a:r>
            <a:endParaRPr lang="en-US" sz="4400" dirty="0"/>
          </a:p>
        </p:txBody>
      </p:sp>
      <p:sp>
        <p:nvSpPr>
          <p:cNvPr id="29" name="Text 27"/>
          <p:cNvSpPr/>
          <p:nvPr/>
        </p:nvSpPr>
        <p:spPr>
          <a:xfrm>
            <a:off x="4846320" y="2496312"/>
            <a:ext cx="1938528" cy="329184"/>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AUC-ROC</a:t>
            </a:r>
            <a:endParaRPr lang="en-US" sz="1200" dirty="0"/>
          </a:p>
        </p:txBody>
      </p:sp>
      <p:sp>
        <p:nvSpPr>
          <p:cNvPr id="30" name="Shape 28"/>
          <p:cNvSpPr/>
          <p:nvPr/>
        </p:nvSpPr>
        <p:spPr>
          <a:xfrm>
            <a:off x="7040880" y="1234440"/>
            <a:ext cx="1938528" cy="1664208"/>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31" name="Shape 29"/>
          <p:cNvSpPr/>
          <p:nvPr/>
        </p:nvSpPr>
        <p:spPr>
          <a:xfrm>
            <a:off x="7040880" y="1234440"/>
            <a:ext cx="1938528" cy="73152"/>
          </a:xfrm>
          <a:prstGeom prst="rect">
            <a:avLst/>
          </a:prstGeom>
          <a:solidFill>
            <a:srgbClr val="1B2A4A"/>
          </a:solidFill>
          <a:ln w="12700">
            <a:solidFill>
              <a:srgbClr val="1B2A4A"/>
            </a:solidFill>
            <a:prstDash val="solid"/>
          </a:ln>
        </p:spPr>
      </p:sp>
      <p:sp>
        <p:nvSpPr>
          <p:cNvPr id="32" name="Text 30"/>
          <p:cNvSpPr/>
          <p:nvPr/>
        </p:nvSpPr>
        <p:spPr>
          <a:xfrm>
            <a:off x="7040880" y="1417320"/>
            <a:ext cx="1938528" cy="1005840"/>
          </a:xfrm>
          <a:prstGeom prst="rect">
            <a:avLst/>
          </a:prstGeom>
          <a:noFill/>
          <a:ln/>
        </p:spPr>
        <p:txBody>
          <a:bodyPr wrap="square" lIns="0" tIns="0" rIns="0" bIns="0" rtlCol="0" anchor="ctr"/>
          <a:lstStyle/>
          <a:p>
            <a:pPr algn="ctr" indent="0" marL="0">
              <a:buNone/>
            </a:pPr>
            <a:r>
              <a:rPr lang="en-US" sz="4400" b="1" dirty="0">
                <a:solidFill>
                  <a:srgbClr val="1B2A4A"/>
                </a:solidFill>
                <a:latin typeface="Georgia" pitchFamily="34" charset="0"/>
                <a:ea typeface="Georgia" pitchFamily="34" charset="-122"/>
                <a:cs typeface="Georgia" pitchFamily="34" charset="-120"/>
              </a:rPr>
              <a:t>82.0%</a:t>
            </a:r>
            <a:endParaRPr lang="en-US" sz="4400" dirty="0"/>
          </a:p>
        </p:txBody>
      </p:sp>
      <p:sp>
        <p:nvSpPr>
          <p:cNvPr id="33" name="Text 31"/>
          <p:cNvSpPr/>
          <p:nvPr/>
        </p:nvSpPr>
        <p:spPr>
          <a:xfrm>
            <a:off x="7040880" y="2496312"/>
            <a:ext cx="1938528" cy="329184"/>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Accuracy</a:t>
            </a:r>
            <a:endParaRPr lang="en-US" sz="1200" dirty="0"/>
          </a:p>
        </p:txBody>
      </p:sp>
      <p:sp>
        <p:nvSpPr>
          <p:cNvPr id="34" name="Shape 32"/>
          <p:cNvSpPr/>
          <p:nvPr/>
        </p:nvSpPr>
        <p:spPr>
          <a:xfrm>
            <a:off x="4846320" y="3063240"/>
            <a:ext cx="1938528" cy="1664208"/>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35" name="Shape 33"/>
          <p:cNvSpPr/>
          <p:nvPr/>
        </p:nvSpPr>
        <p:spPr>
          <a:xfrm>
            <a:off x="4846320" y="3063240"/>
            <a:ext cx="1938528" cy="73152"/>
          </a:xfrm>
          <a:prstGeom prst="rect">
            <a:avLst/>
          </a:prstGeom>
          <a:solidFill>
            <a:srgbClr val="0891B2"/>
          </a:solidFill>
          <a:ln w="12700">
            <a:solidFill>
              <a:srgbClr val="0891B2"/>
            </a:solidFill>
            <a:prstDash val="solid"/>
          </a:ln>
        </p:spPr>
      </p:sp>
      <p:sp>
        <p:nvSpPr>
          <p:cNvPr id="36" name="Text 34"/>
          <p:cNvSpPr/>
          <p:nvPr/>
        </p:nvSpPr>
        <p:spPr>
          <a:xfrm>
            <a:off x="4846320" y="3246120"/>
            <a:ext cx="1938528" cy="1005840"/>
          </a:xfrm>
          <a:prstGeom prst="rect">
            <a:avLst/>
          </a:prstGeom>
          <a:noFill/>
          <a:ln/>
        </p:spPr>
        <p:txBody>
          <a:bodyPr wrap="square" lIns="0" tIns="0" rIns="0" bIns="0" rtlCol="0" anchor="ctr"/>
          <a:lstStyle/>
          <a:p>
            <a:pPr algn="ctr" indent="0" marL="0">
              <a:buNone/>
            </a:pPr>
            <a:r>
              <a:rPr lang="en-US" sz="4400" b="1" dirty="0">
                <a:solidFill>
                  <a:srgbClr val="0891B2"/>
                </a:solidFill>
                <a:latin typeface="Georgia" pitchFamily="34" charset="0"/>
                <a:ea typeface="Georgia" pitchFamily="34" charset="-122"/>
                <a:cs typeface="Georgia" pitchFamily="34" charset="-120"/>
              </a:rPr>
              <a:t>0.642</a:t>
            </a:r>
            <a:endParaRPr lang="en-US" sz="4400" dirty="0"/>
          </a:p>
        </p:txBody>
      </p:sp>
      <p:sp>
        <p:nvSpPr>
          <p:cNvPr id="37" name="Text 35"/>
          <p:cNvSpPr/>
          <p:nvPr/>
        </p:nvSpPr>
        <p:spPr>
          <a:xfrm>
            <a:off x="4846320" y="4325112"/>
            <a:ext cx="1938528" cy="329184"/>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F1 Score</a:t>
            </a:r>
            <a:endParaRPr lang="en-US" sz="1200" dirty="0"/>
          </a:p>
        </p:txBody>
      </p:sp>
      <p:sp>
        <p:nvSpPr>
          <p:cNvPr id="38" name="Shape 36"/>
          <p:cNvSpPr/>
          <p:nvPr/>
        </p:nvSpPr>
        <p:spPr>
          <a:xfrm>
            <a:off x="7040880" y="3063240"/>
            <a:ext cx="1938528" cy="1664208"/>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39" name="Shape 37"/>
          <p:cNvSpPr/>
          <p:nvPr/>
        </p:nvSpPr>
        <p:spPr>
          <a:xfrm>
            <a:off x="7040880" y="3063240"/>
            <a:ext cx="1938528" cy="73152"/>
          </a:xfrm>
          <a:prstGeom prst="rect">
            <a:avLst/>
          </a:prstGeom>
          <a:solidFill>
            <a:srgbClr val="B45309"/>
          </a:solidFill>
          <a:ln w="12700">
            <a:solidFill>
              <a:srgbClr val="B45309"/>
            </a:solidFill>
            <a:prstDash val="solid"/>
          </a:ln>
        </p:spPr>
      </p:sp>
      <p:sp>
        <p:nvSpPr>
          <p:cNvPr id="40" name="Text 38"/>
          <p:cNvSpPr/>
          <p:nvPr/>
        </p:nvSpPr>
        <p:spPr>
          <a:xfrm>
            <a:off x="7040880" y="3246120"/>
            <a:ext cx="1938528" cy="1005840"/>
          </a:xfrm>
          <a:prstGeom prst="rect">
            <a:avLst/>
          </a:prstGeom>
          <a:noFill/>
          <a:ln/>
        </p:spPr>
        <p:txBody>
          <a:bodyPr wrap="square" lIns="0" tIns="0" rIns="0" bIns="0" rtlCol="0" anchor="ctr"/>
          <a:lstStyle/>
          <a:p>
            <a:pPr algn="ctr" indent="0" marL="0">
              <a:buNone/>
            </a:pPr>
            <a:r>
              <a:rPr lang="en-US" sz="4400" b="1" dirty="0">
                <a:solidFill>
                  <a:srgbClr val="B45309"/>
                </a:solidFill>
                <a:latin typeface="Georgia" pitchFamily="34" charset="0"/>
                <a:ea typeface="Georgia" pitchFamily="34" charset="-122"/>
                <a:cs typeface="Georgia" pitchFamily="34" charset="-120"/>
              </a:rPr>
              <a:t>67.5%</a:t>
            </a:r>
            <a:endParaRPr lang="en-US" sz="4400" dirty="0"/>
          </a:p>
        </p:txBody>
      </p:sp>
      <p:sp>
        <p:nvSpPr>
          <p:cNvPr id="41" name="Text 39"/>
          <p:cNvSpPr/>
          <p:nvPr/>
        </p:nvSpPr>
        <p:spPr>
          <a:xfrm>
            <a:off x="7040880" y="4325112"/>
            <a:ext cx="1938528" cy="329184"/>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Precision</a:t>
            </a:r>
            <a:endParaRPr lang="en-US" sz="1200" dirty="0"/>
          </a:p>
        </p:txBody>
      </p:sp>
      <p:sp>
        <p:nvSpPr>
          <p:cNvPr id="42" name="Shape 40"/>
          <p:cNvSpPr/>
          <p:nvPr/>
        </p:nvSpPr>
        <p:spPr>
          <a:xfrm>
            <a:off x="4846320" y="4663440"/>
            <a:ext cx="4133088" cy="347472"/>
          </a:xfrm>
          <a:prstGeom prst="rect">
            <a:avLst/>
          </a:prstGeom>
          <a:solidFill>
            <a:srgbClr val="CCFBF1"/>
          </a:solidFill>
          <a:ln w="6350">
            <a:solidFill>
              <a:srgbClr val="0D9488"/>
            </a:solidFill>
            <a:prstDash val="solid"/>
          </a:ln>
        </p:spPr>
      </p:sp>
      <p:sp>
        <p:nvSpPr>
          <p:cNvPr id="43" name="Text 41"/>
          <p:cNvSpPr/>
          <p:nvPr/>
        </p:nvSpPr>
        <p:spPr>
          <a:xfrm>
            <a:off x="4846320" y="4663440"/>
            <a:ext cx="4133088" cy="347472"/>
          </a:xfrm>
          <a:prstGeom prst="rect">
            <a:avLst/>
          </a:prstGeom>
          <a:noFill/>
          <a:ln/>
        </p:spPr>
        <p:txBody>
          <a:bodyPr wrap="square" lIns="0" tIns="0" rIns="0" bIns="0" rtlCol="0" anchor="ctr"/>
          <a:lstStyle/>
          <a:p>
            <a:pPr algn="ctr" indent="0" marL="0">
              <a:buNone/>
            </a:pPr>
            <a:r>
              <a:rPr lang="en-US" sz="1000" i="1" dirty="0">
                <a:solidFill>
                  <a:srgbClr val="0D9488"/>
                </a:solidFill>
                <a:latin typeface="Calibri" pitchFamily="34" charset="0"/>
                <a:ea typeface="Calibri" pitchFamily="34" charset="-122"/>
                <a:cs typeface="Calibri" pitchFamily="34" charset="-120"/>
              </a:rPr>
              <a:t>All runs logged in MLflow  ·  Best model registered to Model Registry</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w="12700">
            <a:solidFill>
              <a:srgbClr val="0D9488"/>
            </a:solidFill>
            <a:prstDash val="solid"/>
          </a:ln>
        </p:spPr>
      </p:sp>
      <p:sp>
        <p:nvSpPr>
          <p:cNvPr id="3" name="Text 1"/>
          <p:cNvSpPr/>
          <p:nvPr/>
        </p:nvSpPr>
        <p:spPr>
          <a:xfrm>
            <a:off x="365760" y="109728"/>
            <a:ext cx="8412480" cy="749808"/>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05  Containerized Inference Demo</a:t>
            </a:r>
            <a:endParaRPr lang="en-US" sz="2600" dirty="0"/>
          </a:p>
        </p:txBody>
      </p:sp>
      <p:sp>
        <p:nvSpPr>
          <p:cNvPr id="4" name="Shape 2"/>
          <p:cNvSpPr/>
          <p:nvPr/>
        </p:nvSpPr>
        <p:spPr>
          <a:xfrm>
            <a:off x="320040" y="1005840"/>
            <a:ext cx="4389120" cy="3840480"/>
          </a:xfrm>
          <a:prstGeom prst="rect">
            <a:avLst/>
          </a:prstGeom>
          <a:solidFill>
            <a:srgbClr val="1E293B"/>
          </a:solidFill>
          <a:ln w="12700">
            <a:solidFill>
              <a:srgbClr val="0D9488"/>
            </a:solidFill>
            <a:prstDash val="solid"/>
          </a:ln>
        </p:spPr>
      </p:sp>
      <p:sp>
        <p:nvSpPr>
          <p:cNvPr id="5" name="Shape 3"/>
          <p:cNvSpPr/>
          <p:nvPr/>
        </p:nvSpPr>
        <p:spPr>
          <a:xfrm>
            <a:off x="320040" y="1005840"/>
            <a:ext cx="4389120" cy="365760"/>
          </a:xfrm>
          <a:prstGeom prst="rect">
            <a:avLst/>
          </a:prstGeom>
          <a:solidFill>
            <a:srgbClr val="0D9488"/>
          </a:solidFill>
          <a:ln w="12700">
            <a:solidFill>
              <a:srgbClr val="0D9488"/>
            </a:solidFill>
            <a:prstDash val="solid"/>
          </a:ln>
        </p:spPr>
      </p:sp>
      <p:sp>
        <p:nvSpPr>
          <p:cNvPr id="6" name="Text 4"/>
          <p:cNvSpPr/>
          <p:nvPr/>
        </p:nvSpPr>
        <p:spPr>
          <a:xfrm>
            <a:off x="411480" y="1005840"/>
            <a:ext cx="4206240" cy="365760"/>
          </a:xfrm>
          <a:prstGeom prst="rect">
            <a:avLst/>
          </a:prstGeom>
          <a:noFill/>
          <a:ln/>
        </p:spPr>
        <p:txBody>
          <a:bodyPr wrap="square" lIns="0" tIns="0" rIns="0" bIns="0" rtlCol="0" anchor="ctr"/>
          <a:lstStyle/>
          <a:p>
            <a:pPr algn="l" indent="0" marL="0">
              <a:buNone/>
            </a:pPr>
            <a:r>
              <a:rPr lang="en-US" sz="1150" b="1" dirty="0">
                <a:solidFill>
                  <a:srgbClr val="FFFFFF"/>
                </a:solidFill>
                <a:latin typeface="Calibri" pitchFamily="34" charset="0"/>
                <a:ea typeface="Calibri" pitchFamily="34" charset="-122"/>
                <a:cs typeface="Calibri" pitchFamily="34" charset="-120"/>
              </a:rPr>
              <a:t>Dockerfile  —  Multi-Stage Build</a:t>
            </a:r>
            <a:endParaRPr lang="en-US" sz="1150" dirty="0"/>
          </a:p>
        </p:txBody>
      </p:sp>
      <p:sp>
        <p:nvSpPr>
          <p:cNvPr id="7" name="Text 5"/>
          <p:cNvSpPr/>
          <p:nvPr/>
        </p:nvSpPr>
        <p:spPr>
          <a:xfrm>
            <a:off x="457200" y="1444752"/>
            <a:ext cx="4160520" cy="246888"/>
          </a:xfrm>
          <a:prstGeom prst="rect">
            <a:avLst/>
          </a:prstGeom>
          <a:noFill/>
          <a:ln/>
        </p:spPr>
        <p:txBody>
          <a:bodyPr wrap="square" lIns="0" tIns="0" rIns="0" bIns="0" rtlCol="0" anchor="ctr"/>
          <a:lstStyle/>
          <a:p>
            <a:pPr algn="l" indent="0" marL="0">
              <a:buNone/>
            </a:pPr>
            <a:r>
              <a:rPr lang="en-US" sz="950" dirty="0">
                <a:solidFill>
                  <a:srgbClr val="64748B"/>
                </a:solidFill>
                <a:latin typeface="Courier New" pitchFamily="34" charset="0"/>
                <a:ea typeface="Courier New" pitchFamily="34" charset="-122"/>
                <a:cs typeface="Courier New" pitchFamily="34" charset="-120"/>
              </a:rPr>
              <a:t># ── Stage 1: Builder ──────────────────</a:t>
            </a:r>
            <a:endParaRPr lang="en-US" sz="950" dirty="0"/>
          </a:p>
        </p:txBody>
      </p:sp>
      <p:sp>
        <p:nvSpPr>
          <p:cNvPr id="8" name="Text 6"/>
          <p:cNvSpPr/>
          <p:nvPr/>
        </p:nvSpPr>
        <p:spPr>
          <a:xfrm>
            <a:off x="457200" y="1691640"/>
            <a:ext cx="4160520" cy="246888"/>
          </a:xfrm>
          <a:prstGeom prst="rect">
            <a:avLst/>
          </a:prstGeom>
          <a:noFill/>
          <a:ln/>
        </p:spPr>
        <p:txBody>
          <a:bodyPr wrap="square" lIns="0" tIns="0" rIns="0" bIns="0" rtlCol="0" anchor="ctr"/>
          <a:lstStyle/>
          <a:p>
            <a:pPr algn="l" indent="0" marL="0">
              <a:buNone/>
            </a:pPr>
            <a:r>
              <a:rPr lang="en-US" sz="950" dirty="0">
                <a:solidFill>
                  <a:srgbClr val="93C5FD"/>
                </a:solidFill>
                <a:latin typeface="Courier New" pitchFamily="34" charset="0"/>
                <a:ea typeface="Courier New" pitchFamily="34" charset="-122"/>
                <a:cs typeface="Courier New" pitchFamily="34" charset="-120"/>
              </a:rPr>
              <a:t>FROM python:3.11-slim AS builder</a:t>
            </a:r>
            <a:endParaRPr lang="en-US" sz="950" dirty="0"/>
          </a:p>
        </p:txBody>
      </p:sp>
      <p:sp>
        <p:nvSpPr>
          <p:cNvPr id="9" name="Text 7"/>
          <p:cNvSpPr/>
          <p:nvPr/>
        </p:nvSpPr>
        <p:spPr>
          <a:xfrm>
            <a:off x="457200" y="1938528"/>
            <a:ext cx="4160520" cy="246888"/>
          </a:xfrm>
          <a:prstGeom prst="rect">
            <a:avLst/>
          </a:prstGeom>
          <a:noFill/>
          <a:ln/>
        </p:spPr>
        <p:txBody>
          <a:bodyPr wrap="square" lIns="0" tIns="0" rIns="0" bIns="0" rtlCol="0" anchor="ctr"/>
          <a:lstStyle/>
          <a:p>
            <a:pPr algn="l" indent="0" marL="0">
              <a:buNone/>
            </a:pPr>
            <a:r>
              <a:rPr lang="en-US" sz="950" dirty="0">
                <a:solidFill>
                  <a:srgbClr val="E2E8F0"/>
                </a:solidFill>
                <a:latin typeface="Courier New" pitchFamily="34" charset="0"/>
                <a:ea typeface="Courier New" pitchFamily="34" charset="-122"/>
                <a:cs typeface="Courier New" pitchFamily="34" charset="-120"/>
              </a:rPr>
              <a:t>RUN apt-get install build-essential</a:t>
            </a:r>
            <a:endParaRPr lang="en-US" sz="950" dirty="0"/>
          </a:p>
        </p:txBody>
      </p:sp>
      <p:sp>
        <p:nvSpPr>
          <p:cNvPr id="10" name="Text 8"/>
          <p:cNvSpPr/>
          <p:nvPr/>
        </p:nvSpPr>
        <p:spPr>
          <a:xfrm>
            <a:off x="457200" y="2185416"/>
            <a:ext cx="4160520" cy="246888"/>
          </a:xfrm>
          <a:prstGeom prst="rect">
            <a:avLst/>
          </a:prstGeom>
          <a:noFill/>
          <a:ln/>
        </p:spPr>
        <p:txBody>
          <a:bodyPr wrap="square" lIns="0" tIns="0" rIns="0" bIns="0" rtlCol="0" anchor="ctr"/>
          <a:lstStyle/>
          <a:p>
            <a:pPr algn="l" indent="0" marL="0">
              <a:buNone/>
            </a:pPr>
            <a:r>
              <a:rPr lang="en-US" sz="950" dirty="0">
                <a:solidFill>
                  <a:srgbClr val="E2E8F0"/>
                </a:solidFill>
                <a:latin typeface="Courier New" pitchFamily="34" charset="0"/>
                <a:ea typeface="Courier New" pitchFamily="34" charset="-122"/>
                <a:cs typeface="Courier New" pitchFamily="34" charset="-120"/>
              </a:rPr>
              <a:t>COPY requirements.txt .</a:t>
            </a:r>
            <a:endParaRPr lang="en-US" sz="950" dirty="0"/>
          </a:p>
        </p:txBody>
      </p:sp>
      <p:sp>
        <p:nvSpPr>
          <p:cNvPr id="11" name="Text 9"/>
          <p:cNvSpPr/>
          <p:nvPr/>
        </p:nvSpPr>
        <p:spPr>
          <a:xfrm>
            <a:off x="457200" y="2432304"/>
            <a:ext cx="4160520" cy="246888"/>
          </a:xfrm>
          <a:prstGeom prst="rect">
            <a:avLst/>
          </a:prstGeom>
          <a:noFill/>
          <a:ln/>
        </p:spPr>
        <p:txBody>
          <a:bodyPr wrap="square" lIns="0" tIns="0" rIns="0" bIns="0" rtlCol="0" anchor="ctr"/>
          <a:lstStyle/>
          <a:p>
            <a:pPr algn="l" indent="0" marL="0">
              <a:buNone/>
            </a:pPr>
            <a:r>
              <a:rPr lang="en-US" sz="950" dirty="0">
                <a:solidFill>
                  <a:srgbClr val="E2E8F0"/>
                </a:solidFill>
                <a:latin typeface="Courier New" pitchFamily="34" charset="0"/>
                <a:ea typeface="Courier New" pitchFamily="34" charset="-122"/>
                <a:cs typeface="Courier New" pitchFamily="34" charset="-120"/>
              </a:rPr>
              <a:t>RUN pip install -r requirements.txt</a:t>
            </a:r>
            <a:endParaRPr lang="en-US" sz="950" dirty="0"/>
          </a:p>
        </p:txBody>
      </p:sp>
      <p:sp>
        <p:nvSpPr>
          <p:cNvPr id="12" name="Text 10"/>
          <p:cNvSpPr/>
          <p:nvPr/>
        </p:nvSpPr>
        <p:spPr>
          <a:xfrm>
            <a:off x="457200" y="2679192"/>
            <a:ext cx="4160520" cy="246888"/>
          </a:xfrm>
          <a:prstGeom prst="rect">
            <a:avLst/>
          </a:prstGeom>
          <a:noFill/>
          <a:ln/>
        </p:spPr>
        <p:txBody>
          <a:bodyPr wrap="square" lIns="0" tIns="0" rIns="0" bIns="0" rtlCol="0" anchor="ctr"/>
          <a:lstStyle/>
          <a:p>
            <a:pPr algn="l" indent="0" marL="0">
              <a:buNone/>
            </a:pPr>
            <a:endParaRPr lang="en-US" sz="950" dirty="0"/>
          </a:p>
        </p:txBody>
      </p:sp>
      <p:sp>
        <p:nvSpPr>
          <p:cNvPr id="13" name="Text 11"/>
          <p:cNvSpPr/>
          <p:nvPr/>
        </p:nvSpPr>
        <p:spPr>
          <a:xfrm>
            <a:off x="457200" y="2926080"/>
            <a:ext cx="4160520" cy="246888"/>
          </a:xfrm>
          <a:prstGeom prst="rect">
            <a:avLst/>
          </a:prstGeom>
          <a:noFill/>
          <a:ln/>
        </p:spPr>
        <p:txBody>
          <a:bodyPr wrap="square" lIns="0" tIns="0" rIns="0" bIns="0" rtlCol="0" anchor="ctr"/>
          <a:lstStyle/>
          <a:p>
            <a:pPr algn="l" indent="0" marL="0">
              <a:buNone/>
            </a:pPr>
            <a:r>
              <a:rPr lang="en-US" sz="950" dirty="0">
                <a:solidFill>
                  <a:srgbClr val="64748B"/>
                </a:solidFill>
                <a:latin typeface="Courier New" pitchFamily="34" charset="0"/>
                <a:ea typeface="Courier New" pitchFamily="34" charset="-122"/>
                <a:cs typeface="Courier New" pitchFamily="34" charset="-120"/>
              </a:rPr>
              <a:t># ── Stage 2: Runtime ──────────────────</a:t>
            </a:r>
            <a:endParaRPr lang="en-US" sz="950" dirty="0"/>
          </a:p>
        </p:txBody>
      </p:sp>
      <p:sp>
        <p:nvSpPr>
          <p:cNvPr id="14" name="Text 12"/>
          <p:cNvSpPr/>
          <p:nvPr/>
        </p:nvSpPr>
        <p:spPr>
          <a:xfrm>
            <a:off x="457200" y="3172968"/>
            <a:ext cx="4160520" cy="246888"/>
          </a:xfrm>
          <a:prstGeom prst="rect">
            <a:avLst/>
          </a:prstGeom>
          <a:noFill/>
          <a:ln/>
        </p:spPr>
        <p:txBody>
          <a:bodyPr wrap="square" lIns="0" tIns="0" rIns="0" bIns="0" rtlCol="0" anchor="ctr"/>
          <a:lstStyle/>
          <a:p>
            <a:pPr algn="l" indent="0" marL="0">
              <a:buNone/>
            </a:pPr>
            <a:r>
              <a:rPr lang="en-US" sz="950" dirty="0">
                <a:solidFill>
                  <a:srgbClr val="93C5FD"/>
                </a:solidFill>
                <a:latin typeface="Courier New" pitchFamily="34" charset="0"/>
                <a:ea typeface="Courier New" pitchFamily="34" charset="-122"/>
                <a:cs typeface="Courier New" pitchFamily="34" charset="-120"/>
              </a:rPr>
              <a:t>FROM python:3.11-slim</a:t>
            </a:r>
            <a:endParaRPr lang="en-US" sz="950" dirty="0"/>
          </a:p>
        </p:txBody>
      </p:sp>
      <p:sp>
        <p:nvSpPr>
          <p:cNvPr id="15" name="Text 13"/>
          <p:cNvSpPr/>
          <p:nvPr/>
        </p:nvSpPr>
        <p:spPr>
          <a:xfrm>
            <a:off x="457200" y="3419856"/>
            <a:ext cx="4160520" cy="246888"/>
          </a:xfrm>
          <a:prstGeom prst="rect">
            <a:avLst/>
          </a:prstGeom>
          <a:noFill/>
          <a:ln/>
        </p:spPr>
        <p:txBody>
          <a:bodyPr wrap="square" lIns="0" tIns="0" rIns="0" bIns="0" rtlCol="0" anchor="ctr"/>
          <a:lstStyle/>
          <a:p>
            <a:pPr algn="l" indent="0" marL="0">
              <a:buNone/>
            </a:pPr>
            <a:r>
              <a:rPr lang="en-US" sz="950" dirty="0">
                <a:solidFill>
                  <a:srgbClr val="E2E8F0"/>
                </a:solidFill>
                <a:latin typeface="Courier New" pitchFamily="34" charset="0"/>
                <a:ea typeface="Courier New" pitchFamily="34" charset="-122"/>
                <a:cs typeface="Courier New" pitchFamily="34" charset="-120"/>
              </a:rPr>
              <a:t>COPY --from=builder /deps .</a:t>
            </a:r>
            <a:endParaRPr lang="en-US" sz="950" dirty="0"/>
          </a:p>
        </p:txBody>
      </p:sp>
      <p:sp>
        <p:nvSpPr>
          <p:cNvPr id="16" name="Text 14"/>
          <p:cNvSpPr/>
          <p:nvPr/>
        </p:nvSpPr>
        <p:spPr>
          <a:xfrm>
            <a:off x="457200" y="3666744"/>
            <a:ext cx="4160520" cy="246888"/>
          </a:xfrm>
          <a:prstGeom prst="rect">
            <a:avLst/>
          </a:prstGeom>
          <a:noFill/>
          <a:ln/>
        </p:spPr>
        <p:txBody>
          <a:bodyPr wrap="square" lIns="0" tIns="0" rIns="0" bIns="0" rtlCol="0" anchor="ctr"/>
          <a:lstStyle/>
          <a:p>
            <a:pPr algn="l" indent="0" marL="0">
              <a:buNone/>
            </a:pPr>
            <a:r>
              <a:rPr lang="en-US" sz="950" dirty="0">
                <a:solidFill>
                  <a:srgbClr val="E2E8F0"/>
                </a:solidFill>
                <a:latin typeface="Courier New" pitchFamily="34" charset="0"/>
                <a:ea typeface="Courier New" pitchFamily="34" charset="-122"/>
                <a:cs typeface="Courier New" pitchFamily="34" charset="-120"/>
              </a:rPr>
              <a:t>COPY src/ inference/ models/ .</a:t>
            </a:r>
            <a:endParaRPr lang="en-US" sz="950" dirty="0"/>
          </a:p>
        </p:txBody>
      </p:sp>
      <p:sp>
        <p:nvSpPr>
          <p:cNvPr id="17" name="Text 15"/>
          <p:cNvSpPr/>
          <p:nvPr/>
        </p:nvSpPr>
        <p:spPr>
          <a:xfrm>
            <a:off x="457200" y="3913632"/>
            <a:ext cx="4160520" cy="246888"/>
          </a:xfrm>
          <a:prstGeom prst="rect">
            <a:avLst/>
          </a:prstGeom>
          <a:noFill/>
          <a:ln/>
        </p:spPr>
        <p:txBody>
          <a:bodyPr wrap="square" lIns="0" tIns="0" rIns="0" bIns="0" rtlCol="0" anchor="ctr"/>
          <a:lstStyle/>
          <a:p>
            <a:pPr algn="l" indent="0" marL="0">
              <a:buNone/>
            </a:pPr>
            <a:r>
              <a:rPr lang="en-US" sz="950" dirty="0">
                <a:solidFill>
                  <a:srgbClr val="FCD34D"/>
                </a:solidFill>
                <a:latin typeface="Courier New" pitchFamily="34" charset="0"/>
                <a:ea typeface="Courier New" pitchFamily="34" charset="-122"/>
                <a:cs typeface="Courier New" pitchFamily="34" charset="-120"/>
              </a:rPr>
              <a:t>ENV SM_MODEL_DIR /opt/program/models</a:t>
            </a:r>
            <a:endParaRPr lang="en-US" sz="950" dirty="0"/>
          </a:p>
        </p:txBody>
      </p:sp>
      <p:sp>
        <p:nvSpPr>
          <p:cNvPr id="18" name="Text 16"/>
          <p:cNvSpPr/>
          <p:nvPr/>
        </p:nvSpPr>
        <p:spPr>
          <a:xfrm>
            <a:off x="457200" y="4160520"/>
            <a:ext cx="4160520" cy="246888"/>
          </a:xfrm>
          <a:prstGeom prst="rect">
            <a:avLst/>
          </a:prstGeom>
          <a:noFill/>
          <a:ln/>
        </p:spPr>
        <p:txBody>
          <a:bodyPr wrap="square" lIns="0" tIns="0" rIns="0" bIns="0" rtlCol="0" anchor="ctr"/>
          <a:lstStyle/>
          <a:p>
            <a:pPr algn="l" indent="0" marL="0">
              <a:buNone/>
            </a:pPr>
            <a:r>
              <a:rPr lang="en-US" sz="950" dirty="0">
                <a:solidFill>
                  <a:srgbClr val="86EFAC"/>
                </a:solidFill>
                <a:latin typeface="Courier New" pitchFamily="34" charset="0"/>
                <a:ea typeface="Courier New" pitchFamily="34" charset="-122"/>
                <a:cs typeface="Courier New" pitchFamily="34" charset="-120"/>
              </a:rPr>
              <a:t>CMD ["python", "serve.py"]</a:t>
            </a:r>
            <a:endParaRPr lang="en-US" sz="950" dirty="0"/>
          </a:p>
        </p:txBody>
      </p:sp>
      <p:sp>
        <p:nvSpPr>
          <p:cNvPr id="19" name="Text 17"/>
          <p:cNvSpPr/>
          <p:nvPr/>
        </p:nvSpPr>
        <p:spPr>
          <a:xfrm>
            <a:off x="4983480" y="1005840"/>
            <a:ext cx="3931920" cy="457200"/>
          </a:xfrm>
          <a:prstGeom prst="rect">
            <a:avLst/>
          </a:prstGeom>
          <a:noFill/>
          <a:ln/>
        </p:spPr>
        <p:txBody>
          <a:bodyPr wrap="square" lIns="0" tIns="0" rIns="0" bIns="0" rtlCol="0" anchor="ctr"/>
          <a:lstStyle/>
          <a:p>
            <a:pPr algn="l" indent="0" marL="0">
              <a:buNone/>
            </a:pPr>
            <a:r>
              <a:rPr lang="en-US" sz="1500" b="1" dirty="0">
                <a:solidFill>
                  <a:srgbClr val="14B8A6"/>
                </a:solidFill>
                <a:latin typeface="Georgia" pitchFamily="34" charset="0"/>
                <a:ea typeface="Georgia" pitchFamily="34" charset="-122"/>
                <a:cs typeface="Georgia" pitchFamily="34" charset="-120"/>
              </a:rPr>
              <a:t>Flask Inference Server  (port 8080)</a:t>
            </a:r>
            <a:endParaRPr lang="en-US" sz="1500" dirty="0"/>
          </a:p>
        </p:txBody>
      </p:sp>
      <p:sp>
        <p:nvSpPr>
          <p:cNvPr id="20" name="Shape 18"/>
          <p:cNvSpPr/>
          <p:nvPr/>
        </p:nvSpPr>
        <p:spPr>
          <a:xfrm>
            <a:off x="4983480" y="1600200"/>
            <a:ext cx="3931920" cy="1389888"/>
          </a:xfrm>
          <a:prstGeom prst="rect">
            <a:avLst/>
          </a:prstGeom>
          <a:solidFill>
            <a:srgbClr val="1E293B"/>
          </a:solidFill>
          <a:ln w="12700">
            <a:solidFill>
              <a:srgbClr val="0D9488"/>
            </a:solidFill>
            <a:prstDash val="solid"/>
          </a:ln>
        </p:spPr>
      </p:sp>
      <p:sp>
        <p:nvSpPr>
          <p:cNvPr id="21" name="Shape 19"/>
          <p:cNvSpPr/>
          <p:nvPr/>
        </p:nvSpPr>
        <p:spPr>
          <a:xfrm>
            <a:off x="4983480" y="1600200"/>
            <a:ext cx="658368" cy="347472"/>
          </a:xfrm>
          <a:prstGeom prst="rect">
            <a:avLst/>
          </a:prstGeom>
          <a:solidFill>
            <a:srgbClr val="10B981"/>
          </a:solidFill>
          <a:ln w="12700">
            <a:solidFill>
              <a:srgbClr val="10B981"/>
            </a:solidFill>
            <a:prstDash val="solid"/>
          </a:ln>
        </p:spPr>
      </p:sp>
      <p:sp>
        <p:nvSpPr>
          <p:cNvPr id="22" name="Text 20"/>
          <p:cNvSpPr/>
          <p:nvPr/>
        </p:nvSpPr>
        <p:spPr>
          <a:xfrm>
            <a:off x="4983480" y="1600200"/>
            <a:ext cx="658368"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GET</a:t>
            </a:r>
            <a:endParaRPr lang="en-US" sz="1000" dirty="0"/>
          </a:p>
        </p:txBody>
      </p:sp>
      <p:sp>
        <p:nvSpPr>
          <p:cNvPr id="23" name="Text 21"/>
          <p:cNvSpPr/>
          <p:nvPr/>
        </p:nvSpPr>
        <p:spPr>
          <a:xfrm>
            <a:off x="5687568" y="1600200"/>
            <a:ext cx="3154680" cy="347472"/>
          </a:xfrm>
          <a:prstGeom prst="rect">
            <a:avLst/>
          </a:prstGeom>
          <a:noFill/>
          <a:ln/>
        </p:spPr>
        <p:txBody>
          <a:bodyPr wrap="square" lIns="0" tIns="0" rIns="0" bIns="0" rtlCol="0" anchor="ctr"/>
          <a:lstStyle/>
          <a:p>
            <a:pPr algn="l" indent="0" marL="0">
              <a:buNone/>
            </a:pPr>
            <a:r>
              <a:rPr lang="en-US" sz="1300" b="1" dirty="0">
                <a:solidFill>
                  <a:srgbClr val="FCD34D"/>
                </a:solidFill>
                <a:latin typeface="Courier New" pitchFamily="34" charset="0"/>
                <a:ea typeface="Courier New" pitchFamily="34" charset="-122"/>
                <a:cs typeface="Courier New" pitchFamily="34" charset="-120"/>
              </a:rPr>
              <a:t>/ping</a:t>
            </a:r>
            <a:endParaRPr lang="en-US" sz="1300" dirty="0"/>
          </a:p>
        </p:txBody>
      </p:sp>
      <p:sp>
        <p:nvSpPr>
          <p:cNvPr id="24" name="Text 22"/>
          <p:cNvSpPr/>
          <p:nvPr/>
        </p:nvSpPr>
        <p:spPr>
          <a:xfrm>
            <a:off x="5102352" y="2029968"/>
            <a:ext cx="3703320" cy="886968"/>
          </a:xfrm>
          <a:prstGeom prst="rect">
            <a:avLst/>
          </a:prstGeom>
          <a:noFill/>
          <a:ln/>
        </p:spPr>
        <p:txBody>
          <a:bodyPr wrap="square" lIns="0" tIns="0" rIns="0" bIns="0" rtlCol="0" anchor="ctr"/>
          <a:lstStyle/>
          <a:p>
            <a:pPr algn="l" indent="0" marL="0">
              <a:buNone/>
            </a:pPr>
            <a:r>
              <a:rPr lang="en-US" sz="1100" dirty="0">
                <a:solidFill>
                  <a:srgbClr val="CBD5E1"/>
                </a:solidFill>
                <a:latin typeface="Calibri" pitchFamily="34" charset="0"/>
                <a:ea typeface="Calibri" pitchFamily="34" charset="-122"/>
                <a:cs typeface="Calibri" pitchFamily="34" charset="-120"/>
              </a:rPr>
              <a:t>Health check · returns 200 OK</a:t>
            </a:r>
            <a:endParaRPr lang="en-US" sz="1100" dirty="0"/>
          </a:p>
          <a:p>
            <a:pPr algn="l" indent="0" marL="0">
              <a:buNone/>
            </a:pPr>
            <a:r>
              <a:rPr lang="en-US" sz="1100" dirty="0">
                <a:solidFill>
                  <a:srgbClr val="CBD5E1"/>
                </a:solidFill>
                <a:latin typeface="Calibri" pitchFamily="34" charset="0"/>
                <a:ea typeface="Calibri" pitchFamily="34" charset="-122"/>
                <a:cs typeface="Calibri" pitchFamily="34" charset="-120"/>
              </a:rPr>
              <a:t>SageMaker polls this to verify container is alive</a:t>
            </a:r>
            <a:endParaRPr lang="en-US" sz="1100" dirty="0"/>
          </a:p>
        </p:txBody>
      </p:sp>
      <p:sp>
        <p:nvSpPr>
          <p:cNvPr id="25" name="Shape 23"/>
          <p:cNvSpPr/>
          <p:nvPr/>
        </p:nvSpPr>
        <p:spPr>
          <a:xfrm>
            <a:off x="4983480" y="3172968"/>
            <a:ext cx="3931920" cy="1389888"/>
          </a:xfrm>
          <a:prstGeom prst="rect">
            <a:avLst/>
          </a:prstGeom>
          <a:solidFill>
            <a:srgbClr val="1E293B"/>
          </a:solidFill>
          <a:ln w="12700">
            <a:solidFill>
              <a:srgbClr val="0D9488"/>
            </a:solidFill>
            <a:prstDash val="solid"/>
          </a:ln>
        </p:spPr>
      </p:sp>
      <p:sp>
        <p:nvSpPr>
          <p:cNvPr id="26" name="Shape 24"/>
          <p:cNvSpPr/>
          <p:nvPr/>
        </p:nvSpPr>
        <p:spPr>
          <a:xfrm>
            <a:off x="4983480" y="3172968"/>
            <a:ext cx="658368" cy="347472"/>
          </a:xfrm>
          <a:prstGeom prst="rect">
            <a:avLst/>
          </a:prstGeom>
          <a:solidFill>
            <a:srgbClr val="0D9488"/>
          </a:solidFill>
          <a:ln w="12700">
            <a:solidFill>
              <a:srgbClr val="0D9488"/>
            </a:solidFill>
            <a:prstDash val="solid"/>
          </a:ln>
        </p:spPr>
      </p:sp>
      <p:sp>
        <p:nvSpPr>
          <p:cNvPr id="27" name="Text 25"/>
          <p:cNvSpPr/>
          <p:nvPr/>
        </p:nvSpPr>
        <p:spPr>
          <a:xfrm>
            <a:off x="4983480" y="3172968"/>
            <a:ext cx="658368"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POST</a:t>
            </a:r>
            <a:endParaRPr lang="en-US" sz="1000" dirty="0"/>
          </a:p>
        </p:txBody>
      </p:sp>
      <p:sp>
        <p:nvSpPr>
          <p:cNvPr id="28" name="Text 26"/>
          <p:cNvSpPr/>
          <p:nvPr/>
        </p:nvSpPr>
        <p:spPr>
          <a:xfrm>
            <a:off x="5687568" y="3172968"/>
            <a:ext cx="3154680" cy="347472"/>
          </a:xfrm>
          <a:prstGeom prst="rect">
            <a:avLst/>
          </a:prstGeom>
          <a:noFill/>
          <a:ln/>
        </p:spPr>
        <p:txBody>
          <a:bodyPr wrap="square" lIns="0" tIns="0" rIns="0" bIns="0" rtlCol="0" anchor="ctr"/>
          <a:lstStyle/>
          <a:p>
            <a:pPr algn="l" indent="0" marL="0">
              <a:buNone/>
            </a:pPr>
            <a:r>
              <a:rPr lang="en-US" sz="1300" b="1" dirty="0">
                <a:solidFill>
                  <a:srgbClr val="FCD34D"/>
                </a:solidFill>
                <a:latin typeface="Courier New" pitchFamily="34" charset="0"/>
                <a:ea typeface="Courier New" pitchFamily="34" charset="-122"/>
                <a:cs typeface="Courier New" pitchFamily="34" charset="-120"/>
              </a:rPr>
              <a:t>/invocations</a:t>
            </a:r>
            <a:endParaRPr lang="en-US" sz="1300" dirty="0"/>
          </a:p>
        </p:txBody>
      </p:sp>
      <p:sp>
        <p:nvSpPr>
          <p:cNvPr id="29" name="Text 27"/>
          <p:cNvSpPr/>
          <p:nvPr/>
        </p:nvSpPr>
        <p:spPr>
          <a:xfrm>
            <a:off x="5102352" y="3602736"/>
            <a:ext cx="3703320" cy="886968"/>
          </a:xfrm>
          <a:prstGeom prst="rect">
            <a:avLst/>
          </a:prstGeom>
          <a:noFill/>
          <a:ln/>
        </p:spPr>
        <p:txBody>
          <a:bodyPr wrap="square" lIns="0" tIns="0" rIns="0" bIns="0" rtlCol="0" anchor="ctr"/>
          <a:lstStyle/>
          <a:p>
            <a:pPr algn="l" indent="0" marL="0">
              <a:buNone/>
            </a:pPr>
            <a:r>
              <a:rPr lang="en-US" sz="1100" dirty="0">
                <a:solidFill>
                  <a:srgbClr val="CBD5E1"/>
                </a:solidFill>
                <a:latin typeface="Calibri" pitchFamily="34" charset="0"/>
                <a:ea typeface="Calibri" pitchFamily="34" charset="-122"/>
                <a:cs typeface="Calibri" pitchFamily="34" charset="-120"/>
              </a:rPr>
              <a:t>Accepts JSON {"instances":[...]} or CSV</a:t>
            </a:r>
            <a:endParaRPr lang="en-US" sz="1100" dirty="0"/>
          </a:p>
          <a:p>
            <a:pPr algn="l" indent="0" marL="0">
              <a:buNone/>
            </a:pPr>
            <a:r>
              <a:rPr lang="en-US" sz="1100" dirty="0">
                <a:solidFill>
                  <a:srgbClr val="CBD5E1"/>
                </a:solidFill>
                <a:latin typeface="Calibri" pitchFamily="34" charset="0"/>
                <a:ea typeface="Calibri" pitchFamily="34" charset="-122"/>
                <a:cs typeface="Calibri" pitchFamily="34" charset="-120"/>
              </a:rPr>
              <a:t>Returns {"probabilities":[], "predictions":[]}</a:t>
            </a:r>
            <a:endParaRPr lang="en-US" sz="1100" dirty="0"/>
          </a:p>
        </p:txBody>
      </p:sp>
      <p:sp>
        <p:nvSpPr>
          <p:cNvPr id="30" name="Shape 28"/>
          <p:cNvSpPr/>
          <p:nvPr/>
        </p:nvSpPr>
        <p:spPr>
          <a:xfrm>
            <a:off x="4983480" y="4754880"/>
            <a:ext cx="3931920" cy="347472"/>
          </a:xfrm>
          <a:prstGeom prst="rect">
            <a:avLst/>
          </a:prstGeom>
          <a:solidFill>
            <a:srgbClr val="1E293B"/>
          </a:solidFill>
          <a:ln w="12700">
            <a:solidFill>
              <a:srgbClr val="F59E0B"/>
            </a:solidFill>
            <a:prstDash val="solid"/>
          </a:ln>
        </p:spPr>
      </p:sp>
      <p:sp>
        <p:nvSpPr>
          <p:cNvPr id="31" name="Text 29"/>
          <p:cNvSpPr/>
          <p:nvPr/>
        </p:nvSpPr>
        <p:spPr>
          <a:xfrm>
            <a:off x="4983480" y="4754880"/>
            <a:ext cx="3931920" cy="347472"/>
          </a:xfrm>
          <a:prstGeom prst="rect">
            <a:avLst/>
          </a:prstGeom>
          <a:noFill/>
          <a:ln/>
        </p:spPr>
        <p:txBody>
          <a:bodyPr wrap="square" lIns="0" tIns="0" rIns="0" bIns="0" rtlCol="0" anchor="ctr"/>
          <a:lstStyle/>
          <a:p>
            <a:pPr algn="ctr" indent="0" marL="0">
              <a:buNone/>
            </a:pPr>
            <a:r>
              <a:rPr lang="en-US" sz="1000" i="1" dirty="0">
                <a:solidFill>
                  <a:srgbClr val="FCD34D"/>
                </a:solidFill>
                <a:latin typeface="Calibri" pitchFamily="34" charset="0"/>
                <a:ea typeface="Calibri" pitchFamily="34" charset="-122"/>
                <a:cs typeface="Calibri" pitchFamily="34" charset="-120"/>
              </a:rPr>
              <a:t>Model baked into image — no S3 dependency at runtime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B2A4A"/>
          </a:solidFill>
          <a:ln w="12700">
            <a:solidFill>
              <a:srgbClr val="1B2A4A"/>
            </a:solidFill>
            <a:prstDash val="solid"/>
          </a:ln>
        </p:spPr>
      </p:sp>
      <p:sp>
        <p:nvSpPr>
          <p:cNvPr id="3" name="Shape 1"/>
          <p:cNvSpPr/>
          <p:nvPr/>
        </p:nvSpPr>
        <p:spPr>
          <a:xfrm>
            <a:off x="0" y="1005840"/>
            <a:ext cx="9144000" cy="54864"/>
          </a:xfrm>
          <a:prstGeom prst="rect">
            <a:avLst/>
          </a:prstGeom>
          <a:solidFill>
            <a:srgbClr val="0D9488"/>
          </a:solidFill>
          <a:ln w="12700">
            <a:solidFill>
              <a:srgbClr val="0D9488"/>
            </a:solidFill>
            <a:prstDash val="solid"/>
          </a:ln>
        </p:spPr>
      </p:sp>
      <p:sp>
        <p:nvSpPr>
          <p:cNvPr id="4" name="Text 2"/>
          <p:cNvSpPr/>
          <p:nvPr/>
        </p:nvSpPr>
        <p:spPr>
          <a:xfrm>
            <a:off x="365760" y="0"/>
            <a:ext cx="8412480" cy="100584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06  AWS SageMaker Deployment Demo</a:t>
            </a:r>
            <a:endParaRPr lang="en-US" sz="2600" dirty="0"/>
          </a:p>
        </p:txBody>
      </p:sp>
      <p:sp>
        <p:nvSpPr>
          <p:cNvPr id="5" name="Shape 3"/>
          <p:cNvSpPr/>
          <p:nvPr/>
        </p:nvSpPr>
        <p:spPr>
          <a:xfrm>
            <a:off x="320040" y="1261872"/>
            <a:ext cx="1554480" cy="1572768"/>
          </a:xfrm>
          <a:prstGeom prst="rect">
            <a:avLst/>
          </a:prstGeom>
          <a:solidFill>
            <a:srgbClr val="0D9488">
              <a:alpha val="82000"/>
            </a:srgbClr>
          </a:solidFill>
          <a:ln w="25400">
            <a:solidFill>
              <a:srgbClr val="0D9488"/>
            </a:solidFill>
            <a:prstDash val="solid"/>
          </a:ln>
          <a:effectLst>
            <a:outerShdw sx="100000" sy="100000" kx="0" ky="0" algn="bl" rotWithShape="0" blurRad="101600" dist="38100" dir="8100000">
              <a:srgbClr val="1B2A4A">
                <a:alpha val="10000"/>
              </a:srgbClr>
            </a:outerShdw>
          </a:effectLst>
        </p:spPr>
      </p:sp>
      <p:sp>
        <p:nvSpPr>
          <p:cNvPr id="6" name="Text 4"/>
          <p:cNvSpPr/>
          <p:nvPr/>
        </p:nvSpPr>
        <p:spPr>
          <a:xfrm>
            <a:off x="320040" y="1426464"/>
            <a:ext cx="155448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Train</a:t>
            </a:r>
            <a:endParaRPr lang="en-US" sz="1300" dirty="0"/>
          </a:p>
          <a:p>
            <a:pPr algn="ctr" indent="0" marL="0">
              <a:buNone/>
            </a:pPr>
            <a:r>
              <a:rPr lang="en-US" sz="1300" b="1" dirty="0">
                <a:solidFill>
                  <a:srgbClr val="FFFFFF"/>
                </a:solidFill>
                <a:latin typeface="Georgia" pitchFamily="34" charset="0"/>
                <a:ea typeface="Georgia" pitchFamily="34" charset="-122"/>
                <a:cs typeface="Georgia" pitchFamily="34" charset="-120"/>
              </a:rPr>
              <a:t>Model</a:t>
            </a:r>
            <a:endParaRPr lang="en-US" sz="1300" dirty="0"/>
          </a:p>
        </p:txBody>
      </p:sp>
      <p:sp>
        <p:nvSpPr>
          <p:cNvPr id="7" name="Shape 5"/>
          <p:cNvSpPr/>
          <p:nvPr/>
        </p:nvSpPr>
        <p:spPr>
          <a:xfrm>
            <a:off x="484632" y="2130552"/>
            <a:ext cx="1225296" cy="0"/>
          </a:xfrm>
          <a:prstGeom prst="line">
            <a:avLst/>
          </a:prstGeom>
          <a:noFill/>
          <a:ln w="6350">
            <a:solidFill>
              <a:srgbClr val="FFFFFF">
                <a:alpha val="40000"/>
              </a:srgbClr>
            </a:solidFill>
            <a:prstDash val="solid"/>
          </a:ln>
        </p:spPr>
      </p:sp>
      <p:sp>
        <p:nvSpPr>
          <p:cNvPr id="8" name="Text 6"/>
          <p:cNvSpPr/>
          <p:nvPr/>
        </p:nvSpPr>
        <p:spPr>
          <a:xfrm>
            <a:off x="320040" y="2194560"/>
            <a:ext cx="1554480" cy="566928"/>
          </a:xfrm>
          <a:prstGeom prst="rect">
            <a:avLst/>
          </a:prstGeom>
          <a:noFill/>
          <a:ln/>
        </p:spPr>
        <p:txBody>
          <a:bodyPr wrap="square" lIns="0" tIns="0" rIns="0" bIns="0" rtlCol="0" anchor="ctr"/>
          <a:lstStyle/>
          <a:p>
            <a:pPr algn="ctr" indent="0" marL="0">
              <a:buNone/>
            </a:pPr>
            <a:r>
              <a:rPr lang="en-US" sz="900" dirty="0">
                <a:solidFill>
                  <a:srgbClr val="ECFDF5"/>
                </a:solidFill>
                <a:latin typeface="Calibri" pitchFamily="34" charset="0"/>
                <a:ea typeface="Calibri" pitchFamily="34" charset="-122"/>
                <a:cs typeface="Calibri" pitchFamily="34" charset="-120"/>
              </a:rPr>
              <a:t>DVC repro</a:t>
            </a:r>
            <a:endParaRPr lang="en-US" sz="900" dirty="0"/>
          </a:p>
          <a:p>
            <a:pPr algn="ctr" indent="0" marL="0">
              <a:buNone/>
            </a:pPr>
            <a:r>
              <a:rPr lang="en-US" sz="900" dirty="0">
                <a:solidFill>
                  <a:srgbClr val="ECFDF5"/>
                </a:solidFill>
                <a:latin typeface="Calibri" pitchFamily="34" charset="0"/>
                <a:ea typeface="Calibri" pitchFamily="34" charset="-122"/>
                <a:cs typeface="Calibri" pitchFamily="34" charset="-120"/>
              </a:rPr>
              <a:t>GitHub Actions</a:t>
            </a:r>
            <a:endParaRPr lang="en-US" sz="900" dirty="0"/>
          </a:p>
        </p:txBody>
      </p:sp>
      <p:sp>
        <p:nvSpPr>
          <p:cNvPr id="9" name="Shape 7"/>
          <p:cNvSpPr/>
          <p:nvPr/>
        </p:nvSpPr>
        <p:spPr>
          <a:xfrm>
            <a:off x="1874520" y="2048256"/>
            <a:ext cx="182880" cy="0"/>
          </a:xfrm>
          <a:prstGeom prst="line">
            <a:avLst/>
          </a:prstGeom>
          <a:noFill/>
          <a:ln w="25400">
            <a:solidFill>
              <a:srgbClr val="0D9488"/>
            </a:solidFill>
            <a:prstDash val="solid"/>
          </a:ln>
        </p:spPr>
      </p:sp>
      <p:sp>
        <p:nvSpPr>
          <p:cNvPr id="10" name="Shape 8"/>
          <p:cNvSpPr/>
          <p:nvPr/>
        </p:nvSpPr>
        <p:spPr>
          <a:xfrm>
            <a:off x="2057400" y="1261872"/>
            <a:ext cx="1554480" cy="1572768"/>
          </a:xfrm>
          <a:prstGeom prst="rect">
            <a:avLst/>
          </a:prstGeom>
          <a:solidFill>
            <a:srgbClr val="0891B2">
              <a:alpha val="82000"/>
            </a:srgbClr>
          </a:solidFill>
          <a:ln w="25400">
            <a:solidFill>
              <a:srgbClr val="0891B2"/>
            </a:solidFill>
            <a:prstDash val="solid"/>
          </a:ln>
          <a:effectLst>
            <a:outerShdw sx="100000" sy="100000" kx="0" ky="0" algn="bl" rotWithShape="0" blurRad="101600" dist="38100" dir="8100000">
              <a:srgbClr val="1B2A4A">
                <a:alpha val="10000"/>
              </a:srgbClr>
            </a:outerShdw>
          </a:effectLst>
        </p:spPr>
      </p:sp>
      <p:sp>
        <p:nvSpPr>
          <p:cNvPr id="11" name="Text 9"/>
          <p:cNvSpPr/>
          <p:nvPr/>
        </p:nvSpPr>
        <p:spPr>
          <a:xfrm>
            <a:off x="2057400" y="1426464"/>
            <a:ext cx="155448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Docker</a:t>
            </a:r>
            <a:endParaRPr lang="en-US" sz="1300" dirty="0"/>
          </a:p>
          <a:p>
            <a:pPr algn="ctr" indent="0" marL="0">
              <a:buNone/>
            </a:pPr>
            <a:r>
              <a:rPr lang="en-US" sz="1300" b="1" dirty="0">
                <a:solidFill>
                  <a:srgbClr val="FFFFFF"/>
                </a:solidFill>
                <a:latin typeface="Georgia" pitchFamily="34" charset="0"/>
                <a:ea typeface="Georgia" pitchFamily="34" charset="-122"/>
                <a:cs typeface="Georgia" pitchFamily="34" charset="-120"/>
              </a:rPr>
              <a:t>Build</a:t>
            </a:r>
            <a:endParaRPr lang="en-US" sz="1300" dirty="0"/>
          </a:p>
        </p:txBody>
      </p:sp>
      <p:sp>
        <p:nvSpPr>
          <p:cNvPr id="12" name="Shape 10"/>
          <p:cNvSpPr/>
          <p:nvPr/>
        </p:nvSpPr>
        <p:spPr>
          <a:xfrm>
            <a:off x="2221992" y="2130552"/>
            <a:ext cx="1225296" cy="0"/>
          </a:xfrm>
          <a:prstGeom prst="line">
            <a:avLst/>
          </a:prstGeom>
          <a:noFill/>
          <a:ln w="6350">
            <a:solidFill>
              <a:srgbClr val="FFFFFF">
                <a:alpha val="40000"/>
              </a:srgbClr>
            </a:solidFill>
            <a:prstDash val="solid"/>
          </a:ln>
        </p:spPr>
      </p:sp>
      <p:sp>
        <p:nvSpPr>
          <p:cNvPr id="13" name="Text 11"/>
          <p:cNvSpPr/>
          <p:nvPr/>
        </p:nvSpPr>
        <p:spPr>
          <a:xfrm>
            <a:off x="2057400" y="2194560"/>
            <a:ext cx="1554480" cy="566928"/>
          </a:xfrm>
          <a:prstGeom prst="rect">
            <a:avLst/>
          </a:prstGeom>
          <a:noFill/>
          <a:ln/>
        </p:spPr>
        <p:txBody>
          <a:bodyPr wrap="square" lIns="0" tIns="0" rIns="0" bIns="0" rtlCol="0" anchor="ctr"/>
          <a:lstStyle/>
          <a:p>
            <a:pPr algn="ctr" indent="0" marL="0">
              <a:buNone/>
            </a:pPr>
            <a:r>
              <a:rPr lang="en-US" sz="900" dirty="0">
                <a:solidFill>
                  <a:srgbClr val="ECFDF5"/>
                </a:solidFill>
                <a:latin typeface="Calibri" pitchFamily="34" charset="0"/>
                <a:ea typeface="Calibri" pitchFamily="34" charset="-122"/>
                <a:cs typeface="Calibri" pitchFamily="34" charset="-120"/>
              </a:rPr>
              <a:t>Multi-stage</a:t>
            </a:r>
            <a:endParaRPr lang="en-US" sz="900" dirty="0"/>
          </a:p>
          <a:p>
            <a:pPr algn="ctr" indent="0" marL="0">
              <a:buNone/>
            </a:pPr>
            <a:r>
              <a:rPr lang="en-US" sz="900" dirty="0">
                <a:solidFill>
                  <a:srgbClr val="ECFDF5"/>
                </a:solidFill>
                <a:latin typeface="Calibri" pitchFamily="34" charset="0"/>
                <a:ea typeface="Calibri" pitchFamily="34" charset="-122"/>
                <a:cs typeface="Calibri" pitchFamily="34" charset="-120"/>
              </a:rPr>
              <a:t>local smoke test</a:t>
            </a:r>
            <a:endParaRPr lang="en-US" sz="900" dirty="0"/>
          </a:p>
        </p:txBody>
      </p:sp>
      <p:sp>
        <p:nvSpPr>
          <p:cNvPr id="14" name="Shape 12"/>
          <p:cNvSpPr/>
          <p:nvPr/>
        </p:nvSpPr>
        <p:spPr>
          <a:xfrm>
            <a:off x="3611880" y="2048256"/>
            <a:ext cx="182880" cy="0"/>
          </a:xfrm>
          <a:prstGeom prst="line">
            <a:avLst/>
          </a:prstGeom>
          <a:noFill/>
          <a:ln w="25400">
            <a:solidFill>
              <a:srgbClr val="0D9488"/>
            </a:solidFill>
            <a:prstDash val="solid"/>
          </a:ln>
        </p:spPr>
      </p:sp>
      <p:sp>
        <p:nvSpPr>
          <p:cNvPr id="15" name="Shape 13"/>
          <p:cNvSpPr/>
          <p:nvPr/>
        </p:nvSpPr>
        <p:spPr>
          <a:xfrm>
            <a:off x="3794760" y="1261872"/>
            <a:ext cx="1554480" cy="1572768"/>
          </a:xfrm>
          <a:prstGeom prst="rect">
            <a:avLst/>
          </a:prstGeom>
          <a:solidFill>
            <a:srgbClr val="0D9488">
              <a:alpha val="82000"/>
            </a:srgbClr>
          </a:solidFill>
          <a:ln w="25400">
            <a:solidFill>
              <a:srgbClr val="0D9488"/>
            </a:solidFill>
            <a:prstDash val="solid"/>
          </a:ln>
          <a:effectLst>
            <a:outerShdw sx="100000" sy="100000" kx="0" ky="0" algn="bl" rotWithShape="0" blurRad="101600" dist="38100" dir="8100000">
              <a:srgbClr val="1B2A4A">
                <a:alpha val="10000"/>
              </a:srgbClr>
            </a:outerShdw>
          </a:effectLst>
        </p:spPr>
      </p:sp>
      <p:sp>
        <p:nvSpPr>
          <p:cNvPr id="16" name="Text 14"/>
          <p:cNvSpPr/>
          <p:nvPr/>
        </p:nvSpPr>
        <p:spPr>
          <a:xfrm>
            <a:off x="3794760" y="1426464"/>
            <a:ext cx="155448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Push to</a:t>
            </a:r>
            <a:endParaRPr lang="en-US" sz="1300" dirty="0"/>
          </a:p>
          <a:p>
            <a:pPr algn="ctr" indent="0" marL="0">
              <a:buNone/>
            </a:pPr>
            <a:r>
              <a:rPr lang="en-US" sz="1300" b="1" dirty="0">
                <a:solidFill>
                  <a:srgbClr val="FFFFFF"/>
                </a:solidFill>
                <a:latin typeface="Georgia" pitchFamily="34" charset="0"/>
                <a:ea typeface="Georgia" pitchFamily="34" charset="-122"/>
                <a:cs typeface="Georgia" pitchFamily="34" charset="-120"/>
              </a:rPr>
              <a:t>ECR</a:t>
            </a:r>
            <a:endParaRPr lang="en-US" sz="1300" dirty="0"/>
          </a:p>
        </p:txBody>
      </p:sp>
      <p:sp>
        <p:nvSpPr>
          <p:cNvPr id="17" name="Shape 15"/>
          <p:cNvSpPr/>
          <p:nvPr/>
        </p:nvSpPr>
        <p:spPr>
          <a:xfrm>
            <a:off x="3959352" y="2130552"/>
            <a:ext cx="1225296" cy="0"/>
          </a:xfrm>
          <a:prstGeom prst="line">
            <a:avLst/>
          </a:prstGeom>
          <a:noFill/>
          <a:ln w="6350">
            <a:solidFill>
              <a:srgbClr val="FFFFFF">
                <a:alpha val="40000"/>
              </a:srgbClr>
            </a:solidFill>
            <a:prstDash val="solid"/>
          </a:ln>
        </p:spPr>
      </p:sp>
      <p:sp>
        <p:nvSpPr>
          <p:cNvPr id="18" name="Text 16"/>
          <p:cNvSpPr/>
          <p:nvPr/>
        </p:nvSpPr>
        <p:spPr>
          <a:xfrm>
            <a:off x="3794760" y="2194560"/>
            <a:ext cx="1554480" cy="566928"/>
          </a:xfrm>
          <a:prstGeom prst="rect">
            <a:avLst/>
          </a:prstGeom>
          <a:noFill/>
          <a:ln/>
        </p:spPr>
        <p:txBody>
          <a:bodyPr wrap="square" lIns="0" tIns="0" rIns="0" bIns="0" rtlCol="0" anchor="ctr"/>
          <a:lstStyle/>
          <a:p>
            <a:pPr algn="ctr" indent="0" marL="0">
              <a:buNone/>
            </a:pPr>
            <a:r>
              <a:rPr lang="en-US" sz="900" dirty="0">
                <a:solidFill>
                  <a:srgbClr val="ECFDF5"/>
                </a:solidFill>
                <a:latin typeface="Calibri" pitchFamily="34" charset="0"/>
                <a:ea typeface="Calibri" pitchFamily="34" charset="-122"/>
                <a:cs typeface="Calibri" pitchFamily="34" charset="-120"/>
              </a:rPr>
              <a:t>197479160475</a:t>
            </a:r>
            <a:endParaRPr lang="en-US" sz="900" dirty="0"/>
          </a:p>
          <a:p>
            <a:pPr algn="ctr" indent="0" marL="0">
              <a:buNone/>
            </a:pPr>
            <a:r>
              <a:rPr lang="en-US" sz="900" dirty="0">
                <a:solidFill>
                  <a:srgbClr val="ECFDF5"/>
                </a:solidFill>
                <a:latin typeface="Calibri" pitchFamily="34" charset="0"/>
                <a:ea typeface="Calibri" pitchFamily="34" charset="-122"/>
                <a:cs typeface="Calibri" pitchFamily="34" charset="-120"/>
              </a:rPr>
              <a:t>.dkr.ecr.us-east-1</a:t>
            </a:r>
            <a:endParaRPr lang="en-US" sz="900" dirty="0"/>
          </a:p>
        </p:txBody>
      </p:sp>
      <p:sp>
        <p:nvSpPr>
          <p:cNvPr id="19" name="Shape 17"/>
          <p:cNvSpPr/>
          <p:nvPr/>
        </p:nvSpPr>
        <p:spPr>
          <a:xfrm>
            <a:off x="5349240" y="2048256"/>
            <a:ext cx="182880" cy="0"/>
          </a:xfrm>
          <a:prstGeom prst="line">
            <a:avLst/>
          </a:prstGeom>
          <a:noFill/>
          <a:ln w="25400">
            <a:solidFill>
              <a:srgbClr val="0D9488"/>
            </a:solidFill>
            <a:prstDash val="solid"/>
          </a:ln>
        </p:spPr>
      </p:sp>
      <p:sp>
        <p:nvSpPr>
          <p:cNvPr id="20" name="Shape 18"/>
          <p:cNvSpPr/>
          <p:nvPr/>
        </p:nvSpPr>
        <p:spPr>
          <a:xfrm>
            <a:off x="5532120" y="1261872"/>
            <a:ext cx="1554480" cy="1572768"/>
          </a:xfrm>
          <a:prstGeom prst="rect">
            <a:avLst/>
          </a:prstGeom>
          <a:solidFill>
            <a:srgbClr val="0891B2">
              <a:alpha val="82000"/>
            </a:srgbClr>
          </a:solidFill>
          <a:ln w="25400">
            <a:solidFill>
              <a:srgbClr val="0891B2"/>
            </a:solidFill>
            <a:prstDash val="solid"/>
          </a:ln>
          <a:effectLst>
            <a:outerShdw sx="100000" sy="100000" kx="0" ky="0" algn="bl" rotWithShape="0" blurRad="101600" dist="38100" dir="8100000">
              <a:srgbClr val="1B2A4A">
                <a:alpha val="10000"/>
              </a:srgbClr>
            </a:outerShdw>
          </a:effectLst>
        </p:spPr>
      </p:sp>
      <p:sp>
        <p:nvSpPr>
          <p:cNvPr id="21" name="Text 19"/>
          <p:cNvSpPr/>
          <p:nvPr/>
        </p:nvSpPr>
        <p:spPr>
          <a:xfrm>
            <a:off x="5532120" y="1426464"/>
            <a:ext cx="155448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SM</a:t>
            </a:r>
            <a:endParaRPr lang="en-US" sz="1300" dirty="0"/>
          </a:p>
          <a:p>
            <a:pPr algn="ctr" indent="0" marL="0">
              <a:buNone/>
            </a:pPr>
            <a:r>
              <a:rPr lang="en-US" sz="1300" b="1" dirty="0">
                <a:solidFill>
                  <a:srgbClr val="FFFFFF"/>
                </a:solidFill>
                <a:latin typeface="Georgia" pitchFamily="34" charset="0"/>
                <a:ea typeface="Georgia" pitchFamily="34" charset="-122"/>
                <a:cs typeface="Georgia" pitchFamily="34" charset="-120"/>
              </a:rPr>
              <a:t>Model</a:t>
            </a:r>
            <a:endParaRPr lang="en-US" sz="1300" dirty="0"/>
          </a:p>
        </p:txBody>
      </p:sp>
      <p:sp>
        <p:nvSpPr>
          <p:cNvPr id="22" name="Shape 20"/>
          <p:cNvSpPr/>
          <p:nvPr/>
        </p:nvSpPr>
        <p:spPr>
          <a:xfrm>
            <a:off x="5696712" y="2130552"/>
            <a:ext cx="1225296" cy="0"/>
          </a:xfrm>
          <a:prstGeom prst="line">
            <a:avLst/>
          </a:prstGeom>
          <a:noFill/>
          <a:ln w="6350">
            <a:solidFill>
              <a:srgbClr val="FFFFFF">
                <a:alpha val="40000"/>
              </a:srgbClr>
            </a:solidFill>
            <a:prstDash val="solid"/>
          </a:ln>
        </p:spPr>
      </p:sp>
      <p:sp>
        <p:nvSpPr>
          <p:cNvPr id="23" name="Text 21"/>
          <p:cNvSpPr/>
          <p:nvPr/>
        </p:nvSpPr>
        <p:spPr>
          <a:xfrm>
            <a:off x="5532120" y="2194560"/>
            <a:ext cx="1554480" cy="566928"/>
          </a:xfrm>
          <a:prstGeom prst="rect">
            <a:avLst/>
          </a:prstGeom>
          <a:noFill/>
          <a:ln/>
        </p:spPr>
        <p:txBody>
          <a:bodyPr wrap="square" lIns="0" tIns="0" rIns="0" bIns="0" rtlCol="0" anchor="ctr"/>
          <a:lstStyle/>
          <a:p>
            <a:pPr algn="ctr" indent="0" marL="0">
              <a:buNone/>
            </a:pPr>
            <a:r>
              <a:rPr lang="en-US" sz="900" dirty="0">
                <a:solidFill>
                  <a:srgbClr val="ECFDF5"/>
                </a:solidFill>
                <a:latin typeface="Calibri" pitchFamily="34" charset="0"/>
                <a:ea typeface="Calibri" pitchFamily="34" charset="-122"/>
                <a:cs typeface="Calibri" pitchFamily="34" charset="-120"/>
              </a:rPr>
              <a:t>Custom container</a:t>
            </a:r>
            <a:endParaRPr lang="en-US" sz="900" dirty="0"/>
          </a:p>
          <a:p>
            <a:pPr algn="ctr" indent="0" marL="0">
              <a:buNone/>
            </a:pPr>
            <a:r>
              <a:rPr lang="en-US" sz="900" dirty="0">
                <a:solidFill>
                  <a:srgbClr val="ECFDF5"/>
                </a:solidFill>
                <a:latin typeface="Calibri" pitchFamily="34" charset="0"/>
                <a:ea typeface="Calibri" pitchFamily="34" charset="-122"/>
                <a:cs typeface="Calibri" pitchFamily="34" charset="-120"/>
              </a:rPr>
              <a:t>no ModelDataUrl</a:t>
            </a:r>
            <a:endParaRPr lang="en-US" sz="900" dirty="0"/>
          </a:p>
        </p:txBody>
      </p:sp>
      <p:sp>
        <p:nvSpPr>
          <p:cNvPr id="24" name="Shape 22"/>
          <p:cNvSpPr/>
          <p:nvPr/>
        </p:nvSpPr>
        <p:spPr>
          <a:xfrm>
            <a:off x="7086600" y="2048256"/>
            <a:ext cx="182880" cy="0"/>
          </a:xfrm>
          <a:prstGeom prst="line">
            <a:avLst/>
          </a:prstGeom>
          <a:noFill/>
          <a:ln w="25400">
            <a:solidFill>
              <a:srgbClr val="0D9488"/>
            </a:solidFill>
            <a:prstDash val="solid"/>
          </a:ln>
        </p:spPr>
      </p:sp>
      <p:sp>
        <p:nvSpPr>
          <p:cNvPr id="25" name="Shape 23"/>
          <p:cNvSpPr/>
          <p:nvPr/>
        </p:nvSpPr>
        <p:spPr>
          <a:xfrm>
            <a:off x="7269480" y="1261872"/>
            <a:ext cx="1554480" cy="1572768"/>
          </a:xfrm>
          <a:prstGeom prst="rect">
            <a:avLst/>
          </a:prstGeom>
          <a:solidFill>
            <a:srgbClr val="059669"/>
          </a:solidFill>
          <a:ln w="25400">
            <a:solidFill>
              <a:srgbClr val="059669"/>
            </a:solidFill>
            <a:prstDash val="solid"/>
          </a:ln>
          <a:effectLst>
            <a:outerShdw sx="100000" sy="100000" kx="0" ky="0" algn="bl" rotWithShape="0" blurRad="101600" dist="38100" dir="8100000">
              <a:srgbClr val="1B2A4A">
                <a:alpha val="10000"/>
              </a:srgbClr>
            </a:outerShdw>
          </a:effectLst>
        </p:spPr>
      </p:sp>
      <p:sp>
        <p:nvSpPr>
          <p:cNvPr id="26" name="Text 24"/>
          <p:cNvSpPr/>
          <p:nvPr/>
        </p:nvSpPr>
        <p:spPr>
          <a:xfrm>
            <a:off x="7269480" y="1426464"/>
            <a:ext cx="155448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Live</a:t>
            </a:r>
            <a:endParaRPr lang="en-US" sz="1300" dirty="0"/>
          </a:p>
          <a:p>
            <a:pPr algn="ctr" indent="0" marL="0">
              <a:buNone/>
            </a:pPr>
            <a:r>
              <a:rPr lang="en-US" sz="1300" b="1" dirty="0">
                <a:solidFill>
                  <a:srgbClr val="FFFFFF"/>
                </a:solidFill>
                <a:latin typeface="Georgia" pitchFamily="34" charset="0"/>
                <a:ea typeface="Georgia" pitchFamily="34" charset="-122"/>
                <a:cs typeface="Georgia" pitchFamily="34" charset="-120"/>
              </a:rPr>
              <a:t>Endpoint</a:t>
            </a:r>
            <a:endParaRPr lang="en-US" sz="1300" dirty="0"/>
          </a:p>
        </p:txBody>
      </p:sp>
      <p:sp>
        <p:nvSpPr>
          <p:cNvPr id="27" name="Shape 25"/>
          <p:cNvSpPr/>
          <p:nvPr/>
        </p:nvSpPr>
        <p:spPr>
          <a:xfrm>
            <a:off x="7434072" y="2130552"/>
            <a:ext cx="1225296" cy="0"/>
          </a:xfrm>
          <a:prstGeom prst="line">
            <a:avLst/>
          </a:prstGeom>
          <a:noFill/>
          <a:ln w="6350">
            <a:solidFill>
              <a:srgbClr val="FFFFFF">
                <a:alpha val="40000"/>
              </a:srgbClr>
            </a:solidFill>
            <a:prstDash val="solid"/>
          </a:ln>
        </p:spPr>
      </p:sp>
      <p:sp>
        <p:nvSpPr>
          <p:cNvPr id="28" name="Text 26"/>
          <p:cNvSpPr/>
          <p:nvPr/>
        </p:nvSpPr>
        <p:spPr>
          <a:xfrm>
            <a:off x="7269480" y="2194560"/>
            <a:ext cx="1554480" cy="566928"/>
          </a:xfrm>
          <a:prstGeom prst="rect">
            <a:avLst/>
          </a:prstGeom>
          <a:noFill/>
          <a:ln/>
        </p:spPr>
        <p:txBody>
          <a:bodyPr wrap="square" lIns="0" tIns="0" rIns="0" bIns="0" rtlCol="0" anchor="ctr"/>
          <a:lstStyle/>
          <a:p>
            <a:pPr algn="ctr" indent="0" marL="0">
              <a:buNone/>
            </a:pPr>
            <a:r>
              <a:rPr lang="en-US" sz="900" dirty="0">
                <a:solidFill>
                  <a:srgbClr val="ECFDF5"/>
                </a:solidFill>
                <a:latin typeface="Calibri" pitchFamily="34" charset="0"/>
                <a:ea typeface="Calibri" pitchFamily="34" charset="-122"/>
                <a:cs typeface="Calibri" pitchFamily="34" charset="-120"/>
              </a:rPr>
              <a:t>InService ✓</a:t>
            </a:r>
            <a:endParaRPr lang="en-US" sz="900" dirty="0"/>
          </a:p>
          <a:p>
            <a:pPr algn="ctr" indent="0" marL="0">
              <a:buNone/>
            </a:pPr>
            <a:r>
              <a:rPr lang="en-US" sz="900" dirty="0">
                <a:solidFill>
                  <a:srgbClr val="ECFDF5"/>
                </a:solidFill>
                <a:latin typeface="Calibri" pitchFamily="34" charset="0"/>
                <a:ea typeface="Calibri" pitchFamily="34" charset="-122"/>
                <a:cs typeface="Calibri" pitchFamily="34" charset="-120"/>
              </a:rPr>
              <a:t>HTTPS inference</a:t>
            </a:r>
            <a:endParaRPr lang="en-US" sz="900" dirty="0"/>
          </a:p>
        </p:txBody>
      </p:sp>
      <p:sp>
        <p:nvSpPr>
          <p:cNvPr id="29" name="Text 27"/>
          <p:cNvSpPr/>
          <p:nvPr/>
        </p:nvSpPr>
        <p:spPr>
          <a:xfrm>
            <a:off x="365760" y="3063240"/>
            <a:ext cx="8412480" cy="384048"/>
          </a:xfrm>
          <a:prstGeom prst="rect">
            <a:avLst/>
          </a:prstGeom>
          <a:noFill/>
          <a:ln/>
        </p:spPr>
        <p:txBody>
          <a:bodyPr wrap="square" lIns="0" tIns="0" rIns="0" bIns="0" rtlCol="0" anchor="ctr"/>
          <a:lstStyle/>
          <a:p>
            <a:pPr algn="l" indent="0" marL="0">
              <a:buNone/>
            </a:pPr>
            <a:r>
              <a:rPr lang="en-US" sz="1400" b="1" dirty="0">
                <a:solidFill>
                  <a:srgbClr val="1B2A4A"/>
                </a:solidFill>
                <a:latin typeface="Georgia" pitchFamily="34" charset="0"/>
                <a:ea typeface="Georgia" pitchFamily="34" charset="-122"/>
                <a:cs typeface="Georgia" pitchFamily="34" charset="-120"/>
              </a:rPr>
              <a:t>Key Engineering Decisions:</a:t>
            </a:r>
            <a:endParaRPr lang="en-US" sz="1400" dirty="0"/>
          </a:p>
        </p:txBody>
      </p:sp>
      <p:sp>
        <p:nvSpPr>
          <p:cNvPr id="30" name="Shape 28"/>
          <p:cNvSpPr/>
          <p:nvPr/>
        </p:nvSpPr>
        <p:spPr>
          <a:xfrm>
            <a:off x="365760" y="3657600"/>
            <a:ext cx="228600" cy="228600"/>
          </a:xfrm>
          <a:prstGeom prst="ellipse">
            <a:avLst/>
          </a:prstGeom>
          <a:solidFill>
            <a:srgbClr val="0D9488"/>
          </a:solidFill>
          <a:ln w="12700">
            <a:solidFill>
              <a:srgbClr val="0D9488"/>
            </a:solidFill>
            <a:prstDash val="solid"/>
          </a:ln>
        </p:spPr>
      </p:sp>
      <p:sp>
        <p:nvSpPr>
          <p:cNvPr id="31" name="Text 29"/>
          <p:cNvSpPr/>
          <p:nvPr/>
        </p:nvSpPr>
        <p:spPr>
          <a:xfrm>
            <a:off x="713232" y="3547872"/>
            <a:ext cx="8138160" cy="420624"/>
          </a:xfrm>
          <a:prstGeom prst="rect">
            <a:avLst/>
          </a:prstGeom>
          <a:noFill/>
          <a:ln/>
        </p:spPr>
        <p:txBody>
          <a:bodyPr wrap="square" lIns="0" tIns="0" rIns="0" bIns="0" rtlCol="0" anchor="ctr"/>
          <a:lstStyle/>
          <a:p>
            <a:pPr algn="l" indent="0" marL="0">
              <a:buNone/>
            </a:pPr>
            <a:r>
              <a:rPr lang="en-US" sz="1150" b="1" dirty="0">
                <a:solidFill>
                  <a:srgbClr val="1E293B"/>
                </a:solidFill>
                <a:latin typeface="Calibri" pitchFamily="34" charset="0"/>
                <a:ea typeface="Calibri" pitchFamily="34" charset="-122"/>
                <a:cs typeface="Calibri" pitchFamily="34" charset="-120"/>
              </a:rPr>
              <a:t>Model baked into Docker image — </a:t>
            </a:r>
            <a:pPr algn="l" indent="0" marL="0">
              <a:buNone/>
            </a:pPr>
            <a:r>
              <a:rPr lang="en-US" sz="1150" dirty="0">
                <a:solidFill>
                  <a:srgbClr val="1E293B"/>
                </a:solidFill>
                <a:latin typeface="Calibri" pitchFamily="34" charset="0"/>
                <a:ea typeface="Calibri" pitchFamily="34" charset="-122"/>
                <a:cs typeface="Calibri" pitchFamily="34" charset="-120"/>
              </a:rPr>
              <a:t>IAM user lacked s3:PutObject — no DVC push, no ModelDataUrl needed</a:t>
            </a:r>
            <a:endParaRPr lang="en-US" sz="1150" dirty="0"/>
          </a:p>
        </p:txBody>
      </p:sp>
      <p:sp>
        <p:nvSpPr>
          <p:cNvPr id="32" name="Shape 30"/>
          <p:cNvSpPr/>
          <p:nvPr/>
        </p:nvSpPr>
        <p:spPr>
          <a:xfrm>
            <a:off x="365760" y="4133088"/>
            <a:ext cx="228600" cy="228600"/>
          </a:xfrm>
          <a:prstGeom prst="ellipse">
            <a:avLst/>
          </a:prstGeom>
          <a:solidFill>
            <a:srgbClr val="0D9488"/>
          </a:solidFill>
          <a:ln w="12700">
            <a:solidFill>
              <a:srgbClr val="0D9488"/>
            </a:solidFill>
            <a:prstDash val="solid"/>
          </a:ln>
        </p:spPr>
      </p:sp>
      <p:sp>
        <p:nvSpPr>
          <p:cNvPr id="33" name="Text 31"/>
          <p:cNvSpPr/>
          <p:nvPr/>
        </p:nvSpPr>
        <p:spPr>
          <a:xfrm>
            <a:off x="713232" y="4023360"/>
            <a:ext cx="8138160" cy="420624"/>
          </a:xfrm>
          <a:prstGeom prst="rect">
            <a:avLst/>
          </a:prstGeom>
          <a:noFill/>
          <a:ln/>
        </p:spPr>
        <p:txBody>
          <a:bodyPr wrap="square" lIns="0" tIns="0" rIns="0" bIns="0" rtlCol="0" anchor="ctr"/>
          <a:lstStyle/>
          <a:p>
            <a:pPr algn="l" indent="0" marL="0">
              <a:buNone/>
            </a:pPr>
            <a:r>
              <a:rPr lang="en-US" sz="1150" b="1" dirty="0">
                <a:solidFill>
                  <a:srgbClr val="1E293B"/>
                </a:solidFill>
                <a:latin typeface="Calibri" pitchFamily="34" charset="0"/>
                <a:ea typeface="Calibri" pitchFamily="34" charset="-122"/>
                <a:cs typeface="Calibri" pitchFamily="34" charset="-120"/>
              </a:rPr>
              <a:t>Local /ping smoke test before ECR push — </a:t>
            </a:r>
            <a:pPr algn="l" indent="0" marL="0">
              <a:buNone/>
            </a:pPr>
            <a:r>
              <a:rPr lang="en-US" sz="1150" dirty="0">
                <a:solidFill>
                  <a:srgbClr val="1E293B"/>
                </a:solidFill>
                <a:latin typeface="Calibri" pitchFamily="34" charset="0"/>
                <a:ea typeface="Calibri" pitchFamily="34" charset="-122"/>
                <a:cs typeface="Calibri" pitchFamily="34" charset="-120"/>
              </a:rPr>
              <a:t>Validates container starts and Flask loads before any cloud deploy</a:t>
            </a:r>
            <a:endParaRPr lang="en-US" sz="1150" dirty="0"/>
          </a:p>
        </p:txBody>
      </p:sp>
      <p:sp>
        <p:nvSpPr>
          <p:cNvPr id="34" name="Shape 32"/>
          <p:cNvSpPr/>
          <p:nvPr/>
        </p:nvSpPr>
        <p:spPr>
          <a:xfrm>
            <a:off x="365760" y="4608576"/>
            <a:ext cx="228600" cy="228600"/>
          </a:xfrm>
          <a:prstGeom prst="ellipse">
            <a:avLst/>
          </a:prstGeom>
          <a:solidFill>
            <a:srgbClr val="0D9488"/>
          </a:solidFill>
          <a:ln w="12700">
            <a:solidFill>
              <a:srgbClr val="0D9488"/>
            </a:solidFill>
            <a:prstDash val="solid"/>
          </a:ln>
        </p:spPr>
      </p:sp>
      <p:sp>
        <p:nvSpPr>
          <p:cNvPr id="35" name="Text 33"/>
          <p:cNvSpPr/>
          <p:nvPr/>
        </p:nvSpPr>
        <p:spPr>
          <a:xfrm>
            <a:off x="713232" y="4498848"/>
            <a:ext cx="8138160" cy="420624"/>
          </a:xfrm>
          <a:prstGeom prst="rect">
            <a:avLst/>
          </a:prstGeom>
          <a:noFill/>
          <a:ln/>
        </p:spPr>
        <p:txBody>
          <a:bodyPr wrap="square" lIns="0" tIns="0" rIns="0" bIns="0" rtlCol="0" anchor="ctr"/>
          <a:lstStyle/>
          <a:p>
            <a:pPr algn="l" indent="0" marL="0">
              <a:buNone/>
            </a:pPr>
            <a:r>
              <a:rPr lang="en-US" sz="1150" b="1" dirty="0">
                <a:solidFill>
                  <a:srgbClr val="1E293B"/>
                </a:solidFill>
                <a:latin typeface="Calibri" pitchFamily="34" charset="0"/>
                <a:ea typeface="Calibri" pitchFamily="34" charset="-122"/>
                <a:cs typeface="Calibri" pitchFamily="34" charset="-120"/>
              </a:rPr>
              <a:t>Failed→Delete→Recreate endpoint logic — </a:t>
            </a:r>
            <a:pPr algn="l" indent="0" marL="0">
              <a:buNone/>
            </a:pPr>
            <a:r>
              <a:rPr lang="en-US" sz="1150" dirty="0">
                <a:solidFill>
                  <a:srgbClr val="1E293B"/>
                </a:solidFill>
                <a:latin typeface="Calibri" pitchFamily="34" charset="0"/>
                <a:ea typeface="Calibri" pitchFamily="34" charset="-122"/>
                <a:cs typeface="Calibri" pitchFamily="34" charset="-120"/>
              </a:rPr>
              <a:t>CD handles stale endpoints gracefully on every redeploy to main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B2A4A"/>
          </a:solidFill>
          <a:ln w="12700">
            <a:solidFill>
              <a:srgbClr val="1B2A4A"/>
            </a:solidFill>
            <a:prstDash val="solid"/>
          </a:ln>
        </p:spPr>
      </p:sp>
      <p:sp>
        <p:nvSpPr>
          <p:cNvPr id="3" name="Shape 1"/>
          <p:cNvSpPr/>
          <p:nvPr/>
        </p:nvSpPr>
        <p:spPr>
          <a:xfrm>
            <a:off x="0" y="1005840"/>
            <a:ext cx="9144000" cy="54864"/>
          </a:xfrm>
          <a:prstGeom prst="rect">
            <a:avLst/>
          </a:prstGeom>
          <a:solidFill>
            <a:srgbClr val="0D9488"/>
          </a:solidFill>
          <a:ln w="12700">
            <a:solidFill>
              <a:srgbClr val="0D9488"/>
            </a:solidFill>
            <a:prstDash val="solid"/>
          </a:ln>
        </p:spPr>
      </p:sp>
      <p:sp>
        <p:nvSpPr>
          <p:cNvPr id="4" name="Text 2"/>
          <p:cNvSpPr/>
          <p:nvPr/>
        </p:nvSpPr>
        <p:spPr>
          <a:xfrm>
            <a:off x="365760" y="0"/>
            <a:ext cx="8412480" cy="100584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07  CI/CD Flow Overview</a:t>
            </a:r>
            <a:endParaRPr lang="en-US" sz="2600" dirty="0"/>
          </a:p>
        </p:txBody>
      </p:sp>
      <p:sp>
        <p:nvSpPr>
          <p:cNvPr id="5" name="Shape 3"/>
          <p:cNvSpPr/>
          <p:nvPr/>
        </p:nvSpPr>
        <p:spPr>
          <a:xfrm>
            <a:off x="320040" y="1234440"/>
            <a:ext cx="4023360" cy="356616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6" name="Shape 4"/>
          <p:cNvSpPr/>
          <p:nvPr/>
        </p:nvSpPr>
        <p:spPr>
          <a:xfrm>
            <a:off x="320040" y="1234440"/>
            <a:ext cx="4023360" cy="73152"/>
          </a:xfrm>
          <a:prstGeom prst="rect">
            <a:avLst/>
          </a:prstGeom>
          <a:solidFill>
            <a:srgbClr val="1B2A4A"/>
          </a:solidFill>
          <a:ln w="12700">
            <a:solidFill>
              <a:srgbClr val="1B2A4A"/>
            </a:solidFill>
            <a:prstDash val="solid"/>
          </a:ln>
        </p:spPr>
      </p:sp>
      <p:sp>
        <p:nvSpPr>
          <p:cNvPr id="7" name="Shape 5"/>
          <p:cNvSpPr/>
          <p:nvPr/>
        </p:nvSpPr>
        <p:spPr>
          <a:xfrm>
            <a:off x="320040" y="1234440"/>
            <a:ext cx="4023360" cy="475488"/>
          </a:xfrm>
          <a:prstGeom prst="rect">
            <a:avLst/>
          </a:prstGeom>
          <a:solidFill>
            <a:srgbClr val="1B2A4A"/>
          </a:solidFill>
          <a:ln w="12700">
            <a:solidFill>
              <a:srgbClr val="1B2A4A"/>
            </a:solidFill>
            <a:prstDash val="solid"/>
          </a:ln>
        </p:spPr>
      </p:sp>
      <p:sp>
        <p:nvSpPr>
          <p:cNvPr id="8" name="Text 6"/>
          <p:cNvSpPr/>
          <p:nvPr/>
        </p:nvSpPr>
        <p:spPr>
          <a:xfrm>
            <a:off x="457200" y="1234440"/>
            <a:ext cx="3749040" cy="475488"/>
          </a:xfrm>
          <a:prstGeom prst="rect">
            <a:avLst/>
          </a:prstGeom>
          <a:noFill/>
          <a:ln/>
        </p:spPr>
        <p:txBody>
          <a:bodyPr wrap="square" lIns="0" tIns="0" rIns="0" bIns="0" rtlCol="0" anchor="ctr"/>
          <a:lstStyle/>
          <a:p>
            <a:pPr algn="l" indent="0" marL="0">
              <a:buNone/>
            </a:pPr>
            <a:r>
              <a:rPr lang="en-US" sz="1350" b="1" dirty="0">
                <a:solidFill>
                  <a:srgbClr val="14B8A6"/>
                </a:solidFill>
                <a:latin typeface="Georgia" pitchFamily="34" charset="0"/>
                <a:ea typeface="Georgia" pitchFamily="34" charset="-122"/>
                <a:cs typeface="Georgia" pitchFamily="34" charset="-120"/>
              </a:rPr>
              <a:t>CI  ·  Continuous Integration</a:t>
            </a:r>
            <a:endParaRPr lang="en-US" sz="1350" dirty="0"/>
          </a:p>
        </p:txBody>
      </p:sp>
      <p:sp>
        <p:nvSpPr>
          <p:cNvPr id="9" name="Text 7"/>
          <p:cNvSpPr/>
          <p:nvPr/>
        </p:nvSpPr>
        <p:spPr>
          <a:xfrm>
            <a:off x="457200" y="1783080"/>
            <a:ext cx="3749040" cy="310896"/>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Trigger: push to feature branch or PR to main</a:t>
            </a:r>
            <a:endParaRPr lang="en-US" sz="1000" dirty="0"/>
          </a:p>
        </p:txBody>
      </p:sp>
      <p:sp>
        <p:nvSpPr>
          <p:cNvPr id="10" name="Shape 8"/>
          <p:cNvSpPr/>
          <p:nvPr/>
        </p:nvSpPr>
        <p:spPr>
          <a:xfrm>
            <a:off x="411480" y="2176272"/>
            <a:ext cx="3840480" cy="777240"/>
          </a:xfrm>
          <a:prstGeom prst="rect">
            <a:avLst/>
          </a:prstGeom>
          <a:solidFill>
            <a:srgbClr val="F8FAFC"/>
          </a:solidFill>
          <a:ln w="6350">
            <a:solidFill>
              <a:srgbClr val="E2E8F0"/>
            </a:solidFill>
            <a:prstDash val="solid"/>
          </a:ln>
        </p:spPr>
      </p:sp>
      <p:sp>
        <p:nvSpPr>
          <p:cNvPr id="11" name="Shape 9"/>
          <p:cNvSpPr/>
          <p:nvPr/>
        </p:nvSpPr>
        <p:spPr>
          <a:xfrm>
            <a:off x="411480" y="2176272"/>
            <a:ext cx="73152" cy="777240"/>
          </a:xfrm>
          <a:prstGeom prst="rect">
            <a:avLst/>
          </a:prstGeom>
          <a:solidFill>
            <a:srgbClr val="0D9488"/>
          </a:solidFill>
          <a:ln w="12700">
            <a:solidFill>
              <a:srgbClr val="0D9488"/>
            </a:solidFill>
            <a:prstDash val="solid"/>
          </a:ln>
        </p:spPr>
      </p:sp>
      <p:sp>
        <p:nvSpPr>
          <p:cNvPr id="12" name="Text 10"/>
          <p:cNvSpPr/>
          <p:nvPr/>
        </p:nvSpPr>
        <p:spPr>
          <a:xfrm>
            <a:off x="594360" y="2221992"/>
            <a:ext cx="3566160" cy="320040"/>
          </a:xfrm>
          <a:prstGeom prst="rect">
            <a:avLst/>
          </a:prstGeom>
          <a:noFill/>
          <a:ln/>
        </p:spPr>
        <p:txBody>
          <a:bodyPr wrap="square" lIns="0" tIns="0" rIns="0" bIns="0"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1.  Lint</a:t>
            </a:r>
            <a:endParaRPr lang="en-US" sz="1200" dirty="0"/>
          </a:p>
        </p:txBody>
      </p:sp>
      <p:sp>
        <p:nvSpPr>
          <p:cNvPr id="13" name="Text 11"/>
          <p:cNvSpPr/>
          <p:nvPr/>
        </p:nvSpPr>
        <p:spPr>
          <a:xfrm>
            <a:off x="594360" y="2569464"/>
            <a:ext cx="3566160" cy="338328"/>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flake8 src/ inference/ tests/ — PEP8, unused imports, style</a:t>
            </a:r>
            <a:endParaRPr lang="en-US" sz="1050" dirty="0"/>
          </a:p>
        </p:txBody>
      </p:sp>
      <p:sp>
        <p:nvSpPr>
          <p:cNvPr id="14" name="Shape 12"/>
          <p:cNvSpPr/>
          <p:nvPr/>
        </p:nvSpPr>
        <p:spPr>
          <a:xfrm>
            <a:off x="411480" y="3044952"/>
            <a:ext cx="3840480" cy="777240"/>
          </a:xfrm>
          <a:prstGeom prst="rect">
            <a:avLst/>
          </a:prstGeom>
          <a:solidFill>
            <a:srgbClr val="F8FAFC"/>
          </a:solidFill>
          <a:ln w="6350">
            <a:solidFill>
              <a:srgbClr val="E2E8F0"/>
            </a:solidFill>
            <a:prstDash val="solid"/>
          </a:ln>
        </p:spPr>
      </p:sp>
      <p:sp>
        <p:nvSpPr>
          <p:cNvPr id="15" name="Shape 13"/>
          <p:cNvSpPr/>
          <p:nvPr/>
        </p:nvSpPr>
        <p:spPr>
          <a:xfrm>
            <a:off x="411480" y="3044952"/>
            <a:ext cx="73152" cy="777240"/>
          </a:xfrm>
          <a:prstGeom prst="rect">
            <a:avLst/>
          </a:prstGeom>
          <a:solidFill>
            <a:srgbClr val="0D9488"/>
          </a:solidFill>
          <a:ln w="12700">
            <a:solidFill>
              <a:srgbClr val="0D9488"/>
            </a:solidFill>
            <a:prstDash val="solid"/>
          </a:ln>
        </p:spPr>
      </p:sp>
      <p:sp>
        <p:nvSpPr>
          <p:cNvPr id="16" name="Text 14"/>
          <p:cNvSpPr/>
          <p:nvPr/>
        </p:nvSpPr>
        <p:spPr>
          <a:xfrm>
            <a:off x="594360" y="3090672"/>
            <a:ext cx="3566160" cy="320040"/>
          </a:xfrm>
          <a:prstGeom prst="rect">
            <a:avLst/>
          </a:prstGeom>
          <a:noFill/>
          <a:ln/>
        </p:spPr>
        <p:txBody>
          <a:bodyPr wrap="square" lIns="0" tIns="0" rIns="0" bIns="0"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2.  Unit Tests</a:t>
            </a:r>
            <a:endParaRPr lang="en-US" sz="1200" dirty="0"/>
          </a:p>
        </p:txBody>
      </p:sp>
      <p:sp>
        <p:nvSpPr>
          <p:cNvPr id="17" name="Text 15"/>
          <p:cNvSpPr/>
          <p:nvPr/>
        </p:nvSpPr>
        <p:spPr>
          <a:xfrm>
            <a:off x="594360" y="3438144"/>
            <a:ext cx="3566160" cy="338328"/>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pytest — 13 tests: data validation, inference hooks, metrics</a:t>
            </a:r>
            <a:endParaRPr lang="en-US" sz="1050" dirty="0"/>
          </a:p>
        </p:txBody>
      </p:sp>
      <p:sp>
        <p:nvSpPr>
          <p:cNvPr id="18" name="Shape 16"/>
          <p:cNvSpPr/>
          <p:nvPr/>
        </p:nvSpPr>
        <p:spPr>
          <a:xfrm>
            <a:off x="411480" y="3913632"/>
            <a:ext cx="3840480" cy="777240"/>
          </a:xfrm>
          <a:prstGeom prst="rect">
            <a:avLst/>
          </a:prstGeom>
          <a:solidFill>
            <a:srgbClr val="F8FAFC"/>
          </a:solidFill>
          <a:ln w="6350">
            <a:solidFill>
              <a:srgbClr val="E2E8F0"/>
            </a:solidFill>
            <a:prstDash val="solid"/>
          </a:ln>
        </p:spPr>
      </p:sp>
      <p:sp>
        <p:nvSpPr>
          <p:cNvPr id="19" name="Shape 17"/>
          <p:cNvSpPr/>
          <p:nvPr/>
        </p:nvSpPr>
        <p:spPr>
          <a:xfrm>
            <a:off x="411480" y="3913632"/>
            <a:ext cx="73152" cy="777240"/>
          </a:xfrm>
          <a:prstGeom prst="rect">
            <a:avLst/>
          </a:prstGeom>
          <a:solidFill>
            <a:srgbClr val="0D9488"/>
          </a:solidFill>
          <a:ln w="12700">
            <a:solidFill>
              <a:srgbClr val="0D9488"/>
            </a:solidFill>
            <a:prstDash val="solid"/>
          </a:ln>
        </p:spPr>
      </p:sp>
      <p:sp>
        <p:nvSpPr>
          <p:cNvPr id="20" name="Text 18"/>
          <p:cNvSpPr/>
          <p:nvPr/>
        </p:nvSpPr>
        <p:spPr>
          <a:xfrm>
            <a:off x="594360" y="3959352"/>
            <a:ext cx="3566160" cy="320040"/>
          </a:xfrm>
          <a:prstGeom prst="rect">
            <a:avLst/>
          </a:prstGeom>
          <a:noFill/>
          <a:ln/>
        </p:spPr>
        <p:txBody>
          <a:bodyPr wrap="square" lIns="0" tIns="0" rIns="0" bIns="0"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3.  Sanity Train</a:t>
            </a:r>
            <a:endParaRPr lang="en-US" sz="1200" dirty="0"/>
          </a:p>
        </p:txBody>
      </p:sp>
      <p:sp>
        <p:nvSpPr>
          <p:cNvPr id="21" name="Text 19"/>
          <p:cNvSpPr/>
          <p:nvPr/>
        </p:nvSpPr>
        <p:spPr>
          <a:xfrm>
            <a:off x="594360" y="4306824"/>
            <a:ext cx="3566160" cy="338328"/>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200-row smoke, 5 Optuna trials — confirms end-to-end pipeline</a:t>
            </a:r>
            <a:endParaRPr lang="en-US" sz="1050" dirty="0"/>
          </a:p>
        </p:txBody>
      </p:sp>
      <p:sp>
        <p:nvSpPr>
          <p:cNvPr id="22" name="Shape 20"/>
          <p:cNvSpPr/>
          <p:nvPr/>
        </p:nvSpPr>
        <p:spPr>
          <a:xfrm>
            <a:off x="4800600" y="1234440"/>
            <a:ext cx="4023360" cy="356616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23" name="Shape 21"/>
          <p:cNvSpPr/>
          <p:nvPr/>
        </p:nvSpPr>
        <p:spPr>
          <a:xfrm>
            <a:off x="4800600" y="1234440"/>
            <a:ext cx="4023360" cy="73152"/>
          </a:xfrm>
          <a:prstGeom prst="rect">
            <a:avLst/>
          </a:prstGeom>
          <a:solidFill>
            <a:srgbClr val="0D9488"/>
          </a:solidFill>
          <a:ln w="12700">
            <a:solidFill>
              <a:srgbClr val="0D9488"/>
            </a:solidFill>
            <a:prstDash val="solid"/>
          </a:ln>
        </p:spPr>
      </p:sp>
      <p:sp>
        <p:nvSpPr>
          <p:cNvPr id="24" name="Shape 22"/>
          <p:cNvSpPr/>
          <p:nvPr/>
        </p:nvSpPr>
        <p:spPr>
          <a:xfrm>
            <a:off x="4800600" y="1234440"/>
            <a:ext cx="4023360" cy="475488"/>
          </a:xfrm>
          <a:prstGeom prst="rect">
            <a:avLst/>
          </a:prstGeom>
          <a:solidFill>
            <a:srgbClr val="0D9488"/>
          </a:solidFill>
          <a:ln w="12700">
            <a:solidFill>
              <a:srgbClr val="0D9488"/>
            </a:solidFill>
            <a:prstDash val="solid"/>
          </a:ln>
        </p:spPr>
      </p:sp>
      <p:sp>
        <p:nvSpPr>
          <p:cNvPr id="25" name="Text 23"/>
          <p:cNvSpPr/>
          <p:nvPr/>
        </p:nvSpPr>
        <p:spPr>
          <a:xfrm>
            <a:off x="4937760" y="1234440"/>
            <a:ext cx="3749040" cy="475488"/>
          </a:xfrm>
          <a:prstGeom prst="rect">
            <a:avLst/>
          </a:prstGeom>
          <a:noFill/>
          <a:ln/>
        </p:spPr>
        <p:txBody>
          <a:bodyPr wrap="square" lIns="0" tIns="0" rIns="0" bIns="0" rtlCol="0" anchor="ctr"/>
          <a:lstStyle/>
          <a:p>
            <a:pPr algn="l" indent="0" marL="0">
              <a:buNone/>
            </a:pPr>
            <a:r>
              <a:rPr lang="en-US" sz="1350" b="1" dirty="0">
                <a:solidFill>
                  <a:srgbClr val="FFFFFF"/>
                </a:solidFill>
                <a:latin typeface="Georgia" pitchFamily="34" charset="0"/>
                <a:ea typeface="Georgia" pitchFamily="34" charset="-122"/>
                <a:cs typeface="Georgia" pitchFamily="34" charset="-120"/>
              </a:rPr>
              <a:t>CD  ·  Continuous Deployment</a:t>
            </a:r>
            <a:endParaRPr lang="en-US" sz="1350" dirty="0"/>
          </a:p>
        </p:txBody>
      </p:sp>
      <p:sp>
        <p:nvSpPr>
          <p:cNvPr id="26" name="Text 24"/>
          <p:cNvSpPr/>
          <p:nvPr/>
        </p:nvSpPr>
        <p:spPr>
          <a:xfrm>
            <a:off x="4937760" y="1783080"/>
            <a:ext cx="3749040" cy="310896"/>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Trigger: push to main branch</a:t>
            </a:r>
            <a:endParaRPr lang="en-US" sz="1000" dirty="0"/>
          </a:p>
        </p:txBody>
      </p:sp>
      <p:sp>
        <p:nvSpPr>
          <p:cNvPr id="27" name="Shape 25"/>
          <p:cNvSpPr/>
          <p:nvPr/>
        </p:nvSpPr>
        <p:spPr>
          <a:xfrm>
            <a:off x="4892040" y="2176272"/>
            <a:ext cx="3840480" cy="777240"/>
          </a:xfrm>
          <a:prstGeom prst="rect">
            <a:avLst/>
          </a:prstGeom>
          <a:solidFill>
            <a:srgbClr val="F8FAFC"/>
          </a:solidFill>
          <a:ln w="6350">
            <a:solidFill>
              <a:srgbClr val="E2E8F0"/>
            </a:solidFill>
            <a:prstDash val="solid"/>
          </a:ln>
        </p:spPr>
      </p:sp>
      <p:sp>
        <p:nvSpPr>
          <p:cNvPr id="28" name="Shape 26"/>
          <p:cNvSpPr/>
          <p:nvPr/>
        </p:nvSpPr>
        <p:spPr>
          <a:xfrm>
            <a:off x="4892040" y="2176272"/>
            <a:ext cx="73152" cy="777240"/>
          </a:xfrm>
          <a:prstGeom prst="rect">
            <a:avLst/>
          </a:prstGeom>
          <a:solidFill>
            <a:srgbClr val="0D9488"/>
          </a:solidFill>
          <a:ln w="12700">
            <a:solidFill>
              <a:srgbClr val="0D9488"/>
            </a:solidFill>
            <a:prstDash val="solid"/>
          </a:ln>
        </p:spPr>
      </p:sp>
      <p:sp>
        <p:nvSpPr>
          <p:cNvPr id="29" name="Text 27"/>
          <p:cNvSpPr/>
          <p:nvPr/>
        </p:nvSpPr>
        <p:spPr>
          <a:xfrm>
            <a:off x="5074920" y="2221992"/>
            <a:ext cx="3566160" cy="320040"/>
          </a:xfrm>
          <a:prstGeom prst="rect">
            <a:avLst/>
          </a:prstGeom>
          <a:noFill/>
          <a:ln/>
        </p:spPr>
        <p:txBody>
          <a:bodyPr wrap="square" lIns="0" tIns="0" rIns="0" bIns="0"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1.  DVC Pipeline</a:t>
            </a:r>
            <a:endParaRPr lang="en-US" sz="1200" dirty="0"/>
          </a:p>
        </p:txBody>
      </p:sp>
      <p:sp>
        <p:nvSpPr>
          <p:cNvPr id="30" name="Text 28"/>
          <p:cNvSpPr/>
          <p:nvPr/>
        </p:nvSpPr>
        <p:spPr>
          <a:xfrm>
            <a:off x="5074920" y="2569464"/>
            <a:ext cx="3566160" cy="338328"/>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dvc repro — ingest, validate, train, evaluate. Artifacts via GH Actions</a:t>
            </a:r>
            <a:endParaRPr lang="en-US" sz="1050" dirty="0"/>
          </a:p>
        </p:txBody>
      </p:sp>
      <p:sp>
        <p:nvSpPr>
          <p:cNvPr id="31" name="Shape 29"/>
          <p:cNvSpPr/>
          <p:nvPr/>
        </p:nvSpPr>
        <p:spPr>
          <a:xfrm>
            <a:off x="4892040" y="3044952"/>
            <a:ext cx="3840480" cy="777240"/>
          </a:xfrm>
          <a:prstGeom prst="rect">
            <a:avLst/>
          </a:prstGeom>
          <a:solidFill>
            <a:srgbClr val="F8FAFC"/>
          </a:solidFill>
          <a:ln w="6350">
            <a:solidFill>
              <a:srgbClr val="E2E8F0"/>
            </a:solidFill>
            <a:prstDash val="solid"/>
          </a:ln>
        </p:spPr>
      </p:sp>
      <p:sp>
        <p:nvSpPr>
          <p:cNvPr id="32" name="Shape 30"/>
          <p:cNvSpPr/>
          <p:nvPr/>
        </p:nvSpPr>
        <p:spPr>
          <a:xfrm>
            <a:off x="4892040" y="3044952"/>
            <a:ext cx="73152" cy="777240"/>
          </a:xfrm>
          <a:prstGeom prst="rect">
            <a:avLst/>
          </a:prstGeom>
          <a:solidFill>
            <a:srgbClr val="0D9488"/>
          </a:solidFill>
          <a:ln w="12700">
            <a:solidFill>
              <a:srgbClr val="0D9488"/>
            </a:solidFill>
            <a:prstDash val="solid"/>
          </a:ln>
        </p:spPr>
      </p:sp>
      <p:sp>
        <p:nvSpPr>
          <p:cNvPr id="33" name="Text 31"/>
          <p:cNvSpPr/>
          <p:nvPr/>
        </p:nvSpPr>
        <p:spPr>
          <a:xfrm>
            <a:off x="5074920" y="3090672"/>
            <a:ext cx="3566160" cy="320040"/>
          </a:xfrm>
          <a:prstGeom prst="rect">
            <a:avLst/>
          </a:prstGeom>
          <a:noFill/>
          <a:ln/>
        </p:spPr>
        <p:txBody>
          <a:bodyPr wrap="square" lIns="0" tIns="0" rIns="0" bIns="0"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2.  Docker Build</a:t>
            </a:r>
            <a:endParaRPr lang="en-US" sz="1200" dirty="0"/>
          </a:p>
        </p:txBody>
      </p:sp>
      <p:sp>
        <p:nvSpPr>
          <p:cNvPr id="34" name="Text 32"/>
          <p:cNvSpPr/>
          <p:nvPr/>
        </p:nvSpPr>
        <p:spPr>
          <a:xfrm>
            <a:off x="5074920" y="3438144"/>
            <a:ext cx="3566160" cy="338328"/>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Multi-stage build, local /ping smoke test, push image to ECR</a:t>
            </a:r>
            <a:endParaRPr lang="en-US" sz="1050" dirty="0"/>
          </a:p>
        </p:txBody>
      </p:sp>
      <p:sp>
        <p:nvSpPr>
          <p:cNvPr id="35" name="Shape 33"/>
          <p:cNvSpPr/>
          <p:nvPr/>
        </p:nvSpPr>
        <p:spPr>
          <a:xfrm>
            <a:off x="4892040" y="3913632"/>
            <a:ext cx="3840480" cy="777240"/>
          </a:xfrm>
          <a:prstGeom prst="rect">
            <a:avLst/>
          </a:prstGeom>
          <a:solidFill>
            <a:srgbClr val="F8FAFC"/>
          </a:solidFill>
          <a:ln w="6350">
            <a:solidFill>
              <a:srgbClr val="E2E8F0"/>
            </a:solidFill>
            <a:prstDash val="solid"/>
          </a:ln>
        </p:spPr>
      </p:sp>
      <p:sp>
        <p:nvSpPr>
          <p:cNvPr id="36" name="Shape 34"/>
          <p:cNvSpPr/>
          <p:nvPr/>
        </p:nvSpPr>
        <p:spPr>
          <a:xfrm>
            <a:off x="4892040" y="3913632"/>
            <a:ext cx="73152" cy="777240"/>
          </a:xfrm>
          <a:prstGeom prst="rect">
            <a:avLst/>
          </a:prstGeom>
          <a:solidFill>
            <a:srgbClr val="0D9488"/>
          </a:solidFill>
          <a:ln w="12700">
            <a:solidFill>
              <a:srgbClr val="0D9488"/>
            </a:solidFill>
            <a:prstDash val="solid"/>
          </a:ln>
        </p:spPr>
      </p:sp>
      <p:sp>
        <p:nvSpPr>
          <p:cNvPr id="37" name="Text 35"/>
          <p:cNvSpPr/>
          <p:nvPr/>
        </p:nvSpPr>
        <p:spPr>
          <a:xfrm>
            <a:off x="5074920" y="3959352"/>
            <a:ext cx="3566160" cy="320040"/>
          </a:xfrm>
          <a:prstGeom prst="rect">
            <a:avLst/>
          </a:prstGeom>
          <a:noFill/>
          <a:ln/>
        </p:spPr>
        <p:txBody>
          <a:bodyPr wrap="square" lIns="0" tIns="0" rIns="0" bIns="0"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3.  SageMaker Deploy</a:t>
            </a:r>
            <a:endParaRPr lang="en-US" sz="1200" dirty="0"/>
          </a:p>
        </p:txBody>
      </p:sp>
      <p:sp>
        <p:nvSpPr>
          <p:cNvPr id="38" name="Text 36"/>
          <p:cNvSpPr/>
          <p:nvPr/>
        </p:nvSpPr>
        <p:spPr>
          <a:xfrm>
            <a:off x="5074920" y="4306824"/>
            <a:ext cx="3566160" cy="338328"/>
          </a:xfrm>
          <a:prstGeom prst="rect">
            <a:avLst/>
          </a:prstGeom>
          <a:noFill/>
          <a:ln/>
        </p:spPr>
        <p:txBody>
          <a:bodyPr wrap="square" lIns="0" tIns="0" rIns="0" bIns="0" rtlCol="0" anchor="ctr"/>
          <a:lstStyle/>
          <a:p>
            <a:pPr algn="l" indent="0" marL="0">
              <a:buNone/>
            </a:pPr>
            <a:r>
              <a:rPr lang="en-US" sz="1050" dirty="0">
                <a:solidFill>
                  <a:srgbClr val="1E293B"/>
                </a:solidFill>
                <a:latin typeface="Calibri" pitchFamily="34" charset="0"/>
                <a:ea typeface="Calibri" pitchFamily="34" charset="-122"/>
                <a:cs typeface="Calibri" pitchFamily="34" charset="-120"/>
              </a:rPr>
              <a:t>Create/update Model + EndpointConfig. Wait InService. Final smoke test.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B2A4A"/>
          </a:solidFill>
          <a:ln w="12700">
            <a:solidFill>
              <a:srgbClr val="1B2A4A"/>
            </a:solidFill>
            <a:prstDash val="solid"/>
          </a:ln>
        </p:spPr>
      </p:sp>
      <p:sp>
        <p:nvSpPr>
          <p:cNvPr id="3" name="Shape 1"/>
          <p:cNvSpPr/>
          <p:nvPr/>
        </p:nvSpPr>
        <p:spPr>
          <a:xfrm>
            <a:off x="0" y="1005840"/>
            <a:ext cx="9144000" cy="54864"/>
          </a:xfrm>
          <a:prstGeom prst="rect">
            <a:avLst/>
          </a:prstGeom>
          <a:solidFill>
            <a:srgbClr val="0D9488"/>
          </a:solidFill>
          <a:ln w="12700">
            <a:solidFill>
              <a:srgbClr val="0D9488"/>
            </a:solidFill>
            <a:prstDash val="solid"/>
          </a:ln>
        </p:spPr>
      </p:sp>
      <p:sp>
        <p:nvSpPr>
          <p:cNvPr id="4" name="Shape 2"/>
          <p:cNvSpPr/>
          <p:nvPr/>
        </p:nvSpPr>
        <p:spPr>
          <a:xfrm>
            <a:off x="7223760" y="301752"/>
            <a:ext cx="1600200" cy="402336"/>
          </a:xfrm>
          <a:prstGeom prst="rect">
            <a:avLst/>
          </a:prstGeom>
          <a:solidFill>
            <a:srgbClr val="F59E0B"/>
          </a:solidFill>
          <a:ln w="12700">
            <a:solidFill>
              <a:srgbClr val="F59E0B"/>
            </a:solidFill>
            <a:prstDash val="solid"/>
          </a:ln>
        </p:spPr>
      </p:sp>
      <p:sp>
        <p:nvSpPr>
          <p:cNvPr id="5" name="Text 3"/>
          <p:cNvSpPr/>
          <p:nvPr/>
        </p:nvSpPr>
        <p:spPr>
          <a:xfrm>
            <a:off x="7223760" y="301752"/>
            <a:ext cx="1600200"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BONUS</a:t>
            </a:r>
            <a:endParaRPr lang="en-US" sz="1100" dirty="0"/>
          </a:p>
        </p:txBody>
      </p:sp>
      <p:sp>
        <p:nvSpPr>
          <p:cNvPr id="6" name="Text 4"/>
          <p:cNvSpPr/>
          <p:nvPr/>
        </p:nvSpPr>
        <p:spPr>
          <a:xfrm>
            <a:off x="365760" y="0"/>
            <a:ext cx="6766560" cy="100584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09  Governance &amp; Incident Playbook</a:t>
            </a:r>
            <a:endParaRPr lang="en-US" sz="2600" dirty="0"/>
          </a:p>
        </p:txBody>
      </p:sp>
      <p:sp>
        <p:nvSpPr>
          <p:cNvPr id="7" name="Shape 5"/>
          <p:cNvSpPr/>
          <p:nvPr/>
        </p:nvSpPr>
        <p:spPr>
          <a:xfrm>
            <a:off x="320040" y="1234440"/>
            <a:ext cx="4114800" cy="356616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8" name="Shape 6"/>
          <p:cNvSpPr/>
          <p:nvPr/>
        </p:nvSpPr>
        <p:spPr>
          <a:xfrm>
            <a:off x="320040" y="1234440"/>
            <a:ext cx="4114800" cy="73152"/>
          </a:xfrm>
          <a:prstGeom prst="rect">
            <a:avLst/>
          </a:prstGeom>
          <a:solidFill>
            <a:srgbClr val="1B2A4A"/>
          </a:solidFill>
          <a:ln w="12700">
            <a:solidFill>
              <a:srgbClr val="1B2A4A"/>
            </a:solidFill>
            <a:prstDash val="solid"/>
          </a:ln>
        </p:spPr>
      </p:sp>
      <p:sp>
        <p:nvSpPr>
          <p:cNvPr id="9" name="Text 7"/>
          <p:cNvSpPr/>
          <p:nvPr/>
        </p:nvSpPr>
        <p:spPr>
          <a:xfrm>
            <a:off x="457200" y="1389888"/>
            <a:ext cx="3840480" cy="384048"/>
          </a:xfrm>
          <a:prstGeom prst="rect">
            <a:avLst/>
          </a:prstGeom>
          <a:noFill/>
          <a:ln/>
        </p:spPr>
        <p:txBody>
          <a:bodyPr wrap="square" lIns="0" tIns="0" rIns="0" bIns="0" rtlCol="0" anchor="ctr"/>
          <a:lstStyle/>
          <a:p>
            <a:pPr indent="0" marL="0">
              <a:buNone/>
            </a:pPr>
            <a:r>
              <a:rPr lang="en-US" sz="1600" b="1" dirty="0">
                <a:solidFill>
                  <a:srgbClr val="1B2A4A"/>
                </a:solidFill>
                <a:latin typeface="Georgia" pitchFamily="34" charset="0"/>
                <a:ea typeface="Georgia" pitchFamily="34" charset="-122"/>
                <a:cs typeface="Georgia" pitchFamily="34" charset="-120"/>
              </a:rPr>
              <a:t>Model Audit Log</a:t>
            </a:r>
            <a:endParaRPr lang="en-US" sz="1600" dirty="0"/>
          </a:p>
        </p:txBody>
      </p:sp>
      <p:sp>
        <p:nvSpPr>
          <p:cNvPr id="10" name="Shape 8"/>
          <p:cNvSpPr/>
          <p:nvPr/>
        </p:nvSpPr>
        <p:spPr>
          <a:xfrm>
            <a:off x="411480" y="1993392"/>
            <a:ext cx="164592" cy="164592"/>
          </a:xfrm>
          <a:prstGeom prst="rect">
            <a:avLst/>
          </a:prstGeom>
          <a:solidFill>
            <a:srgbClr val="0D9488"/>
          </a:solidFill>
          <a:ln w="12700">
            <a:solidFill>
              <a:srgbClr val="0D9488"/>
            </a:solidFill>
            <a:prstDash val="solid"/>
          </a:ln>
        </p:spPr>
      </p:sp>
      <p:sp>
        <p:nvSpPr>
          <p:cNvPr id="11" name="Text 9"/>
          <p:cNvSpPr/>
          <p:nvPr/>
        </p:nvSpPr>
        <p:spPr>
          <a:xfrm>
            <a:off x="685800" y="1901952"/>
            <a:ext cx="3611880" cy="402336"/>
          </a:xfrm>
          <a:prstGeom prst="rect">
            <a:avLst/>
          </a:prstGeom>
          <a:noFill/>
          <a:ln/>
        </p:spPr>
        <p:txBody>
          <a:bodyPr wrap="square" lIns="0" tIns="0" rIns="0" bIns="0" rtlCol="0" anchor="ctr"/>
          <a:lstStyle/>
          <a:p>
            <a:pPr algn="l" indent="0" marL="0">
              <a:buNone/>
            </a:pPr>
            <a:r>
              <a:rPr lang="en-US" sz="1150" dirty="0">
                <a:solidFill>
                  <a:srgbClr val="1E293B"/>
                </a:solidFill>
                <a:latin typeface="Calibri" pitchFamily="34" charset="0"/>
                <a:ea typeface="Calibri" pitchFamily="34" charset="-122"/>
                <a:cs typeface="Calibri" pitchFamily="34" charset="-120"/>
              </a:rPr>
              <a:t>Model version, training date, dataset hash</a:t>
            </a:r>
            <a:endParaRPr lang="en-US" sz="1150" dirty="0"/>
          </a:p>
        </p:txBody>
      </p:sp>
      <p:sp>
        <p:nvSpPr>
          <p:cNvPr id="12" name="Shape 10"/>
          <p:cNvSpPr/>
          <p:nvPr/>
        </p:nvSpPr>
        <p:spPr>
          <a:xfrm>
            <a:off x="411480" y="2450592"/>
            <a:ext cx="164592" cy="164592"/>
          </a:xfrm>
          <a:prstGeom prst="rect">
            <a:avLst/>
          </a:prstGeom>
          <a:solidFill>
            <a:srgbClr val="0D9488"/>
          </a:solidFill>
          <a:ln w="12700">
            <a:solidFill>
              <a:srgbClr val="0D9488"/>
            </a:solidFill>
            <a:prstDash val="solid"/>
          </a:ln>
        </p:spPr>
      </p:sp>
      <p:sp>
        <p:nvSpPr>
          <p:cNvPr id="13" name="Text 11"/>
          <p:cNvSpPr/>
          <p:nvPr/>
        </p:nvSpPr>
        <p:spPr>
          <a:xfrm>
            <a:off x="685800" y="2359152"/>
            <a:ext cx="3611880" cy="402336"/>
          </a:xfrm>
          <a:prstGeom prst="rect">
            <a:avLst/>
          </a:prstGeom>
          <a:noFill/>
          <a:ln/>
        </p:spPr>
        <p:txBody>
          <a:bodyPr wrap="square" lIns="0" tIns="0" rIns="0" bIns="0" rtlCol="0" anchor="ctr"/>
          <a:lstStyle/>
          <a:p>
            <a:pPr algn="l" indent="0" marL="0">
              <a:buNone/>
            </a:pPr>
            <a:r>
              <a:rPr lang="en-US" sz="1150" dirty="0">
                <a:solidFill>
                  <a:srgbClr val="1E293B"/>
                </a:solidFill>
                <a:latin typeface="Calibri" pitchFamily="34" charset="0"/>
                <a:ea typeface="Calibri" pitchFamily="34" charset="-122"/>
                <a:cs typeface="Calibri" pitchFamily="34" charset="-120"/>
              </a:rPr>
              <a:t>Hyperparameters from best Optuna trial</a:t>
            </a:r>
            <a:endParaRPr lang="en-US" sz="1150" dirty="0"/>
          </a:p>
        </p:txBody>
      </p:sp>
      <p:sp>
        <p:nvSpPr>
          <p:cNvPr id="14" name="Shape 12"/>
          <p:cNvSpPr/>
          <p:nvPr/>
        </p:nvSpPr>
        <p:spPr>
          <a:xfrm>
            <a:off x="411480" y="2907792"/>
            <a:ext cx="164592" cy="164592"/>
          </a:xfrm>
          <a:prstGeom prst="rect">
            <a:avLst/>
          </a:prstGeom>
          <a:solidFill>
            <a:srgbClr val="0D9488"/>
          </a:solidFill>
          <a:ln w="12700">
            <a:solidFill>
              <a:srgbClr val="0D9488"/>
            </a:solidFill>
            <a:prstDash val="solid"/>
          </a:ln>
        </p:spPr>
      </p:sp>
      <p:sp>
        <p:nvSpPr>
          <p:cNvPr id="15" name="Text 13"/>
          <p:cNvSpPr/>
          <p:nvPr/>
        </p:nvSpPr>
        <p:spPr>
          <a:xfrm>
            <a:off x="685800" y="2816352"/>
            <a:ext cx="3611880" cy="402336"/>
          </a:xfrm>
          <a:prstGeom prst="rect">
            <a:avLst/>
          </a:prstGeom>
          <a:noFill/>
          <a:ln/>
        </p:spPr>
        <p:txBody>
          <a:bodyPr wrap="square" lIns="0" tIns="0" rIns="0" bIns="0" rtlCol="0" anchor="ctr"/>
          <a:lstStyle/>
          <a:p>
            <a:pPr algn="l" indent="0" marL="0">
              <a:buNone/>
            </a:pPr>
            <a:r>
              <a:rPr lang="en-US" sz="1150" dirty="0">
                <a:solidFill>
                  <a:srgbClr val="1E293B"/>
                </a:solidFill>
                <a:latin typeface="Calibri" pitchFamily="34" charset="0"/>
                <a:ea typeface="Calibri" pitchFamily="34" charset="-122"/>
                <a:cs typeface="Calibri" pitchFamily="34" charset="-120"/>
              </a:rPr>
              <a:t>Performance metrics: AUC-ROC, F1, accuracy</a:t>
            </a:r>
            <a:endParaRPr lang="en-US" sz="1150" dirty="0"/>
          </a:p>
        </p:txBody>
      </p:sp>
      <p:sp>
        <p:nvSpPr>
          <p:cNvPr id="16" name="Shape 14"/>
          <p:cNvSpPr/>
          <p:nvPr/>
        </p:nvSpPr>
        <p:spPr>
          <a:xfrm>
            <a:off x="411480" y="3364992"/>
            <a:ext cx="164592" cy="164592"/>
          </a:xfrm>
          <a:prstGeom prst="rect">
            <a:avLst/>
          </a:prstGeom>
          <a:solidFill>
            <a:srgbClr val="0D9488"/>
          </a:solidFill>
          <a:ln w="12700">
            <a:solidFill>
              <a:srgbClr val="0D9488"/>
            </a:solidFill>
            <a:prstDash val="solid"/>
          </a:ln>
        </p:spPr>
      </p:sp>
      <p:sp>
        <p:nvSpPr>
          <p:cNvPr id="17" name="Text 15"/>
          <p:cNvSpPr/>
          <p:nvPr/>
        </p:nvSpPr>
        <p:spPr>
          <a:xfrm>
            <a:off x="685800" y="3273552"/>
            <a:ext cx="3611880" cy="402336"/>
          </a:xfrm>
          <a:prstGeom prst="rect">
            <a:avLst/>
          </a:prstGeom>
          <a:noFill/>
          <a:ln/>
        </p:spPr>
        <p:txBody>
          <a:bodyPr wrap="square" lIns="0" tIns="0" rIns="0" bIns="0" rtlCol="0" anchor="ctr"/>
          <a:lstStyle/>
          <a:p>
            <a:pPr algn="l" indent="0" marL="0">
              <a:buNone/>
            </a:pPr>
            <a:r>
              <a:rPr lang="en-US" sz="1150" dirty="0">
                <a:solidFill>
                  <a:srgbClr val="1E293B"/>
                </a:solidFill>
                <a:latin typeface="Calibri" pitchFamily="34" charset="0"/>
                <a:ea typeface="Calibri" pitchFamily="34" charset="-122"/>
                <a:cs typeface="Calibri" pitchFamily="34" charset="-120"/>
              </a:rPr>
              <a:t>Fairness audit across SEX, EDUCATION, MARRIAGE groups</a:t>
            </a:r>
            <a:endParaRPr lang="en-US" sz="1150" dirty="0"/>
          </a:p>
        </p:txBody>
      </p:sp>
      <p:sp>
        <p:nvSpPr>
          <p:cNvPr id="18" name="Shape 16"/>
          <p:cNvSpPr/>
          <p:nvPr/>
        </p:nvSpPr>
        <p:spPr>
          <a:xfrm>
            <a:off x="411480" y="3822192"/>
            <a:ext cx="164592" cy="164592"/>
          </a:xfrm>
          <a:prstGeom prst="rect">
            <a:avLst/>
          </a:prstGeom>
          <a:solidFill>
            <a:srgbClr val="0D9488"/>
          </a:solidFill>
          <a:ln w="12700">
            <a:solidFill>
              <a:srgbClr val="0D9488"/>
            </a:solidFill>
            <a:prstDash val="solid"/>
          </a:ln>
        </p:spPr>
      </p:sp>
      <p:sp>
        <p:nvSpPr>
          <p:cNvPr id="19" name="Text 17"/>
          <p:cNvSpPr/>
          <p:nvPr/>
        </p:nvSpPr>
        <p:spPr>
          <a:xfrm>
            <a:off x="685800" y="3730752"/>
            <a:ext cx="3611880" cy="402336"/>
          </a:xfrm>
          <a:prstGeom prst="rect">
            <a:avLst/>
          </a:prstGeom>
          <a:noFill/>
          <a:ln/>
        </p:spPr>
        <p:txBody>
          <a:bodyPr wrap="square" lIns="0" tIns="0" rIns="0" bIns="0" rtlCol="0" anchor="ctr"/>
          <a:lstStyle/>
          <a:p>
            <a:pPr algn="l" indent="0" marL="0">
              <a:buNone/>
            </a:pPr>
            <a:r>
              <a:rPr lang="en-US" sz="1150" dirty="0">
                <a:solidFill>
                  <a:srgbClr val="1E293B"/>
                </a:solidFill>
                <a:latin typeface="Calibri" pitchFamily="34" charset="0"/>
                <a:ea typeface="Calibri" pitchFamily="34" charset="-122"/>
                <a:cs typeface="Calibri" pitchFamily="34" charset="-120"/>
              </a:rPr>
              <a:t>Drift baseline — PSI reference scores</a:t>
            </a:r>
            <a:endParaRPr lang="en-US" sz="1150" dirty="0"/>
          </a:p>
        </p:txBody>
      </p:sp>
      <p:sp>
        <p:nvSpPr>
          <p:cNvPr id="20" name="Shape 18"/>
          <p:cNvSpPr/>
          <p:nvPr/>
        </p:nvSpPr>
        <p:spPr>
          <a:xfrm>
            <a:off x="411480" y="4279392"/>
            <a:ext cx="164592" cy="164592"/>
          </a:xfrm>
          <a:prstGeom prst="rect">
            <a:avLst/>
          </a:prstGeom>
          <a:solidFill>
            <a:srgbClr val="0D9488"/>
          </a:solidFill>
          <a:ln w="12700">
            <a:solidFill>
              <a:srgbClr val="0D9488"/>
            </a:solidFill>
            <a:prstDash val="solid"/>
          </a:ln>
        </p:spPr>
      </p:sp>
      <p:sp>
        <p:nvSpPr>
          <p:cNvPr id="21" name="Text 19"/>
          <p:cNvSpPr/>
          <p:nvPr/>
        </p:nvSpPr>
        <p:spPr>
          <a:xfrm>
            <a:off x="685800" y="4187952"/>
            <a:ext cx="3611880" cy="402336"/>
          </a:xfrm>
          <a:prstGeom prst="rect">
            <a:avLst/>
          </a:prstGeom>
          <a:noFill/>
          <a:ln/>
        </p:spPr>
        <p:txBody>
          <a:bodyPr wrap="square" lIns="0" tIns="0" rIns="0" bIns="0" rtlCol="0" anchor="ctr"/>
          <a:lstStyle/>
          <a:p>
            <a:pPr algn="l" indent="0" marL="0">
              <a:buNone/>
            </a:pPr>
            <a:r>
              <a:rPr lang="en-US" sz="1150" dirty="0">
                <a:solidFill>
                  <a:srgbClr val="1E293B"/>
                </a:solidFill>
                <a:latin typeface="Calibri" pitchFamily="34" charset="0"/>
                <a:ea typeface="Calibri" pitchFamily="34" charset="-122"/>
                <a:cs typeface="Calibri" pitchFamily="34" charset="-120"/>
              </a:rPr>
              <a:t>Deployment target &amp; approver sign-off</a:t>
            </a:r>
            <a:endParaRPr lang="en-US" sz="1150" dirty="0"/>
          </a:p>
        </p:txBody>
      </p:sp>
      <p:sp>
        <p:nvSpPr>
          <p:cNvPr id="22" name="Shape 20"/>
          <p:cNvSpPr/>
          <p:nvPr/>
        </p:nvSpPr>
        <p:spPr>
          <a:xfrm>
            <a:off x="4709160" y="1234440"/>
            <a:ext cx="4114800" cy="356616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23" name="Shape 21"/>
          <p:cNvSpPr/>
          <p:nvPr/>
        </p:nvSpPr>
        <p:spPr>
          <a:xfrm>
            <a:off x="4709160" y="1234440"/>
            <a:ext cx="4114800" cy="73152"/>
          </a:xfrm>
          <a:prstGeom prst="rect">
            <a:avLst/>
          </a:prstGeom>
          <a:solidFill>
            <a:srgbClr val="0D9488"/>
          </a:solidFill>
          <a:ln w="12700">
            <a:solidFill>
              <a:srgbClr val="0D9488"/>
            </a:solidFill>
            <a:prstDash val="solid"/>
          </a:ln>
        </p:spPr>
      </p:sp>
      <p:sp>
        <p:nvSpPr>
          <p:cNvPr id="24" name="Text 22"/>
          <p:cNvSpPr/>
          <p:nvPr/>
        </p:nvSpPr>
        <p:spPr>
          <a:xfrm>
            <a:off x="4846320" y="1389888"/>
            <a:ext cx="3840480" cy="384048"/>
          </a:xfrm>
          <a:prstGeom prst="rect">
            <a:avLst/>
          </a:prstGeom>
          <a:noFill/>
          <a:ln/>
        </p:spPr>
        <p:txBody>
          <a:bodyPr wrap="square" lIns="0" tIns="0" rIns="0" bIns="0" rtlCol="0" anchor="ctr"/>
          <a:lstStyle/>
          <a:p>
            <a:pPr indent="0" marL="0">
              <a:buNone/>
            </a:pPr>
            <a:r>
              <a:rPr lang="en-US" sz="1600" b="1" dirty="0">
                <a:solidFill>
                  <a:srgbClr val="1B2A4A"/>
                </a:solidFill>
                <a:latin typeface="Georgia" pitchFamily="34" charset="0"/>
                <a:ea typeface="Georgia" pitchFamily="34" charset="-122"/>
                <a:cs typeface="Georgia" pitchFamily="34" charset="-120"/>
              </a:rPr>
              <a:t>Incident Playbook — 5 Runbooks</a:t>
            </a:r>
            <a:endParaRPr lang="en-US" sz="1600" dirty="0"/>
          </a:p>
        </p:txBody>
      </p:sp>
      <p:sp>
        <p:nvSpPr>
          <p:cNvPr id="25" name="Shape 23"/>
          <p:cNvSpPr/>
          <p:nvPr/>
        </p:nvSpPr>
        <p:spPr>
          <a:xfrm>
            <a:off x="4800600" y="1901952"/>
            <a:ext cx="3913632" cy="475488"/>
          </a:xfrm>
          <a:prstGeom prst="rect">
            <a:avLst/>
          </a:prstGeom>
          <a:solidFill>
            <a:srgbClr val="F8FAFC"/>
          </a:solidFill>
          <a:ln w="6350">
            <a:solidFill>
              <a:srgbClr val="E2E8F0"/>
            </a:solidFill>
            <a:prstDash val="solid"/>
          </a:ln>
        </p:spPr>
      </p:sp>
      <p:sp>
        <p:nvSpPr>
          <p:cNvPr id="26" name="Shape 24"/>
          <p:cNvSpPr/>
          <p:nvPr/>
        </p:nvSpPr>
        <p:spPr>
          <a:xfrm>
            <a:off x="4800600" y="1901952"/>
            <a:ext cx="73152" cy="475488"/>
          </a:xfrm>
          <a:prstGeom prst="rect">
            <a:avLst/>
          </a:prstGeom>
          <a:solidFill>
            <a:srgbClr val="DC2626"/>
          </a:solidFill>
          <a:ln w="12700">
            <a:solidFill>
              <a:srgbClr val="DC2626"/>
            </a:solidFill>
            <a:prstDash val="solid"/>
          </a:ln>
        </p:spPr>
      </p:sp>
      <p:sp>
        <p:nvSpPr>
          <p:cNvPr id="27" name="Text 25"/>
          <p:cNvSpPr/>
          <p:nvPr/>
        </p:nvSpPr>
        <p:spPr>
          <a:xfrm>
            <a:off x="4956048" y="1901952"/>
            <a:ext cx="777240" cy="475488"/>
          </a:xfrm>
          <a:prstGeom prst="rect">
            <a:avLst/>
          </a:prstGeom>
          <a:noFill/>
          <a:ln/>
        </p:spPr>
        <p:txBody>
          <a:bodyPr wrap="square" lIns="0" tIns="0" rIns="0" bIns="0" rtlCol="0" anchor="ctr"/>
          <a:lstStyle/>
          <a:p>
            <a:pPr algn="l" indent="0" marL="0">
              <a:buNone/>
            </a:pPr>
            <a:r>
              <a:rPr lang="en-US" sz="1000" b="1" dirty="0">
                <a:solidFill>
                  <a:srgbClr val="DC2626"/>
                </a:solidFill>
                <a:latin typeface="Calibri" pitchFamily="34" charset="0"/>
                <a:ea typeface="Calibri" pitchFamily="34" charset="-122"/>
                <a:cs typeface="Calibri" pitchFamily="34" charset="-120"/>
              </a:rPr>
              <a:t>INC-001</a:t>
            </a:r>
            <a:endParaRPr lang="en-US" sz="1000" dirty="0"/>
          </a:p>
        </p:txBody>
      </p:sp>
      <p:sp>
        <p:nvSpPr>
          <p:cNvPr id="28" name="Text 26"/>
          <p:cNvSpPr/>
          <p:nvPr/>
        </p:nvSpPr>
        <p:spPr>
          <a:xfrm>
            <a:off x="5760720" y="1901952"/>
            <a:ext cx="2834640" cy="475488"/>
          </a:xfrm>
          <a:prstGeom prst="rect">
            <a:avLst/>
          </a:prstGeom>
          <a:noFill/>
          <a:ln/>
        </p:spPr>
        <p:txBody>
          <a:bodyPr wrap="square" lIns="0" tIns="0" rIns="0" bIns="0" rtlCol="0" anchor="ctr"/>
          <a:lstStyle/>
          <a:p>
            <a:pPr algn="l" indent="0" marL="0">
              <a:buNone/>
            </a:pPr>
            <a:r>
              <a:rPr lang="en-US" sz="1200" dirty="0">
                <a:solidFill>
                  <a:srgbClr val="1E293B"/>
                </a:solidFill>
                <a:latin typeface="Calibri" pitchFamily="34" charset="0"/>
                <a:ea typeface="Calibri" pitchFamily="34" charset="-122"/>
                <a:cs typeface="Calibri" pitchFamily="34" charset="-120"/>
              </a:rPr>
              <a:t>Endpoint Down</a:t>
            </a:r>
            <a:endParaRPr lang="en-US" sz="1200" dirty="0"/>
          </a:p>
        </p:txBody>
      </p:sp>
      <p:sp>
        <p:nvSpPr>
          <p:cNvPr id="29" name="Shape 27"/>
          <p:cNvSpPr/>
          <p:nvPr/>
        </p:nvSpPr>
        <p:spPr>
          <a:xfrm>
            <a:off x="4800600" y="2450592"/>
            <a:ext cx="3913632" cy="475488"/>
          </a:xfrm>
          <a:prstGeom prst="rect">
            <a:avLst/>
          </a:prstGeom>
          <a:solidFill>
            <a:srgbClr val="F8FAFC"/>
          </a:solidFill>
          <a:ln w="6350">
            <a:solidFill>
              <a:srgbClr val="E2E8F0"/>
            </a:solidFill>
            <a:prstDash val="solid"/>
          </a:ln>
        </p:spPr>
      </p:sp>
      <p:sp>
        <p:nvSpPr>
          <p:cNvPr id="30" name="Shape 28"/>
          <p:cNvSpPr/>
          <p:nvPr/>
        </p:nvSpPr>
        <p:spPr>
          <a:xfrm>
            <a:off x="4800600" y="2450592"/>
            <a:ext cx="73152" cy="475488"/>
          </a:xfrm>
          <a:prstGeom prst="rect">
            <a:avLst/>
          </a:prstGeom>
          <a:solidFill>
            <a:srgbClr val="D97706"/>
          </a:solidFill>
          <a:ln w="12700">
            <a:solidFill>
              <a:srgbClr val="D97706"/>
            </a:solidFill>
            <a:prstDash val="solid"/>
          </a:ln>
        </p:spPr>
      </p:sp>
      <p:sp>
        <p:nvSpPr>
          <p:cNvPr id="31" name="Text 29"/>
          <p:cNvSpPr/>
          <p:nvPr/>
        </p:nvSpPr>
        <p:spPr>
          <a:xfrm>
            <a:off x="4956048" y="2450592"/>
            <a:ext cx="777240" cy="475488"/>
          </a:xfrm>
          <a:prstGeom prst="rect">
            <a:avLst/>
          </a:prstGeom>
          <a:noFill/>
          <a:ln/>
        </p:spPr>
        <p:txBody>
          <a:bodyPr wrap="square" lIns="0" tIns="0" rIns="0" bIns="0" rtlCol="0" anchor="ctr"/>
          <a:lstStyle/>
          <a:p>
            <a:pPr algn="l" indent="0" marL="0">
              <a:buNone/>
            </a:pPr>
            <a:r>
              <a:rPr lang="en-US" sz="1000" b="1" dirty="0">
                <a:solidFill>
                  <a:srgbClr val="D97706"/>
                </a:solidFill>
                <a:latin typeface="Calibri" pitchFamily="34" charset="0"/>
                <a:ea typeface="Calibri" pitchFamily="34" charset="-122"/>
                <a:cs typeface="Calibri" pitchFamily="34" charset="-120"/>
              </a:rPr>
              <a:t>INC-002</a:t>
            </a:r>
            <a:endParaRPr lang="en-US" sz="1000" dirty="0"/>
          </a:p>
        </p:txBody>
      </p:sp>
      <p:sp>
        <p:nvSpPr>
          <p:cNvPr id="32" name="Text 30"/>
          <p:cNvSpPr/>
          <p:nvPr/>
        </p:nvSpPr>
        <p:spPr>
          <a:xfrm>
            <a:off x="5760720" y="2450592"/>
            <a:ext cx="2834640" cy="475488"/>
          </a:xfrm>
          <a:prstGeom prst="rect">
            <a:avLst/>
          </a:prstGeom>
          <a:noFill/>
          <a:ln/>
        </p:spPr>
        <p:txBody>
          <a:bodyPr wrap="square" lIns="0" tIns="0" rIns="0" bIns="0" rtlCol="0" anchor="ctr"/>
          <a:lstStyle/>
          <a:p>
            <a:pPr algn="l" indent="0" marL="0">
              <a:buNone/>
            </a:pPr>
            <a:r>
              <a:rPr lang="en-US" sz="1200" dirty="0">
                <a:solidFill>
                  <a:srgbClr val="1E293B"/>
                </a:solidFill>
                <a:latin typeface="Calibri" pitchFamily="34" charset="0"/>
                <a:ea typeface="Calibri" pitchFamily="34" charset="-122"/>
                <a:cs typeface="Calibri" pitchFamily="34" charset="-120"/>
              </a:rPr>
              <a:t>Feature Drift Detected</a:t>
            </a:r>
            <a:endParaRPr lang="en-US" sz="1200" dirty="0"/>
          </a:p>
        </p:txBody>
      </p:sp>
      <p:sp>
        <p:nvSpPr>
          <p:cNvPr id="33" name="Shape 31"/>
          <p:cNvSpPr/>
          <p:nvPr/>
        </p:nvSpPr>
        <p:spPr>
          <a:xfrm>
            <a:off x="4800600" y="2999232"/>
            <a:ext cx="3913632" cy="475488"/>
          </a:xfrm>
          <a:prstGeom prst="rect">
            <a:avLst/>
          </a:prstGeom>
          <a:solidFill>
            <a:srgbClr val="F8FAFC"/>
          </a:solidFill>
          <a:ln w="6350">
            <a:solidFill>
              <a:srgbClr val="E2E8F0"/>
            </a:solidFill>
            <a:prstDash val="solid"/>
          </a:ln>
        </p:spPr>
      </p:sp>
      <p:sp>
        <p:nvSpPr>
          <p:cNvPr id="34" name="Shape 32"/>
          <p:cNvSpPr/>
          <p:nvPr/>
        </p:nvSpPr>
        <p:spPr>
          <a:xfrm>
            <a:off x="4800600" y="2999232"/>
            <a:ext cx="73152" cy="475488"/>
          </a:xfrm>
          <a:prstGeom prst="rect">
            <a:avLst/>
          </a:prstGeom>
          <a:solidFill>
            <a:srgbClr val="D97706"/>
          </a:solidFill>
          <a:ln w="12700">
            <a:solidFill>
              <a:srgbClr val="D97706"/>
            </a:solidFill>
            <a:prstDash val="solid"/>
          </a:ln>
        </p:spPr>
      </p:sp>
      <p:sp>
        <p:nvSpPr>
          <p:cNvPr id="35" name="Text 33"/>
          <p:cNvSpPr/>
          <p:nvPr/>
        </p:nvSpPr>
        <p:spPr>
          <a:xfrm>
            <a:off x="4956048" y="2999232"/>
            <a:ext cx="777240" cy="475488"/>
          </a:xfrm>
          <a:prstGeom prst="rect">
            <a:avLst/>
          </a:prstGeom>
          <a:noFill/>
          <a:ln/>
        </p:spPr>
        <p:txBody>
          <a:bodyPr wrap="square" lIns="0" tIns="0" rIns="0" bIns="0" rtlCol="0" anchor="ctr"/>
          <a:lstStyle/>
          <a:p>
            <a:pPr algn="l" indent="0" marL="0">
              <a:buNone/>
            </a:pPr>
            <a:r>
              <a:rPr lang="en-US" sz="1000" b="1" dirty="0">
                <a:solidFill>
                  <a:srgbClr val="D97706"/>
                </a:solidFill>
                <a:latin typeface="Calibri" pitchFamily="34" charset="0"/>
                <a:ea typeface="Calibri" pitchFamily="34" charset="-122"/>
                <a:cs typeface="Calibri" pitchFamily="34" charset="-120"/>
              </a:rPr>
              <a:t>INC-003</a:t>
            </a:r>
            <a:endParaRPr lang="en-US" sz="1000" dirty="0"/>
          </a:p>
        </p:txBody>
      </p:sp>
      <p:sp>
        <p:nvSpPr>
          <p:cNvPr id="36" name="Text 34"/>
          <p:cNvSpPr/>
          <p:nvPr/>
        </p:nvSpPr>
        <p:spPr>
          <a:xfrm>
            <a:off x="5760720" y="2999232"/>
            <a:ext cx="2834640" cy="475488"/>
          </a:xfrm>
          <a:prstGeom prst="rect">
            <a:avLst/>
          </a:prstGeom>
          <a:noFill/>
          <a:ln/>
        </p:spPr>
        <p:txBody>
          <a:bodyPr wrap="square" lIns="0" tIns="0" rIns="0" bIns="0" rtlCol="0" anchor="ctr"/>
          <a:lstStyle/>
          <a:p>
            <a:pPr algn="l" indent="0" marL="0">
              <a:buNone/>
            </a:pPr>
            <a:r>
              <a:rPr lang="en-US" sz="1200" dirty="0">
                <a:solidFill>
                  <a:srgbClr val="1E293B"/>
                </a:solidFill>
                <a:latin typeface="Calibri" pitchFamily="34" charset="0"/>
                <a:ea typeface="Calibri" pitchFamily="34" charset="-122"/>
                <a:cs typeface="Calibri" pitchFamily="34" charset="-120"/>
              </a:rPr>
              <a:t>Concept Drift / Decay</a:t>
            </a:r>
            <a:endParaRPr lang="en-US" sz="1200" dirty="0"/>
          </a:p>
        </p:txBody>
      </p:sp>
      <p:sp>
        <p:nvSpPr>
          <p:cNvPr id="37" name="Shape 35"/>
          <p:cNvSpPr/>
          <p:nvPr/>
        </p:nvSpPr>
        <p:spPr>
          <a:xfrm>
            <a:off x="4800600" y="3547872"/>
            <a:ext cx="3913632" cy="475488"/>
          </a:xfrm>
          <a:prstGeom prst="rect">
            <a:avLst/>
          </a:prstGeom>
          <a:solidFill>
            <a:srgbClr val="F8FAFC"/>
          </a:solidFill>
          <a:ln w="6350">
            <a:solidFill>
              <a:srgbClr val="E2E8F0"/>
            </a:solidFill>
            <a:prstDash val="solid"/>
          </a:ln>
        </p:spPr>
      </p:sp>
      <p:sp>
        <p:nvSpPr>
          <p:cNvPr id="38" name="Shape 36"/>
          <p:cNvSpPr/>
          <p:nvPr/>
        </p:nvSpPr>
        <p:spPr>
          <a:xfrm>
            <a:off x="4800600" y="3547872"/>
            <a:ext cx="73152" cy="475488"/>
          </a:xfrm>
          <a:prstGeom prst="rect">
            <a:avLst/>
          </a:prstGeom>
          <a:solidFill>
            <a:srgbClr val="7C3AED"/>
          </a:solidFill>
          <a:ln w="12700">
            <a:solidFill>
              <a:srgbClr val="7C3AED"/>
            </a:solidFill>
            <a:prstDash val="solid"/>
          </a:ln>
        </p:spPr>
      </p:sp>
      <p:sp>
        <p:nvSpPr>
          <p:cNvPr id="39" name="Text 37"/>
          <p:cNvSpPr/>
          <p:nvPr/>
        </p:nvSpPr>
        <p:spPr>
          <a:xfrm>
            <a:off x="4956048" y="3547872"/>
            <a:ext cx="777240" cy="475488"/>
          </a:xfrm>
          <a:prstGeom prst="rect">
            <a:avLst/>
          </a:prstGeom>
          <a:noFill/>
          <a:ln/>
        </p:spPr>
        <p:txBody>
          <a:bodyPr wrap="square" lIns="0" tIns="0" rIns="0" bIns="0" rtlCol="0" anchor="ctr"/>
          <a:lstStyle/>
          <a:p>
            <a:pPr algn="l" indent="0" marL="0">
              <a:buNone/>
            </a:pPr>
            <a:r>
              <a:rPr lang="en-US" sz="1000" b="1" dirty="0">
                <a:solidFill>
                  <a:srgbClr val="7C3AED"/>
                </a:solidFill>
                <a:latin typeface="Calibri" pitchFamily="34" charset="0"/>
                <a:ea typeface="Calibri" pitchFamily="34" charset="-122"/>
                <a:cs typeface="Calibri" pitchFamily="34" charset="-120"/>
              </a:rPr>
              <a:t>INC-004</a:t>
            </a:r>
            <a:endParaRPr lang="en-US" sz="1000" dirty="0"/>
          </a:p>
        </p:txBody>
      </p:sp>
      <p:sp>
        <p:nvSpPr>
          <p:cNvPr id="40" name="Text 38"/>
          <p:cNvSpPr/>
          <p:nvPr/>
        </p:nvSpPr>
        <p:spPr>
          <a:xfrm>
            <a:off x="5760720" y="3547872"/>
            <a:ext cx="2834640" cy="475488"/>
          </a:xfrm>
          <a:prstGeom prst="rect">
            <a:avLst/>
          </a:prstGeom>
          <a:noFill/>
          <a:ln/>
        </p:spPr>
        <p:txBody>
          <a:bodyPr wrap="square" lIns="0" tIns="0" rIns="0" bIns="0" rtlCol="0" anchor="ctr"/>
          <a:lstStyle/>
          <a:p>
            <a:pPr algn="l" indent="0" marL="0">
              <a:buNone/>
            </a:pPr>
            <a:r>
              <a:rPr lang="en-US" sz="1200" dirty="0">
                <a:solidFill>
                  <a:srgbClr val="1E293B"/>
                </a:solidFill>
                <a:latin typeface="Calibri" pitchFamily="34" charset="0"/>
                <a:ea typeface="Calibri" pitchFamily="34" charset="-122"/>
                <a:cs typeface="Calibri" pitchFamily="34" charset="-120"/>
              </a:rPr>
              <a:t>Fairness Violation</a:t>
            </a:r>
            <a:endParaRPr lang="en-US" sz="1200" dirty="0"/>
          </a:p>
        </p:txBody>
      </p:sp>
      <p:sp>
        <p:nvSpPr>
          <p:cNvPr id="41" name="Shape 39"/>
          <p:cNvSpPr/>
          <p:nvPr/>
        </p:nvSpPr>
        <p:spPr>
          <a:xfrm>
            <a:off x="4800600" y="4096512"/>
            <a:ext cx="3913632" cy="475488"/>
          </a:xfrm>
          <a:prstGeom prst="rect">
            <a:avLst/>
          </a:prstGeom>
          <a:solidFill>
            <a:srgbClr val="F8FAFC"/>
          </a:solidFill>
          <a:ln w="6350">
            <a:solidFill>
              <a:srgbClr val="E2E8F0"/>
            </a:solidFill>
            <a:prstDash val="solid"/>
          </a:ln>
        </p:spPr>
      </p:sp>
      <p:sp>
        <p:nvSpPr>
          <p:cNvPr id="42" name="Shape 40"/>
          <p:cNvSpPr/>
          <p:nvPr/>
        </p:nvSpPr>
        <p:spPr>
          <a:xfrm>
            <a:off x="4800600" y="4096512"/>
            <a:ext cx="73152" cy="475488"/>
          </a:xfrm>
          <a:prstGeom prst="rect">
            <a:avLst/>
          </a:prstGeom>
          <a:solidFill>
            <a:srgbClr val="0891B2"/>
          </a:solidFill>
          <a:ln w="12700">
            <a:solidFill>
              <a:srgbClr val="0891B2"/>
            </a:solidFill>
            <a:prstDash val="solid"/>
          </a:ln>
        </p:spPr>
      </p:sp>
      <p:sp>
        <p:nvSpPr>
          <p:cNvPr id="43" name="Text 41"/>
          <p:cNvSpPr/>
          <p:nvPr/>
        </p:nvSpPr>
        <p:spPr>
          <a:xfrm>
            <a:off x="4956048" y="4096512"/>
            <a:ext cx="777240" cy="475488"/>
          </a:xfrm>
          <a:prstGeom prst="rect">
            <a:avLst/>
          </a:prstGeom>
          <a:noFill/>
          <a:ln/>
        </p:spPr>
        <p:txBody>
          <a:bodyPr wrap="square" lIns="0" tIns="0" rIns="0" bIns="0" rtlCol="0" anchor="ctr"/>
          <a:lstStyle/>
          <a:p>
            <a:pPr algn="l" indent="0" marL="0">
              <a:buNone/>
            </a:pPr>
            <a:r>
              <a:rPr lang="en-US" sz="1000" b="1" dirty="0">
                <a:solidFill>
                  <a:srgbClr val="0891B2"/>
                </a:solidFill>
                <a:latin typeface="Calibri" pitchFamily="34" charset="0"/>
                <a:ea typeface="Calibri" pitchFamily="34" charset="-122"/>
                <a:cs typeface="Calibri" pitchFamily="34" charset="-120"/>
              </a:rPr>
              <a:t>INC-005</a:t>
            </a:r>
            <a:endParaRPr lang="en-US" sz="1000" dirty="0"/>
          </a:p>
        </p:txBody>
      </p:sp>
      <p:sp>
        <p:nvSpPr>
          <p:cNvPr id="44" name="Text 42"/>
          <p:cNvSpPr/>
          <p:nvPr/>
        </p:nvSpPr>
        <p:spPr>
          <a:xfrm>
            <a:off x="5760720" y="4096512"/>
            <a:ext cx="2834640" cy="475488"/>
          </a:xfrm>
          <a:prstGeom prst="rect">
            <a:avLst/>
          </a:prstGeom>
          <a:noFill/>
          <a:ln/>
        </p:spPr>
        <p:txBody>
          <a:bodyPr wrap="square" lIns="0" tIns="0" rIns="0" bIns="0" rtlCol="0" anchor="ctr"/>
          <a:lstStyle/>
          <a:p>
            <a:pPr algn="l" indent="0" marL="0">
              <a:buNone/>
            </a:pPr>
            <a:r>
              <a:rPr lang="en-US" sz="1200" dirty="0">
                <a:solidFill>
                  <a:srgbClr val="1E293B"/>
                </a:solidFill>
                <a:latin typeface="Calibri" pitchFamily="34" charset="0"/>
                <a:ea typeface="Calibri" pitchFamily="34" charset="-122"/>
                <a:cs typeface="Calibri" pitchFamily="34" charset="-120"/>
              </a:rPr>
              <a:t>CI/CD Pipeline Failure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B2A4A"/>
          </a:solidFill>
          <a:ln w="12700">
            <a:solidFill>
              <a:srgbClr val="1B2A4A"/>
            </a:solidFill>
            <a:prstDash val="solid"/>
          </a:ln>
        </p:spPr>
      </p:sp>
      <p:sp>
        <p:nvSpPr>
          <p:cNvPr id="3" name="Shape 1"/>
          <p:cNvSpPr/>
          <p:nvPr/>
        </p:nvSpPr>
        <p:spPr>
          <a:xfrm>
            <a:off x="0" y="1005840"/>
            <a:ext cx="9144000" cy="54864"/>
          </a:xfrm>
          <a:prstGeom prst="rect">
            <a:avLst/>
          </a:prstGeom>
          <a:solidFill>
            <a:srgbClr val="0D9488"/>
          </a:solidFill>
          <a:ln w="12700">
            <a:solidFill>
              <a:srgbClr val="0D9488"/>
            </a:solidFill>
            <a:prstDash val="solid"/>
          </a:ln>
        </p:spPr>
      </p:sp>
      <p:sp>
        <p:nvSpPr>
          <p:cNvPr id="4" name="Shape 2"/>
          <p:cNvSpPr/>
          <p:nvPr/>
        </p:nvSpPr>
        <p:spPr>
          <a:xfrm>
            <a:off x="7223760" y="301752"/>
            <a:ext cx="1600200" cy="402336"/>
          </a:xfrm>
          <a:prstGeom prst="rect">
            <a:avLst/>
          </a:prstGeom>
          <a:solidFill>
            <a:srgbClr val="F59E0B"/>
          </a:solidFill>
          <a:ln w="12700">
            <a:solidFill>
              <a:srgbClr val="F59E0B"/>
            </a:solidFill>
            <a:prstDash val="solid"/>
          </a:ln>
        </p:spPr>
      </p:sp>
      <p:sp>
        <p:nvSpPr>
          <p:cNvPr id="5" name="Text 3"/>
          <p:cNvSpPr/>
          <p:nvPr/>
        </p:nvSpPr>
        <p:spPr>
          <a:xfrm>
            <a:off x="7223760" y="301752"/>
            <a:ext cx="1600200"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BONUS</a:t>
            </a:r>
            <a:endParaRPr lang="en-US" sz="1100" dirty="0"/>
          </a:p>
        </p:txBody>
      </p:sp>
      <p:sp>
        <p:nvSpPr>
          <p:cNvPr id="6" name="Text 4"/>
          <p:cNvSpPr/>
          <p:nvPr/>
        </p:nvSpPr>
        <p:spPr>
          <a:xfrm>
            <a:off x="365760" y="0"/>
            <a:ext cx="6766560" cy="1005840"/>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10  Optional Enhancements Showcase</a:t>
            </a:r>
            <a:endParaRPr lang="en-US" sz="2600" dirty="0"/>
          </a:p>
        </p:txBody>
      </p:sp>
      <p:sp>
        <p:nvSpPr>
          <p:cNvPr id="7" name="Shape 5"/>
          <p:cNvSpPr/>
          <p:nvPr/>
        </p:nvSpPr>
        <p:spPr>
          <a:xfrm>
            <a:off x="320040" y="1234440"/>
            <a:ext cx="4114800" cy="356616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8" name="Shape 6"/>
          <p:cNvSpPr/>
          <p:nvPr/>
        </p:nvSpPr>
        <p:spPr>
          <a:xfrm>
            <a:off x="320040" y="1234440"/>
            <a:ext cx="4114800" cy="73152"/>
          </a:xfrm>
          <a:prstGeom prst="rect">
            <a:avLst/>
          </a:prstGeom>
          <a:solidFill>
            <a:srgbClr val="0D9488"/>
          </a:solidFill>
          <a:ln w="12700">
            <a:solidFill>
              <a:srgbClr val="0D9488"/>
            </a:solidFill>
            <a:prstDash val="solid"/>
          </a:ln>
        </p:spPr>
      </p:sp>
      <p:sp>
        <p:nvSpPr>
          <p:cNvPr id="9" name="Text 7"/>
          <p:cNvSpPr/>
          <p:nvPr/>
        </p:nvSpPr>
        <p:spPr>
          <a:xfrm>
            <a:off x="457200" y="1389888"/>
            <a:ext cx="3840480" cy="384048"/>
          </a:xfrm>
          <a:prstGeom prst="rect">
            <a:avLst/>
          </a:prstGeom>
          <a:noFill/>
          <a:ln/>
        </p:spPr>
        <p:txBody>
          <a:bodyPr wrap="square" lIns="0" tIns="0" rIns="0" bIns="0" rtlCol="0" anchor="ctr"/>
          <a:lstStyle/>
          <a:p>
            <a:pPr indent="0" marL="0">
              <a:buNone/>
            </a:pPr>
            <a:r>
              <a:rPr lang="en-US" sz="1600" b="1" dirty="0">
                <a:solidFill>
                  <a:srgbClr val="1B2A4A"/>
                </a:solidFill>
                <a:latin typeface="Georgia" pitchFamily="34" charset="0"/>
                <a:ea typeface="Georgia" pitchFamily="34" charset="-122"/>
                <a:cs typeface="Georgia" pitchFamily="34" charset="-120"/>
              </a:rPr>
              <a:t>MLflow Experiment Tracking</a:t>
            </a:r>
            <a:endParaRPr lang="en-US" sz="1600" dirty="0"/>
          </a:p>
        </p:txBody>
      </p:sp>
      <p:sp>
        <p:nvSpPr>
          <p:cNvPr id="10" name="Text 8"/>
          <p:cNvSpPr/>
          <p:nvPr/>
        </p:nvSpPr>
        <p:spPr>
          <a:xfrm>
            <a:off x="457200" y="1901952"/>
            <a:ext cx="3840480" cy="237744"/>
          </a:xfrm>
          <a:prstGeom prst="rect">
            <a:avLst/>
          </a:prstGeom>
          <a:noFill/>
          <a:ln/>
        </p:spPr>
        <p:txBody>
          <a:bodyPr wrap="square" lIns="0" tIns="0" rIns="0" bIns="0" rtlCol="0" anchor="ctr"/>
          <a:lstStyle/>
          <a:p>
            <a:pPr indent="0" marL="0">
              <a:buNone/>
            </a:pPr>
            <a:r>
              <a:rPr lang="en-US" sz="1150" b="1" dirty="0">
                <a:solidFill>
                  <a:srgbClr val="0D9488"/>
                </a:solidFill>
                <a:latin typeface="Calibri" pitchFamily="34" charset="0"/>
                <a:ea typeface="Calibri" pitchFamily="34" charset="-122"/>
                <a:cs typeface="Calibri" pitchFamily="34" charset="-120"/>
              </a:rPr>
              <a:t>Experiment Runs</a:t>
            </a:r>
            <a:endParaRPr lang="en-US" sz="1150" dirty="0"/>
          </a:p>
        </p:txBody>
      </p:sp>
      <p:sp>
        <p:nvSpPr>
          <p:cNvPr id="11" name="Text 9"/>
          <p:cNvSpPr/>
          <p:nvPr/>
        </p:nvSpPr>
        <p:spPr>
          <a:xfrm>
            <a:off x="457200" y="2139696"/>
            <a:ext cx="3840480" cy="237744"/>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Every Optuna trial logged: params, CV score, duration</a:t>
            </a:r>
            <a:endParaRPr lang="en-US" sz="1050" dirty="0"/>
          </a:p>
        </p:txBody>
      </p:sp>
      <p:sp>
        <p:nvSpPr>
          <p:cNvPr id="12" name="Text 10"/>
          <p:cNvSpPr/>
          <p:nvPr/>
        </p:nvSpPr>
        <p:spPr>
          <a:xfrm>
            <a:off x="457200" y="2432304"/>
            <a:ext cx="3840480" cy="237744"/>
          </a:xfrm>
          <a:prstGeom prst="rect">
            <a:avLst/>
          </a:prstGeom>
          <a:noFill/>
          <a:ln/>
        </p:spPr>
        <p:txBody>
          <a:bodyPr wrap="square" lIns="0" tIns="0" rIns="0" bIns="0" rtlCol="0" anchor="ctr"/>
          <a:lstStyle/>
          <a:p>
            <a:pPr indent="0" marL="0">
              <a:buNone/>
            </a:pPr>
            <a:r>
              <a:rPr lang="en-US" sz="1150" b="1" dirty="0">
                <a:solidFill>
                  <a:srgbClr val="0D9488"/>
                </a:solidFill>
                <a:latin typeface="Calibri" pitchFamily="34" charset="0"/>
                <a:ea typeface="Calibri" pitchFamily="34" charset="-122"/>
                <a:cs typeface="Calibri" pitchFamily="34" charset="-120"/>
              </a:rPr>
              <a:t>Best Run Promotion</a:t>
            </a:r>
            <a:endParaRPr lang="en-US" sz="1150" dirty="0"/>
          </a:p>
        </p:txBody>
      </p:sp>
      <p:sp>
        <p:nvSpPr>
          <p:cNvPr id="13" name="Text 11"/>
          <p:cNvSpPr/>
          <p:nvPr/>
        </p:nvSpPr>
        <p:spPr>
          <a:xfrm>
            <a:off x="457200" y="2670048"/>
            <a:ext cx="3840480" cy="237744"/>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Top trial's artifacts logged to parent MLflow run</a:t>
            </a:r>
            <a:endParaRPr lang="en-US" sz="1050" dirty="0"/>
          </a:p>
        </p:txBody>
      </p:sp>
      <p:sp>
        <p:nvSpPr>
          <p:cNvPr id="14" name="Text 12"/>
          <p:cNvSpPr/>
          <p:nvPr/>
        </p:nvSpPr>
        <p:spPr>
          <a:xfrm>
            <a:off x="457200" y="2962656"/>
            <a:ext cx="3840480" cy="237744"/>
          </a:xfrm>
          <a:prstGeom prst="rect">
            <a:avLst/>
          </a:prstGeom>
          <a:noFill/>
          <a:ln/>
        </p:spPr>
        <p:txBody>
          <a:bodyPr wrap="square" lIns="0" tIns="0" rIns="0" bIns="0" rtlCol="0" anchor="ctr"/>
          <a:lstStyle/>
          <a:p>
            <a:pPr indent="0" marL="0">
              <a:buNone/>
            </a:pPr>
            <a:r>
              <a:rPr lang="en-US" sz="1150" b="1" dirty="0">
                <a:solidFill>
                  <a:srgbClr val="0D9488"/>
                </a:solidFill>
                <a:latin typeface="Calibri" pitchFamily="34" charset="0"/>
                <a:ea typeface="Calibri" pitchFamily="34" charset="-122"/>
                <a:cs typeface="Calibri" pitchFamily="34" charset="-120"/>
              </a:rPr>
              <a:t>Model Registry</a:t>
            </a:r>
            <a:endParaRPr lang="en-US" sz="1150" dirty="0"/>
          </a:p>
        </p:txBody>
      </p:sp>
      <p:sp>
        <p:nvSpPr>
          <p:cNvPr id="15" name="Text 13"/>
          <p:cNvSpPr/>
          <p:nvPr/>
        </p:nvSpPr>
        <p:spPr>
          <a:xfrm>
            <a:off x="457200" y="3200400"/>
            <a:ext cx="3840480" cy="237744"/>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Registered as 'credit-scoring-xgb' with version tracking</a:t>
            </a:r>
            <a:endParaRPr lang="en-US" sz="1050" dirty="0"/>
          </a:p>
        </p:txBody>
      </p:sp>
      <p:sp>
        <p:nvSpPr>
          <p:cNvPr id="16" name="Text 14"/>
          <p:cNvSpPr/>
          <p:nvPr/>
        </p:nvSpPr>
        <p:spPr>
          <a:xfrm>
            <a:off x="457200" y="3493008"/>
            <a:ext cx="3840480" cy="237744"/>
          </a:xfrm>
          <a:prstGeom prst="rect">
            <a:avLst/>
          </a:prstGeom>
          <a:noFill/>
          <a:ln/>
        </p:spPr>
        <p:txBody>
          <a:bodyPr wrap="square" lIns="0" tIns="0" rIns="0" bIns="0" rtlCol="0" anchor="ctr"/>
          <a:lstStyle/>
          <a:p>
            <a:pPr indent="0" marL="0">
              <a:buNone/>
            </a:pPr>
            <a:r>
              <a:rPr lang="en-US" sz="1150" b="1" dirty="0">
                <a:solidFill>
                  <a:srgbClr val="0D9488"/>
                </a:solidFill>
                <a:latin typeface="Calibri" pitchFamily="34" charset="0"/>
                <a:ea typeface="Calibri" pitchFamily="34" charset="-122"/>
                <a:cs typeface="Calibri" pitchFamily="34" charset="-120"/>
              </a:rPr>
              <a:t>Auto-logging</a:t>
            </a:r>
            <a:endParaRPr lang="en-US" sz="1150" dirty="0"/>
          </a:p>
        </p:txBody>
      </p:sp>
      <p:sp>
        <p:nvSpPr>
          <p:cNvPr id="17" name="Text 15"/>
          <p:cNvSpPr/>
          <p:nvPr/>
        </p:nvSpPr>
        <p:spPr>
          <a:xfrm>
            <a:off x="457200" y="3730752"/>
            <a:ext cx="3840480" cy="237744"/>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mlflow.sklearn autolog captures feature importances &amp; signature</a:t>
            </a:r>
            <a:endParaRPr lang="en-US" sz="1050" dirty="0"/>
          </a:p>
        </p:txBody>
      </p:sp>
      <p:sp>
        <p:nvSpPr>
          <p:cNvPr id="18" name="Text 16"/>
          <p:cNvSpPr/>
          <p:nvPr/>
        </p:nvSpPr>
        <p:spPr>
          <a:xfrm>
            <a:off x="457200" y="4023360"/>
            <a:ext cx="3840480" cy="237744"/>
          </a:xfrm>
          <a:prstGeom prst="rect">
            <a:avLst/>
          </a:prstGeom>
          <a:noFill/>
          <a:ln/>
        </p:spPr>
        <p:txBody>
          <a:bodyPr wrap="square" lIns="0" tIns="0" rIns="0" bIns="0" rtlCol="0" anchor="ctr"/>
          <a:lstStyle/>
          <a:p>
            <a:pPr indent="0" marL="0">
              <a:buNone/>
            </a:pPr>
            <a:r>
              <a:rPr lang="en-US" sz="1150" b="1" dirty="0">
                <a:solidFill>
                  <a:srgbClr val="0D9488"/>
                </a:solidFill>
                <a:latin typeface="Calibri" pitchFamily="34" charset="0"/>
                <a:ea typeface="Calibri" pitchFamily="34" charset="-122"/>
                <a:cs typeface="Calibri" pitchFamily="34" charset="-120"/>
              </a:rPr>
              <a:t>Metrics Dashboard</a:t>
            </a:r>
            <a:endParaRPr lang="en-US" sz="1150" dirty="0"/>
          </a:p>
        </p:txBody>
      </p:sp>
      <p:sp>
        <p:nvSpPr>
          <p:cNvPr id="19" name="Text 17"/>
          <p:cNvSpPr/>
          <p:nvPr/>
        </p:nvSpPr>
        <p:spPr>
          <a:xfrm>
            <a:off x="457200" y="4261104"/>
            <a:ext cx="3840480" cy="237744"/>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Compare AUC-ROC across runs; filter by hyperparameter range</a:t>
            </a:r>
            <a:endParaRPr lang="en-US" sz="1050" dirty="0"/>
          </a:p>
        </p:txBody>
      </p:sp>
      <p:sp>
        <p:nvSpPr>
          <p:cNvPr id="20" name="Shape 18"/>
          <p:cNvSpPr/>
          <p:nvPr/>
        </p:nvSpPr>
        <p:spPr>
          <a:xfrm>
            <a:off x="4709160" y="1234440"/>
            <a:ext cx="4114800" cy="3566160"/>
          </a:xfrm>
          <a:prstGeom prst="rect">
            <a:avLst/>
          </a:prstGeom>
          <a:solidFill>
            <a:srgbClr val="FFFFFF"/>
          </a:solidFill>
          <a:ln w="12700">
            <a:solidFill>
              <a:srgbClr val="E2E8F0"/>
            </a:solidFill>
            <a:prstDash val="solid"/>
          </a:ln>
          <a:effectLst>
            <a:outerShdw sx="100000" sy="100000" kx="0" ky="0" algn="bl" rotWithShape="0" blurRad="101600" dist="38100" dir="8100000">
              <a:srgbClr val="1B2A4A">
                <a:alpha val="10000"/>
              </a:srgbClr>
            </a:outerShdw>
          </a:effectLst>
        </p:spPr>
      </p:sp>
      <p:sp>
        <p:nvSpPr>
          <p:cNvPr id="21" name="Shape 19"/>
          <p:cNvSpPr/>
          <p:nvPr/>
        </p:nvSpPr>
        <p:spPr>
          <a:xfrm>
            <a:off x="4709160" y="1234440"/>
            <a:ext cx="4114800" cy="73152"/>
          </a:xfrm>
          <a:prstGeom prst="rect">
            <a:avLst/>
          </a:prstGeom>
          <a:solidFill>
            <a:srgbClr val="0891B2"/>
          </a:solidFill>
          <a:ln w="12700">
            <a:solidFill>
              <a:srgbClr val="0891B2"/>
            </a:solidFill>
            <a:prstDash val="solid"/>
          </a:ln>
        </p:spPr>
      </p:sp>
      <p:sp>
        <p:nvSpPr>
          <p:cNvPr id="22" name="Text 20"/>
          <p:cNvSpPr/>
          <p:nvPr/>
        </p:nvSpPr>
        <p:spPr>
          <a:xfrm>
            <a:off x="4846320" y="1389888"/>
            <a:ext cx="3840480" cy="384048"/>
          </a:xfrm>
          <a:prstGeom prst="rect">
            <a:avLst/>
          </a:prstGeom>
          <a:noFill/>
          <a:ln/>
        </p:spPr>
        <p:txBody>
          <a:bodyPr wrap="square" lIns="0" tIns="0" rIns="0" bIns="0" rtlCol="0" anchor="ctr"/>
          <a:lstStyle/>
          <a:p>
            <a:pPr indent="0" marL="0">
              <a:buNone/>
            </a:pPr>
            <a:r>
              <a:rPr lang="en-US" sz="1600" b="1" dirty="0">
                <a:solidFill>
                  <a:srgbClr val="1B2A4A"/>
                </a:solidFill>
                <a:latin typeface="Georgia" pitchFamily="34" charset="0"/>
                <a:ea typeface="Georgia" pitchFamily="34" charset="-122"/>
                <a:cs typeface="Georgia" pitchFamily="34" charset="-120"/>
              </a:rPr>
              <a:t>Prometheus + Grafana Monitoring</a:t>
            </a:r>
            <a:endParaRPr lang="en-US" sz="1600" dirty="0"/>
          </a:p>
        </p:txBody>
      </p:sp>
      <p:sp>
        <p:nvSpPr>
          <p:cNvPr id="23" name="Text 21"/>
          <p:cNvSpPr/>
          <p:nvPr/>
        </p:nvSpPr>
        <p:spPr>
          <a:xfrm>
            <a:off x="4846320" y="1901952"/>
            <a:ext cx="3840480" cy="237744"/>
          </a:xfrm>
          <a:prstGeom prst="rect">
            <a:avLst/>
          </a:prstGeom>
          <a:noFill/>
          <a:ln/>
        </p:spPr>
        <p:txBody>
          <a:bodyPr wrap="square" lIns="0" tIns="0" rIns="0" bIns="0" rtlCol="0" anchor="ctr"/>
          <a:lstStyle/>
          <a:p>
            <a:pPr indent="0" marL="0">
              <a:buNone/>
            </a:pPr>
            <a:r>
              <a:rPr lang="en-US" sz="1150" b="1" dirty="0">
                <a:solidFill>
                  <a:srgbClr val="0891B2"/>
                </a:solidFill>
                <a:latin typeface="Calibri" pitchFamily="34" charset="0"/>
                <a:ea typeface="Calibri" pitchFamily="34" charset="-122"/>
                <a:cs typeface="Calibri" pitchFamily="34" charset="-120"/>
              </a:rPr>
              <a:t>Prometheus Metrics</a:t>
            </a:r>
            <a:endParaRPr lang="en-US" sz="1150" dirty="0"/>
          </a:p>
        </p:txBody>
      </p:sp>
      <p:sp>
        <p:nvSpPr>
          <p:cNvPr id="24" name="Text 22"/>
          <p:cNvSpPr/>
          <p:nvPr/>
        </p:nvSpPr>
        <p:spPr>
          <a:xfrm>
            <a:off x="4846320" y="2139696"/>
            <a:ext cx="3840480" cy="237744"/>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Request count, latency (p50/p95), error rate — scraped every 15s</a:t>
            </a:r>
            <a:endParaRPr lang="en-US" sz="1050" dirty="0"/>
          </a:p>
        </p:txBody>
      </p:sp>
      <p:sp>
        <p:nvSpPr>
          <p:cNvPr id="25" name="Text 23"/>
          <p:cNvSpPr/>
          <p:nvPr/>
        </p:nvSpPr>
        <p:spPr>
          <a:xfrm>
            <a:off x="4846320" y="2432304"/>
            <a:ext cx="3840480" cy="237744"/>
          </a:xfrm>
          <a:prstGeom prst="rect">
            <a:avLst/>
          </a:prstGeom>
          <a:noFill/>
          <a:ln/>
        </p:spPr>
        <p:txBody>
          <a:bodyPr wrap="square" lIns="0" tIns="0" rIns="0" bIns="0" rtlCol="0" anchor="ctr"/>
          <a:lstStyle/>
          <a:p>
            <a:pPr indent="0" marL="0">
              <a:buNone/>
            </a:pPr>
            <a:r>
              <a:rPr lang="en-US" sz="1150" b="1" dirty="0">
                <a:solidFill>
                  <a:srgbClr val="0891B2"/>
                </a:solidFill>
                <a:latin typeface="Calibri" pitchFamily="34" charset="0"/>
                <a:ea typeface="Calibri" pitchFamily="34" charset="-122"/>
                <a:cs typeface="Calibri" pitchFamily="34" charset="-120"/>
              </a:rPr>
              <a:t>Grafana Dashboard</a:t>
            </a:r>
            <a:endParaRPr lang="en-US" sz="1150" dirty="0"/>
          </a:p>
        </p:txBody>
      </p:sp>
      <p:sp>
        <p:nvSpPr>
          <p:cNvPr id="26" name="Text 24"/>
          <p:cNvSpPr/>
          <p:nvPr/>
        </p:nvSpPr>
        <p:spPr>
          <a:xfrm>
            <a:off x="4846320" y="2670048"/>
            <a:ext cx="3840480" cy="237744"/>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4 panels: throughput, latency, errors, drift score</a:t>
            </a:r>
            <a:endParaRPr lang="en-US" sz="1050" dirty="0"/>
          </a:p>
        </p:txBody>
      </p:sp>
      <p:sp>
        <p:nvSpPr>
          <p:cNvPr id="27" name="Text 25"/>
          <p:cNvSpPr/>
          <p:nvPr/>
        </p:nvSpPr>
        <p:spPr>
          <a:xfrm>
            <a:off x="4846320" y="2962656"/>
            <a:ext cx="3840480" cy="237744"/>
          </a:xfrm>
          <a:prstGeom prst="rect">
            <a:avLst/>
          </a:prstGeom>
          <a:noFill/>
          <a:ln/>
        </p:spPr>
        <p:txBody>
          <a:bodyPr wrap="square" lIns="0" tIns="0" rIns="0" bIns="0" rtlCol="0" anchor="ctr"/>
          <a:lstStyle/>
          <a:p>
            <a:pPr indent="0" marL="0">
              <a:buNone/>
            </a:pPr>
            <a:r>
              <a:rPr lang="en-US" sz="1150" b="1" dirty="0">
                <a:solidFill>
                  <a:srgbClr val="0891B2"/>
                </a:solidFill>
                <a:latin typeface="Calibri" pitchFamily="34" charset="0"/>
                <a:ea typeface="Calibri" pitchFamily="34" charset="-122"/>
                <a:cs typeface="Calibri" pitchFamily="34" charset="-120"/>
              </a:rPr>
              <a:t>PSI Drift Detector</a:t>
            </a:r>
            <a:endParaRPr lang="en-US" sz="1150" dirty="0"/>
          </a:p>
        </p:txBody>
      </p:sp>
      <p:sp>
        <p:nvSpPr>
          <p:cNvPr id="28" name="Text 26"/>
          <p:cNvSpPr/>
          <p:nvPr/>
        </p:nvSpPr>
        <p:spPr>
          <a:xfrm>
            <a:off x="4846320" y="3200400"/>
            <a:ext cx="3840480" cy="237744"/>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Rolling 1,000-sample buffer · alerts when PSI &gt; 0.2</a:t>
            </a:r>
            <a:endParaRPr lang="en-US" sz="1050" dirty="0"/>
          </a:p>
        </p:txBody>
      </p:sp>
      <p:sp>
        <p:nvSpPr>
          <p:cNvPr id="29" name="Text 27"/>
          <p:cNvSpPr/>
          <p:nvPr/>
        </p:nvSpPr>
        <p:spPr>
          <a:xfrm>
            <a:off x="4846320" y="3493008"/>
            <a:ext cx="3840480" cy="237744"/>
          </a:xfrm>
          <a:prstGeom prst="rect">
            <a:avLst/>
          </a:prstGeom>
          <a:noFill/>
          <a:ln/>
        </p:spPr>
        <p:txBody>
          <a:bodyPr wrap="square" lIns="0" tIns="0" rIns="0" bIns="0" rtlCol="0" anchor="ctr"/>
          <a:lstStyle/>
          <a:p>
            <a:pPr indent="0" marL="0">
              <a:buNone/>
            </a:pPr>
            <a:r>
              <a:rPr lang="en-US" sz="1150" b="1" dirty="0">
                <a:solidFill>
                  <a:srgbClr val="0891B2"/>
                </a:solidFill>
                <a:latin typeface="Calibri" pitchFamily="34" charset="0"/>
                <a:ea typeface="Calibri" pitchFamily="34" charset="-122"/>
                <a:cs typeface="Calibri" pitchFamily="34" charset="-120"/>
              </a:rPr>
              <a:t>Alert Rules</a:t>
            </a:r>
            <a:endParaRPr lang="en-US" sz="1150" dirty="0"/>
          </a:p>
        </p:txBody>
      </p:sp>
      <p:sp>
        <p:nvSpPr>
          <p:cNvPr id="30" name="Text 28"/>
          <p:cNvSpPr/>
          <p:nvPr/>
        </p:nvSpPr>
        <p:spPr>
          <a:xfrm>
            <a:off x="4846320" y="3730752"/>
            <a:ext cx="3840480" cy="237744"/>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High error rate, latency spikes, drift threshold breaches</a:t>
            </a:r>
            <a:endParaRPr lang="en-US" sz="1050" dirty="0"/>
          </a:p>
        </p:txBody>
      </p:sp>
      <p:sp>
        <p:nvSpPr>
          <p:cNvPr id="31" name="Text 29"/>
          <p:cNvSpPr/>
          <p:nvPr/>
        </p:nvSpPr>
        <p:spPr>
          <a:xfrm>
            <a:off x="4846320" y="4023360"/>
            <a:ext cx="3840480" cy="237744"/>
          </a:xfrm>
          <a:prstGeom prst="rect">
            <a:avLst/>
          </a:prstGeom>
          <a:noFill/>
          <a:ln/>
        </p:spPr>
        <p:txBody>
          <a:bodyPr wrap="square" lIns="0" tIns="0" rIns="0" bIns="0" rtlCol="0" anchor="ctr"/>
          <a:lstStyle/>
          <a:p>
            <a:pPr indent="0" marL="0">
              <a:buNone/>
            </a:pPr>
            <a:r>
              <a:rPr lang="en-US" sz="1150" b="1" dirty="0">
                <a:solidFill>
                  <a:srgbClr val="0891B2"/>
                </a:solidFill>
                <a:latin typeface="Calibri" pitchFamily="34" charset="0"/>
                <a:ea typeface="Calibri" pitchFamily="34" charset="-122"/>
                <a:cs typeface="Calibri" pitchFamily="34" charset="-120"/>
              </a:rPr>
              <a:t>Sidecar Pattern</a:t>
            </a:r>
            <a:endParaRPr lang="en-US" sz="1150" dirty="0"/>
          </a:p>
        </p:txBody>
      </p:sp>
      <p:sp>
        <p:nvSpPr>
          <p:cNvPr id="32" name="Text 30"/>
          <p:cNvSpPr/>
          <p:nvPr/>
        </p:nvSpPr>
        <p:spPr>
          <a:xfrm>
            <a:off x="4846320" y="4261104"/>
            <a:ext cx="3840480" cy="237744"/>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drift_detector.py runs alongside inference on port 8081</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w="12700">
            <a:solidFill>
              <a:srgbClr val="0D9488"/>
            </a:solidFill>
            <a:prstDash val="solid"/>
          </a:ln>
        </p:spPr>
      </p:sp>
      <p:sp>
        <p:nvSpPr>
          <p:cNvPr id="3" name="Text 1"/>
          <p:cNvSpPr/>
          <p:nvPr/>
        </p:nvSpPr>
        <p:spPr>
          <a:xfrm>
            <a:off x="365760" y="109728"/>
            <a:ext cx="8412480" cy="749808"/>
          </a:xfrm>
          <a:prstGeom prst="rect">
            <a:avLst/>
          </a:prstGeom>
          <a:noFill/>
          <a:ln/>
        </p:spPr>
        <p:txBody>
          <a:bodyPr wrap="square" lIns="0" tIns="0" rIns="0" bIns="0" rtlCol="0" anchor="ctr"/>
          <a:lstStyle/>
          <a:p>
            <a:pPr algn="l" indent="0" marL="0">
              <a:buNone/>
            </a:pPr>
            <a:r>
              <a:rPr lang="en-US" sz="2600" b="1" dirty="0">
                <a:solidFill>
                  <a:srgbClr val="FFFFFF"/>
                </a:solidFill>
                <a:latin typeface="Georgia" pitchFamily="34" charset="0"/>
                <a:ea typeface="Georgia" pitchFamily="34" charset="-122"/>
                <a:cs typeface="Georgia" pitchFamily="34" charset="-120"/>
              </a:rPr>
              <a:t>11  Lessons Learned &amp; Next Steps</a:t>
            </a:r>
            <a:endParaRPr lang="en-US" sz="2600" dirty="0"/>
          </a:p>
        </p:txBody>
      </p:sp>
      <p:sp>
        <p:nvSpPr>
          <p:cNvPr id="4" name="Text 2"/>
          <p:cNvSpPr/>
          <p:nvPr/>
        </p:nvSpPr>
        <p:spPr>
          <a:xfrm>
            <a:off x="320040" y="1005840"/>
            <a:ext cx="4114800" cy="438912"/>
          </a:xfrm>
          <a:prstGeom prst="rect">
            <a:avLst/>
          </a:prstGeom>
          <a:noFill/>
          <a:ln/>
        </p:spPr>
        <p:txBody>
          <a:bodyPr wrap="square" lIns="0" tIns="0" rIns="0" bIns="0" rtlCol="0" anchor="ctr"/>
          <a:lstStyle/>
          <a:p>
            <a:pPr indent="0" marL="0">
              <a:buNone/>
            </a:pPr>
            <a:r>
              <a:rPr lang="en-US" sz="1700" b="1" dirty="0">
                <a:solidFill>
                  <a:srgbClr val="14B8A6"/>
                </a:solidFill>
                <a:latin typeface="Georgia" pitchFamily="34" charset="0"/>
                <a:ea typeface="Georgia" pitchFamily="34" charset="-122"/>
                <a:cs typeface="Georgia" pitchFamily="34" charset="-120"/>
              </a:rPr>
              <a:t>Lessons Learned</a:t>
            </a:r>
            <a:endParaRPr lang="en-US" sz="1700" dirty="0"/>
          </a:p>
        </p:txBody>
      </p:sp>
      <p:sp>
        <p:nvSpPr>
          <p:cNvPr id="5" name="Shape 3"/>
          <p:cNvSpPr/>
          <p:nvPr/>
        </p:nvSpPr>
        <p:spPr>
          <a:xfrm>
            <a:off x="320040" y="1554480"/>
            <a:ext cx="4114800" cy="777240"/>
          </a:xfrm>
          <a:prstGeom prst="rect">
            <a:avLst/>
          </a:prstGeom>
          <a:solidFill>
            <a:srgbClr val="1E3A5F"/>
          </a:solidFill>
          <a:ln w="6350">
            <a:solidFill>
              <a:srgbClr val="0D9488"/>
            </a:solidFill>
            <a:prstDash val="solid"/>
          </a:ln>
        </p:spPr>
      </p:sp>
      <p:sp>
        <p:nvSpPr>
          <p:cNvPr id="6" name="Shape 4"/>
          <p:cNvSpPr/>
          <p:nvPr/>
        </p:nvSpPr>
        <p:spPr>
          <a:xfrm>
            <a:off x="320040" y="1554480"/>
            <a:ext cx="73152" cy="777240"/>
          </a:xfrm>
          <a:prstGeom prst="rect">
            <a:avLst/>
          </a:prstGeom>
          <a:solidFill>
            <a:srgbClr val="14B8A6"/>
          </a:solidFill>
          <a:ln w="12700">
            <a:solidFill>
              <a:srgbClr val="14B8A6"/>
            </a:solidFill>
            <a:prstDash val="solid"/>
          </a:ln>
        </p:spPr>
      </p:sp>
      <p:sp>
        <p:nvSpPr>
          <p:cNvPr id="7" name="Text 5"/>
          <p:cNvSpPr/>
          <p:nvPr/>
        </p:nvSpPr>
        <p:spPr>
          <a:xfrm>
            <a:off x="502920" y="1600200"/>
            <a:ext cx="3840480" cy="320040"/>
          </a:xfrm>
          <a:prstGeom prst="rect">
            <a:avLst/>
          </a:prstGeom>
          <a:noFill/>
          <a:ln/>
        </p:spPr>
        <p:txBody>
          <a:bodyPr wrap="square" lIns="0" tIns="0" rIns="0" bIns="0" rtlCol="0" anchor="ctr"/>
          <a:lstStyle/>
          <a:p>
            <a:pPr algn="l" indent="0" marL="0">
              <a:buNone/>
            </a:pPr>
            <a:r>
              <a:rPr lang="en-US" sz="1200" b="1" dirty="0">
                <a:solidFill>
                  <a:srgbClr val="14B8A6"/>
                </a:solidFill>
                <a:latin typeface="Calibri" pitchFamily="34" charset="0"/>
                <a:ea typeface="Calibri" pitchFamily="34" charset="-122"/>
                <a:cs typeface="Calibri" pitchFamily="34" charset="-120"/>
              </a:rPr>
              <a:t>IAM permissions shape architecture</a:t>
            </a:r>
            <a:endParaRPr lang="en-US" sz="1200" dirty="0"/>
          </a:p>
        </p:txBody>
      </p:sp>
      <p:sp>
        <p:nvSpPr>
          <p:cNvPr id="8" name="Text 6"/>
          <p:cNvSpPr/>
          <p:nvPr/>
        </p:nvSpPr>
        <p:spPr>
          <a:xfrm>
            <a:off x="502920" y="1956816"/>
            <a:ext cx="3840480" cy="329184"/>
          </a:xfrm>
          <a:prstGeom prst="rect">
            <a:avLst/>
          </a:prstGeom>
          <a:noFill/>
          <a:ln/>
        </p:spPr>
        <p:txBody>
          <a:bodyPr wrap="square" lIns="0" tIns="0" rIns="0" bIns="0"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S3 write restrictions forced baking the model into Docker — creative constraint solving</a:t>
            </a:r>
            <a:endParaRPr lang="en-US" sz="1050" dirty="0"/>
          </a:p>
        </p:txBody>
      </p:sp>
      <p:sp>
        <p:nvSpPr>
          <p:cNvPr id="9" name="Shape 7"/>
          <p:cNvSpPr/>
          <p:nvPr/>
        </p:nvSpPr>
        <p:spPr>
          <a:xfrm>
            <a:off x="320040" y="2423160"/>
            <a:ext cx="4114800" cy="777240"/>
          </a:xfrm>
          <a:prstGeom prst="rect">
            <a:avLst/>
          </a:prstGeom>
          <a:solidFill>
            <a:srgbClr val="1E3A5F"/>
          </a:solidFill>
          <a:ln w="6350">
            <a:solidFill>
              <a:srgbClr val="0D9488"/>
            </a:solidFill>
            <a:prstDash val="solid"/>
          </a:ln>
        </p:spPr>
      </p:sp>
      <p:sp>
        <p:nvSpPr>
          <p:cNvPr id="10" name="Shape 8"/>
          <p:cNvSpPr/>
          <p:nvPr/>
        </p:nvSpPr>
        <p:spPr>
          <a:xfrm>
            <a:off x="320040" y="2423160"/>
            <a:ext cx="73152" cy="777240"/>
          </a:xfrm>
          <a:prstGeom prst="rect">
            <a:avLst/>
          </a:prstGeom>
          <a:solidFill>
            <a:srgbClr val="14B8A6"/>
          </a:solidFill>
          <a:ln w="12700">
            <a:solidFill>
              <a:srgbClr val="14B8A6"/>
            </a:solidFill>
            <a:prstDash val="solid"/>
          </a:ln>
        </p:spPr>
      </p:sp>
      <p:sp>
        <p:nvSpPr>
          <p:cNvPr id="11" name="Text 9"/>
          <p:cNvSpPr/>
          <p:nvPr/>
        </p:nvSpPr>
        <p:spPr>
          <a:xfrm>
            <a:off x="502920" y="2468880"/>
            <a:ext cx="3840480" cy="320040"/>
          </a:xfrm>
          <a:prstGeom prst="rect">
            <a:avLst/>
          </a:prstGeom>
          <a:noFill/>
          <a:ln/>
        </p:spPr>
        <p:txBody>
          <a:bodyPr wrap="square" lIns="0" tIns="0" rIns="0" bIns="0" rtlCol="0" anchor="ctr"/>
          <a:lstStyle/>
          <a:p>
            <a:pPr algn="l" indent="0" marL="0">
              <a:buNone/>
            </a:pPr>
            <a:r>
              <a:rPr lang="en-US" sz="1200" b="1" dirty="0">
                <a:solidFill>
                  <a:srgbClr val="14B8A6"/>
                </a:solidFill>
                <a:latin typeface="Calibri" pitchFamily="34" charset="0"/>
                <a:ea typeface="Calibri" pitchFamily="34" charset="-122"/>
                <a:cs typeface="Calibri" pitchFamily="34" charset="-120"/>
              </a:rPr>
              <a:t>Container failures are hard to debug</a:t>
            </a:r>
            <a:endParaRPr lang="en-US" sz="1200" dirty="0"/>
          </a:p>
        </p:txBody>
      </p:sp>
      <p:sp>
        <p:nvSpPr>
          <p:cNvPr id="12" name="Text 10"/>
          <p:cNvSpPr/>
          <p:nvPr/>
        </p:nvSpPr>
        <p:spPr>
          <a:xfrm>
            <a:off x="502920" y="2825496"/>
            <a:ext cx="3840480" cy="329184"/>
          </a:xfrm>
          <a:prstGeom prst="rect">
            <a:avLst/>
          </a:prstGeom>
          <a:noFill/>
          <a:ln/>
        </p:spPr>
        <p:txBody>
          <a:bodyPr wrap="square" lIns="0" tIns="0" rIns="0" bIns="0"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No CloudWatch access → local smoke tests in CI are an essential safety net</a:t>
            </a:r>
            <a:endParaRPr lang="en-US" sz="1050" dirty="0"/>
          </a:p>
        </p:txBody>
      </p:sp>
      <p:sp>
        <p:nvSpPr>
          <p:cNvPr id="13" name="Shape 11"/>
          <p:cNvSpPr/>
          <p:nvPr/>
        </p:nvSpPr>
        <p:spPr>
          <a:xfrm>
            <a:off x="320040" y="3291840"/>
            <a:ext cx="4114800" cy="777240"/>
          </a:xfrm>
          <a:prstGeom prst="rect">
            <a:avLst/>
          </a:prstGeom>
          <a:solidFill>
            <a:srgbClr val="1E3A5F"/>
          </a:solidFill>
          <a:ln w="6350">
            <a:solidFill>
              <a:srgbClr val="0D9488"/>
            </a:solidFill>
            <a:prstDash val="solid"/>
          </a:ln>
        </p:spPr>
      </p:sp>
      <p:sp>
        <p:nvSpPr>
          <p:cNvPr id="14" name="Shape 12"/>
          <p:cNvSpPr/>
          <p:nvPr/>
        </p:nvSpPr>
        <p:spPr>
          <a:xfrm>
            <a:off x="320040" y="3291840"/>
            <a:ext cx="73152" cy="777240"/>
          </a:xfrm>
          <a:prstGeom prst="rect">
            <a:avLst/>
          </a:prstGeom>
          <a:solidFill>
            <a:srgbClr val="14B8A6"/>
          </a:solidFill>
          <a:ln w="12700">
            <a:solidFill>
              <a:srgbClr val="14B8A6"/>
            </a:solidFill>
            <a:prstDash val="solid"/>
          </a:ln>
        </p:spPr>
      </p:sp>
      <p:sp>
        <p:nvSpPr>
          <p:cNvPr id="15" name="Text 13"/>
          <p:cNvSpPr/>
          <p:nvPr/>
        </p:nvSpPr>
        <p:spPr>
          <a:xfrm>
            <a:off x="502920" y="3337560"/>
            <a:ext cx="3840480" cy="320040"/>
          </a:xfrm>
          <a:prstGeom prst="rect">
            <a:avLst/>
          </a:prstGeom>
          <a:noFill/>
          <a:ln/>
        </p:spPr>
        <p:txBody>
          <a:bodyPr wrap="square" lIns="0" tIns="0" rIns="0" bIns="0" rtlCol="0" anchor="ctr"/>
          <a:lstStyle/>
          <a:p>
            <a:pPr algn="l" indent="0" marL="0">
              <a:buNone/>
            </a:pPr>
            <a:r>
              <a:rPr lang="en-US" sz="1200" b="1" dirty="0">
                <a:solidFill>
                  <a:srgbClr val="14B8A6"/>
                </a:solidFill>
                <a:latin typeface="Calibri" pitchFamily="34" charset="0"/>
                <a:ea typeface="Calibri" pitchFamily="34" charset="-122"/>
                <a:cs typeface="Calibri" pitchFamily="34" charset="-120"/>
              </a:rPr>
              <a:t>DVC + GitHub Actions work well together</a:t>
            </a:r>
            <a:endParaRPr lang="en-US" sz="1200" dirty="0"/>
          </a:p>
        </p:txBody>
      </p:sp>
      <p:sp>
        <p:nvSpPr>
          <p:cNvPr id="16" name="Text 14"/>
          <p:cNvSpPr/>
          <p:nvPr/>
        </p:nvSpPr>
        <p:spPr>
          <a:xfrm>
            <a:off x="502920" y="3694176"/>
            <a:ext cx="3840480" cy="329184"/>
          </a:xfrm>
          <a:prstGeom prst="rect">
            <a:avLst/>
          </a:prstGeom>
          <a:noFill/>
          <a:ln/>
        </p:spPr>
        <p:txBody>
          <a:bodyPr wrap="square" lIns="0" tIns="0" rIns="0" bIns="0"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Artifacts API cleanly replaces cloud storage for pipeline hand-offs between jobs</a:t>
            </a:r>
            <a:endParaRPr lang="en-US" sz="1050" dirty="0"/>
          </a:p>
        </p:txBody>
      </p:sp>
      <p:sp>
        <p:nvSpPr>
          <p:cNvPr id="17" name="Shape 15"/>
          <p:cNvSpPr/>
          <p:nvPr/>
        </p:nvSpPr>
        <p:spPr>
          <a:xfrm>
            <a:off x="320040" y="4160520"/>
            <a:ext cx="4114800" cy="777240"/>
          </a:xfrm>
          <a:prstGeom prst="rect">
            <a:avLst/>
          </a:prstGeom>
          <a:solidFill>
            <a:srgbClr val="1E3A5F"/>
          </a:solidFill>
          <a:ln w="6350">
            <a:solidFill>
              <a:srgbClr val="0D9488"/>
            </a:solidFill>
            <a:prstDash val="solid"/>
          </a:ln>
        </p:spPr>
      </p:sp>
      <p:sp>
        <p:nvSpPr>
          <p:cNvPr id="18" name="Shape 16"/>
          <p:cNvSpPr/>
          <p:nvPr/>
        </p:nvSpPr>
        <p:spPr>
          <a:xfrm>
            <a:off x="320040" y="4160520"/>
            <a:ext cx="73152" cy="777240"/>
          </a:xfrm>
          <a:prstGeom prst="rect">
            <a:avLst/>
          </a:prstGeom>
          <a:solidFill>
            <a:srgbClr val="14B8A6"/>
          </a:solidFill>
          <a:ln w="12700">
            <a:solidFill>
              <a:srgbClr val="14B8A6"/>
            </a:solidFill>
            <a:prstDash val="solid"/>
          </a:ln>
        </p:spPr>
      </p:sp>
      <p:sp>
        <p:nvSpPr>
          <p:cNvPr id="19" name="Text 17"/>
          <p:cNvSpPr/>
          <p:nvPr/>
        </p:nvSpPr>
        <p:spPr>
          <a:xfrm>
            <a:off x="502920" y="4206240"/>
            <a:ext cx="3840480" cy="320040"/>
          </a:xfrm>
          <a:prstGeom prst="rect">
            <a:avLst/>
          </a:prstGeom>
          <a:noFill/>
          <a:ln/>
        </p:spPr>
        <p:txBody>
          <a:bodyPr wrap="square" lIns="0" tIns="0" rIns="0" bIns="0" rtlCol="0" anchor="ctr"/>
          <a:lstStyle/>
          <a:p>
            <a:pPr algn="l" indent="0" marL="0">
              <a:buNone/>
            </a:pPr>
            <a:r>
              <a:rPr lang="en-US" sz="1200" b="1" dirty="0">
                <a:solidFill>
                  <a:srgbClr val="14B8A6"/>
                </a:solidFill>
                <a:latin typeface="Calibri" pitchFamily="34" charset="0"/>
                <a:ea typeface="Calibri" pitchFamily="34" charset="-122"/>
                <a:cs typeface="Calibri" pitchFamily="34" charset="-120"/>
              </a:rPr>
              <a:t>Fairness is a first-class metric</a:t>
            </a:r>
            <a:endParaRPr lang="en-US" sz="1200" dirty="0"/>
          </a:p>
        </p:txBody>
      </p:sp>
      <p:sp>
        <p:nvSpPr>
          <p:cNvPr id="20" name="Text 18"/>
          <p:cNvSpPr/>
          <p:nvPr/>
        </p:nvSpPr>
        <p:spPr>
          <a:xfrm>
            <a:off x="502920" y="4562856"/>
            <a:ext cx="3840480" cy="329184"/>
          </a:xfrm>
          <a:prstGeom prst="rect">
            <a:avLst/>
          </a:prstGeom>
          <a:noFill/>
          <a:ln/>
        </p:spPr>
        <p:txBody>
          <a:bodyPr wrap="square" lIns="0" tIns="0" rIns="0" bIns="0"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Built directly into evaluate.py — runs on every model version automatically</a:t>
            </a:r>
            <a:endParaRPr lang="en-US" sz="1050" dirty="0"/>
          </a:p>
        </p:txBody>
      </p:sp>
      <p:sp>
        <p:nvSpPr>
          <p:cNvPr id="21" name="Shape 19"/>
          <p:cNvSpPr/>
          <p:nvPr/>
        </p:nvSpPr>
        <p:spPr>
          <a:xfrm>
            <a:off x="4663440" y="1005840"/>
            <a:ext cx="0" cy="3749040"/>
          </a:xfrm>
          <a:prstGeom prst="line">
            <a:avLst/>
          </a:prstGeom>
          <a:noFill/>
          <a:ln w="10160">
            <a:solidFill>
              <a:srgbClr val="0D9488">
                <a:alpha val="40000"/>
              </a:srgbClr>
            </a:solidFill>
            <a:prstDash val="solid"/>
          </a:ln>
        </p:spPr>
      </p:sp>
      <p:sp>
        <p:nvSpPr>
          <p:cNvPr id="22" name="Text 20"/>
          <p:cNvSpPr/>
          <p:nvPr/>
        </p:nvSpPr>
        <p:spPr>
          <a:xfrm>
            <a:off x="4892040" y="1005840"/>
            <a:ext cx="3931920" cy="438912"/>
          </a:xfrm>
          <a:prstGeom prst="rect">
            <a:avLst/>
          </a:prstGeom>
          <a:noFill/>
          <a:ln/>
        </p:spPr>
        <p:txBody>
          <a:bodyPr wrap="square" lIns="0" tIns="0" rIns="0" bIns="0" rtlCol="0" anchor="ctr"/>
          <a:lstStyle/>
          <a:p>
            <a:pPr indent="0" marL="0">
              <a:buNone/>
            </a:pPr>
            <a:r>
              <a:rPr lang="en-US" sz="1700" b="1" dirty="0">
                <a:solidFill>
                  <a:srgbClr val="14B8A6"/>
                </a:solidFill>
                <a:latin typeface="Georgia" pitchFamily="34" charset="0"/>
                <a:ea typeface="Georgia" pitchFamily="34" charset="-122"/>
                <a:cs typeface="Georgia" pitchFamily="34" charset="-120"/>
              </a:rPr>
              <a:t>Next Steps</a:t>
            </a:r>
            <a:endParaRPr lang="en-US" sz="1700" dirty="0"/>
          </a:p>
        </p:txBody>
      </p:sp>
      <p:sp>
        <p:nvSpPr>
          <p:cNvPr id="23" name="Shape 21"/>
          <p:cNvSpPr/>
          <p:nvPr/>
        </p:nvSpPr>
        <p:spPr>
          <a:xfrm>
            <a:off x="4892040" y="1554480"/>
            <a:ext cx="3931920" cy="777240"/>
          </a:xfrm>
          <a:prstGeom prst="rect">
            <a:avLst/>
          </a:prstGeom>
          <a:solidFill>
            <a:srgbClr val="1E3A5F"/>
          </a:solidFill>
          <a:ln w="6350">
            <a:solidFill>
              <a:srgbClr val="0D9488"/>
            </a:solidFill>
            <a:prstDash val="solid"/>
          </a:ln>
        </p:spPr>
      </p:sp>
      <p:sp>
        <p:nvSpPr>
          <p:cNvPr id="24" name="Shape 22"/>
          <p:cNvSpPr/>
          <p:nvPr/>
        </p:nvSpPr>
        <p:spPr>
          <a:xfrm>
            <a:off x="4892040" y="1554480"/>
            <a:ext cx="73152" cy="777240"/>
          </a:xfrm>
          <a:prstGeom prst="rect">
            <a:avLst/>
          </a:prstGeom>
          <a:solidFill>
            <a:srgbClr val="14B8A6"/>
          </a:solidFill>
          <a:ln w="12700">
            <a:solidFill>
              <a:srgbClr val="14B8A6"/>
            </a:solidFill>
            <a:prstDash val="solid"/>
          </a:ln>
        </p:spPr>
      </p:sp>
      <p:sp>
        <p:nvSpPr>
          <p:cNvPr id="25" name="Text 23"/>
          <p:cNvSpPr/>
          <p:nvPr/>
        </p:nvSpPr>
        <p:spPr>
          <a:xfrm>
            <a:off x="5074920" y="1600200"/>
            <a:ext cx="3657600" cy="320040"/>
          </a:xfrm>
          <a:prstGeom prst="rect">
            <a:avLst/>
          </a:prstGeom>
          <a:noFill/>
          <a:ln/>
        </p:spPr>
        <p:txBody>
          <a:bodyPr wrap="square" lIns="0" tIns="0" rIns="0" bIns="0" rtlCol="0" anchor="ctr"/>
          <a:lstStyle/>
          <a:p>
            <a:pPr algn="l" indent="0" marL="0">
              <a:buNone/>
            </a:pPr>
            <a:r>
              <a:rPr lang="en-US" sz="1200" b="1" dirty="0">
                <a:solidFill>
                  <a:srgbClr val="14B8A6"/>
                </a:solidFill>
                <a:latin typeface="Calibri" pitchFamily="34" charset="0"/>
                <a:ea typeface="Calibri" pitchFamily="34" charset="-122"/>
                <a:cs typeface="Calibri" pitchFamily="34" charset="-120"/>
              </a:rPr>
              <a:t>A/B Testing</a:t>
            </a:r>
            <a:endParaRPr lang="en-US" sz="1200" dirty="0"/>
          </a:p>
        </p:txBody>
      </p:sp>
      <p:sp>
        <p:nvSpPr>
          <p:cNvPr id="26" name="Text 24"/>
          <p:cNvSpPr/>
          <p:nvPr/>
        </p:nvSpPr>
        <p:spPr>
          <a:xfrm>
            <a:off x="5074920" y="1956816"/>
            <a:ext cx="3657600" cy="329184"/>
          </a:xfrm>
          <a:prstGeom prst="rect">
            <a:avLst/>
          </a:prstGeom>
          <a:noFill/>
          <a:ln/>
        </p:spPr>
        <p:txBody>
          <a:bodyPr wrap="square" lIns="0" tIns="0" rIns="0" bIns="0"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Champion/challenger endpoints with traffic splitting by real-world conversion</a:t>
            </a:r>
            <a:endParaRPr lang="en-US" sz="1050" dirty="0"/>
          </a:p>
        </p:txBody>
      </p:sp>
      <p:sp>
        <p:nvSpPr>
          <p:cNvPr id="27" name="Shape 25"/>
          <p:cNvSpPr/>
          <p:nvPr/>
        </p:nvSpPr>
        <p:spPr>
          <a:xfrm>
            <a:off x="4892040" y="2423160"/>
            <a:ext cx="3931920" cy="777240"/>
          </a:xfrm>
          <a:prstGeom prst="rect">
            <a:avLst/>
          </a:prstGeom>
          <a:solidFill>
            <a:srgbClr val="1E3A5F"/>
          </a:solidFill>
          <a:ln w="6350">
            <a:solidFill>
              <a:srgbClr val="0D9488"/>
            </a:solidFill>
            <a:prstDash val="solid"/>
          </a:ln>
        </p:spPr>
      </p:sp>
      <p:sp>
        <p:nvSpPr>
          <p:cNvPr id="28" name="Shape 26"/>
          <p:cNvSpPr/>
          <p:nvPr/>
        </p:nvSpPr>
        <p:spPr>
          <a:xfrm>
            <a:off x="4892040" y="2423160"/>
            <a:ext cx="73152" cy="777240"/>
          </a:xfrm>
          <a:prstGeom prst="rect">
            <a:avLst/>
          </a:prstGeom>
          <a:solidFill>
            <a:srgbClr val="14B8A6"/>
          </a:solidFill>
          <a:ln w="12700">
            <a:solidFill>
              <a:srgbClr val="14B8A6"/>
            </a:solidFill>
            <a:prstDash val="solid"/>
          </a:ln>
        </p:spPr>
      </p:sp>
      <p:sp>
        <p:nvSpPr>
          <p:cNvPr id="29" name="Text 27"/>
          <p:cNvSpPr/>
          <p:nvPr/>
        </p:nvSpPr>
        <p:spPr>
          <a:xfrm>
            <a:off x="5074920" y="2468880"/>
            <a:ext cx="3657600" cy="320040"/>
          </a:xfrm>
          <a:prstGeom prst="rect">
            <a:avLst/>
          </a:prstGeom>
          <a:noFill/>
          <a:ln/>
        </p:spPr>
        <p:txBody>
          <a:bodyPr wrap="square" lIns="0" tIns="0" rIns="0" bIns="0" rtlCol="0" anchor="ctr"/>
          <a:lstStyle/>
          <a:p>
            <a:pPr algn="l" indent="0" marL="0">
              <a:buNone/>
            </a:pPr>
            <a:r>
              <a:rPr lang="en-US" sz="1200" b="1" dirty="0">
                <a:solidFill>
                  <a:srgbClr val="14B8A6"/>
                </a:solidFill>
                <a:latin typeface="Calibri" pitchFamily="34" charset="0"/>
                <a:ea typeface="Calibri" pitchFamily="34" charset="-122"/>
                <a:cs typeface="Calibri" pitchFamily="34" charset="-120"/>
              </a:rPr>
              <a:t>Auto-Retraining</a:t>
            </a:r>
            <a:endParaRPr lang="en-US" sz="1200" dirty="0"/>
          </a:p>
        </p:txBody>
      </p:sp>
      <p:sp>
        <p:nvSpPr>
          <p:cNvPr id="30" name="Text 28"/>
          <p:cNvSpPr/>
          <p:nvPr/>
        </p:nvSpPr>
        <p:spPr>
          <a:xfrm>
            <a:off x="5074920" y="2825496"/>
            <a:ext cx="3657600" cy="329184"/>
          </a:xfrm>
          <a:prstGeom prst="rect">
            <a:avLst/>
          </a:prstGeom>
          <a:noFill/>
          <a:ln/>
        </p:spPr>
        <p:txBody>
          <a:bodyPr wrap="square" lIns="0" tIns="0" rIns="0" bIns="0"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Trigger pipeline when PSI drift score exceeds 0.2 — close the feedback loop</a:t>
            </a:r>
            <a:endParaRPr lang="en-US" sz="1050" dirty="0"/>
          </a:p>
        </p:txBody>
      </p:sp>
      <p:sp>
        <p:nvSpPr>
          <p:cNvPr id="31" name="Shape 29"/>
          <p:cNvSpPr/>
          <p:nvPr/>
        </p:nvSpPr>
        <p:spPr>
          <a:xfrm>
            <a:off x="4892040" y="3291840"/>
            <a:ext cx="3931920" cy="777240"/>
          </a:xfrm>
          <a:prstGeom prst="rect">
            <a:avLst/>
          </a:prstGeom>
          <a:solidFill>
            <a:srgbClr val="1E3A5F"/>
          </a:solidFill>
          <a:ln w="6350">
            <a:solidFill>
              <a:srgbClr val="0D9488"/>
            </a:solidFill>
            <a:prstDash val="solid"/>
          </a:ln>
        </p:spPr>
      </p:sp>
      <p:sp>
        <p:nvSpPr>
          <p:cNvPr id="32" name="Shape 30"/>
          <p:cNvSpPr/>
          <p:nvPr/>
        </p:nvSpPr>
        <p:spPr>
          <a:xfrm>
            <a:off x="4892040" y="3291840"/>
            <a:ext cx="73152" cy="777240"/>
          </a:xfrm>
          <a:prstGeom prst="rect">
            <a:avLst/>
          </a:prstGeom>
          <a:solidFill>
            <a:srgbClr val="14B8A6"/>
          </a:solidFill>
          <a:ln w="12700">
            <a:solidFill>
              <a:srgbClr val="14B8A6"/>
            </a:solidFill>
            <a:prstDash val="solid"/>
          </a:ln>
        </p:spPr>
      </p:sp>
      <p:sp>
        <p:nvSpPr>
          <p:cNvPr id="33" name="Text 31"/>
          <p:cNvSpPr/>
          <p:nvPr/>
        </p:nvSpPr>
        <p:spPr>
          <a:xfrm>
            <a:off x="5074920" y="3337560"/>
            <a:ext cx="3657600" cy="320040"/>
          </a:xfrm>
          <a:prstGeom prst="rect">
            <a:avLst/>
          </a:prstGeom>
          <a:noFill/>
          <a:ln/>
        </p:spPr>
        <p:txBody>
          <a:bodyPr wrap="square" lIns="0" tIns="0" rIns="0" bIns="0" rtlCol="0" anchor="ctr"/>
          <a:lstStyle/>
          <a:p>
            <a:pPr algn="l" indent="0" marL="0">
              <a:buNone/>
            </a:pPr>
            <a:r>
              <a:rPr lang="en-US" sz="1200" b="1" dirty="0">
                <a:solidFill>
                  <a:srgbClr val="14B8A6"/>
                </a:solidFill>
                <a:latin typeface="Calibri" pitchFamily="34" charset="0"/>
                <a:ea typeface="Calibri" pitchFamily="34" charset="-122"/>
                <a:cs typeface="Calibri" pitchFamily="34" charset="-120"/>
              </a:rPr>
              <a:t>Feature Store</a:t>
            </a:r>
            <a:endParaRPr lang="en-US" sz="1200" dirty="0"/>
          </a:p>
        </p:txBody>
      </p:sp>
      <p:sp>
        <p:nvSpPr>
          <p:cNvPr id="34" name="Text 32"/>
          <p:cNvSpPr/>
          <p:nvPr/>
        </p:nvSpPr>
        <p:spPr>
          <a:xfrm>
            <a:off x="5074920" y="3694176"/>
            <a:ext cx="3657600" cy="329184"/>
          </a:xfrm>
          <a:prstGeom prst="rect">
            <a:avLst/>
          </a:prstGeom>
          <a:noFill/>
          <a:ln/>
        </p:spPr>
        <p:txBody>
          <a:bodyPr wrap="square" lIns="0" tIns="0" rIns="0" bIns="0"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SageMaker Feature Store for real-time serving and cross-team consistency</a:t>
            </a:r>
            <a:endParaRPr lang="en-US" sz="1050" dirty="0"/>
          </a:p>
        </p:txBody>
      </p:sp>
      <p:sp>
        <p:nvSpPr>
          <p:cNvPr id="35" name="Shape 33"/>
          <p:cNvSpPr/>
          <p:nvPr/>
        </p:nvSpPr>
        <p:spPr>
          <a:xfrm>
            <a:off x="4892040" y="4160520"/>
            <a:ext cx="3931920" cy="777240"/>
          </a:xfrm>
          <a:prstGeom prst="rect">
            <a:avLst/>
          </a:prstGeom>
          <a:solidFill>
            <a:srgbClr val="1E3A5F"/>
          </a:solidFill>
          <a:ln w="6350">
            <a:solidFill>
              <a:srgbClr val="0D9488"/>
            </a:solidFill>
            <a:prstDash val="solid"/>
          </a:ln>
        </p:spPr>
      </p:sp>
      <p:sp>
        <p:nvSpPr>
          <p:cNvPr id="36" name="Shape 34"/>
          <p:cNvSpPr/>
          <p:nvPr/>
        </p:nvSpPr>
        <p:spPr>
          <a:xfrm>
            <a:off x="4892040" y="4160520"/>
            <a:ext cx="73152" cy="777240"/>
          </a:xfrm>
          <a:prstGeom prst="rect">
            <a:avLst/>
          </a:prstGeom>
          <a:solidFill>
            <a:srgbClr val="14B8A6"/>
          </a:solidFill>
          <a:ln w="12700">
            <a:solidFill>
              <a:srgbClr val="14B8A6"/>
            </a:solidFill>
            <a:prstDash val="solid"/>
          </a:ln>
        </p:spPr>
      </p:sp>
      <p:sp>
        <p:nvSpPr>
          <p:cNvPr id="37" name="Text 35"/>
          <p:cNvSpPr/>
          <p:nvPr/>
        </p:nvSpPr>
        <p:spPr>
          <a:xfrm>
            <a:off x="5074920" y="4206240"/>
            <a:ext cx="3657600" cy="320040"/>
          </a:xfrm>
          <a:prstGeom prst="rect">
            <a:avLst/>
          </a:prstGeom>
          <a:noFill/>
          <a:ln/>
        </p:spPr>
        <p:txBody>
          <a:bodyPr wrap="square" lIns="0" tIns="0" rIns="0" bIns="0" rtlCol="0" anchor="ctr"/>
          <a:lstStyle/>
          <a:p>
            <a:pPr algn="l" indent="0" marL="0">
              <a:buNone/>
            </a:pPr>
            <a:r>
              <a:rPr lang="en-US" sz="1200" b="1" dirty="0">
                <a:solidFill>
                  <a:srgbClr val="14B8A6"/>
                </a:solidFill>
                <a:latin typeface="Calibri" pitchFamily="34" charset="0"/>
                <a:ea typeface="Calibri" pitchFamily="34" charset="-122"/>
                <a:cs typeface="Calibri" pitchFamily="34" charset="-120"/>
              </a:rPr>
              <a:t>SageMaker Pipelines</a:t>
            </a:r>
            <a:endParaRPr lang="en-US" sz="1200" dirty="0"/>
          </a:p>
        </p:txBody>
      </p:sp>
      <p:sp>
        <p:nvSpPr>
          <p:cNvPr id="38" name="Text 36"/>
          <p:cNvSpPr/>
          <p:nvPr/>
        </p:nvSpPr>
        <p:spPr>
          <a:xfrm>
            <a:off x="5074920" y="4562856"/>
            <a:ext cx="3657600" cy="329184"/>
          </a:xfrm>
          <a:prstGeom prst="rect">
            <a:avLst/>
          </a:prstGeom>
          <a:noFill/>
          <a:ln/>
        </p:spPr>
        <p:txBody>
          <a:bodyPr wrap="square" lIns="0" tIns="0" rIns="0" bIns="0" rtlCol="0" anchor="ctr"/>
          <a:lstStyle/>
          <a:p>
            <a:pPr algn="l" indent="0" marL="0">
              <a:buNone/>
            </a:pPr>
            <a:r>
              <a:rPr lang="en-US" sz="1050" dirty="0">
                <a:solidFill>
                  <a:srgbClr val="CBD5E1"/>
                </a:solidFill>
                <a:latin typeface="Calibri" pitchFamily="34" charset="0"/>
                <a:ea typeface="Calibri" pitchFamily="34" charset="-122"/>
                <a:cs typeface="Calibri" pitchFamily="34" charset="-120"/>
              </a:rPr>
              <a:t>Replace GitHub Actions CD with native SM Pipelines for step caching + lineage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Shape 1"/>
          <p:cNvSpPr/>
          <p:nvPr/>
        </p:nvSpPr>
        <p:spPr>
          <a:xfrm>
            <a:off x="5943600" y="-731520"/>
            <a:ext cx="4754880" cy="4754880"/>
          </a:xfrm>
          <a:prstGeom prst="ellipse">
            <a:avLst/>
          </a:prstGeom>
          <a:solidFill>
            <a:srgbClr val="0D9488">
              <a:alpha val="10000"/>
            </a:srgbClr>
          </a:solidFill>
          <a:ln w="6350">
            <a:solidFill>
              <a:srgbClr val="14B8A6">
                <a:alpha val="25000"/>
              </a:srgbClr>
            </a:solidFill>
            <a:prstDash val="solid"/>
          </a:ln>
        </p:spPr>
      </p:sp>
      <p:sp>
        <p:nvSpPr>
          <p:cNvPr id="4" name="Text 2"/>
          <p:cNvSpPr/>
          <p:nvPr/>
        </p:nvSpPr>
        <p:spPr>
          <a:xfrm>
            <a:off x="457200" y="640080"/>
            <a:ext cx="5943600" cy="1188720"/>
          </a:xfrm>
          <a:prstGeom prst="rect">
            <a:avLst/>
          </a:prstGeom>
          <a:noFill/>
          <a:ln/>
        </p:spPr>
        <p:txBody>
          <a:bodyPr wrap="square" lIns="0" tIns="0" rIns="0" bIns="0" rtlCol="0" anchor="ctr"/>
          <a:lstStyle/>
          <a:p>
            <a:pPr algn="l" indent="0" marL="0">
              <a:buNone/>
            </a:pPr>
            <a:r>
              <a:rPr lang="en-US" sz="5800" b="1" dirty="0">
                <a:solidFill>
                  <a:srgbClr val="FFFFFF"/>
                </a:solidFill>
                <a:latin typeface="Georgia" pitchFamily="34" charset="0"/>
                <a:ea typeface="Georgia" pitchFamily="34" charset="-122"/>
                <a:cs typeface="Georgia" pitchFamily="34" charset="-120"/>
              </a:rPr>
              <a:t>Thank You</a:t>
            </a:r>
            <a:endParaRPr lang="en-US" sz="5800" dirty="0"/>
          </a:p>
        </p:txBody>
      </p:sp>
      <p:sp>
        <p:nvSpPr>
          <p:cNvPr id="5" name="Text 3"/>
          <p:cNvSpPr/>
          <p:nvPr/>
        </p:nvSpPr>
        <p:spPr>
          <a:xfrm>
            <a:off x="457200" y="1920240"/>
            <a:ext cx="6400800" cy="457200"/>
          </a:xfrm>
          <a:prstGeom prst="rect">
            <a:avLst/>
          </a:prstGeom>
          <a:noFill/>
          <a:ln/>
        </p:spPr>
        <p:txBody>
          <a:bodyPr wrap="square" lIns="0" tIns="0" rIns="0" bIns="0" rtlCol="0" anchor="ctr"/>
          <a:lstStyle/>
          <a:p>
            <a:pPr algn="l" indent="0" marL="0">
              <a:buNone/>
            </a:pPr>
            <a:r>
              <a:rPr lang="en-US" sz="1600" dirty="0">
                <a:solidFill>
                  <a:srgbClr val="14B8A6"/>
                </a:solidFill>
                <a:latin typeface="Calibri" pitchFamily="34" charset="0"/>
                <a:ea typeface="Calibri" pitchFamily="34" charset="-122"/>
                <a:cs typeface="Calibri" pitchFamily="34" charset="-120"/>
              </a:rPr>
              <a:t>MLOps Credit Scoring Pipeline — End-to-End</a:t>
            </a:r>
            <a:endParaRPr lang="en-US" sz="1600" dirty="0"/>
          </a:p>
        </p:txBody>
      </p:sp>
      <p:sp>
        <p:nvSpPr>
          <p:cNvPr id="6" name="Shape 4"/>
          <p:cNvSpPr/>
          <p:nvPr/>
        </p:nvSpPr>
        <p:spPr>
          <a:xfrm>
            <a:off x="457200" y="2578608"/>
            <a:ext cx="1920240" cy="1115568"/>
          </a:xfrm>
          <a:prstGeom prst="rect">
            <a:avLst/>
          </a:prstGeom>
          <a:solidFill>
            <a:srgbClr val="1E3A5F"/>
          </a:solidFill>
          <a:ln w="12700">
            <a:solidFill>
              <a:srgbClr val="0D9488"/>
            </a:solidFill>
            <a:prstDash val="solid"/>
          </a:ln>
        </p:spPr>
      </p:sp>
      <p:sp>
        <p:nvSpPr>
          <p:cNvPr id="7" name="Text 5"/>
          <p:cNvSpPr/>
          <p:nvPr/>
        </p:nvSpPr>
        <p:spPr>
          <a:xfrm>
            <a:off x="457200" y="2688336"/>
            <a:ext cx="1920240" cy="594360"/>
          </a:xfrm>
          <a:prstGeom prst="rect">
            <a:avLst/>
          </a:prstGeom>
          <a:noFill/>
          <a:ln/>
        </p:spPr>
        <p:txBody>
          <a:bodyPr wrap="square" lIns="0" tIns="0" rIns="0" bIns="0" rtlCol="0" anchor="ctr"/>
          <a:lstStyle/>
          <a:p>
            <a:pPr algn="ctr" indent="0" marL="0">
              <a:buNone/>
            </a:pPr>
            <a:r>
              <a:rPr lang="en-US" sz="2600" b="1" dirty="0">
                <a:solidFill>
                  <a:srgbClr val="14B8A6"/>
                </a:solidFill>
                <a:latin typeface="Georgia" pitchFamily="34" charset="0"/>
                <a:ea typeface="Georgia" pitchFamily="34" charset="-122"/>
                <a:cs typeface="Georgia" pitchFamily="34" charset="-120"/>
              </a:rPr>
              <a:t>0.778</a:t>
            </a:r>
            <a:endParaRPr lang="en-US" sz="2600" dirty="0"/>
          </a:p>
        </p:txBody>
      </p:sp>
      <p:sp>
        <p:nvSpPr>
          <p:cNvPr id="8" name="Text 6"/>
          <p:cNvSpPr/>
          <p:nvPr/>
        </p:nvSpPr>
        <p:spPr>
          <a:xfrm>
            <a:off x="457200" y="3291840"/>
            <a:ext cx="19202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AUC-ROC</a:t>
            </a:r>
            <a:endParaRPr lang="en-US" sz="1100" dirty="0"/>
          </a:p>
        </p:txBody>
      </p:sp>
      <p:sp>
        <p:nvSpPr>
          <p:cNvPr id="9" name="Shape 7"/>
          <p:cNvSpPr/>
          <p:nvPr/>
        </p:nvSpPr>
        <p:spPr>
          <a:xfrm>
            <a:off x="2578608" y="2578608"/>
            <a:ext cx="1920240" cy="1115568"/>
          </a:xfrm>
          <a:prstGeom prst="rect">
            <a:avLst/>
          </a:prstGeom>
          <a:solidFill>
            <a:srgbClr val="1E3A5F"/>
          </a:solidFill>
          <a:ln w="12700">
            <a:solidFill>
              <a:srgbClr val="0D9488"/>
            </a:solidFill>
            <a:prstDash val="solid"/>
          </a:ln>
        </p:spPr>
      </p:sp>
      <p:sp>
        <p:nvSpPr>
          <p:cNvPr id="10" name="Text 8"/>
          <p:cNvSpPr/>
          <p:nvPr/>
        </p:nvSpPr>
        <p:spPr>
          <a:xfrm>
            <a:off x="2578608" y="2688336"/>
            <a:ext cx="1920240" cy="594360"/>
          </a:xfrm>
          <a:prstGeom prst="rect">
            <a:avLst/>
          </a:prstGeom>
          <a:noFill/>
          <a:ln/>
        </p:spPr>
        <p:txBody>
          <a:bodyPr wrap="square" lIns="0" tIns="0" rIns="0" bIns="0" rtlCol="0" anchor="ctr"/>
          <a:lstStyle/>
          <a:p>
            <a:pPr algn="ctr" indent="0" marL="0">
              <a:buNone/>
            </a:pPr>
            <a:r>
              <a:rPr lang="en-US" sz="2600" b="1" dirty="0">
                <a:solidFill>
                  <a:srgbClr val="14B8A6"/>
                </a:solidFill>
                <a:latin typeface="Georgia" pitchFamily="34" charset="0"/>
                <a:ea typeface="Georgia" pitchFamily="34" charset="-122"/>
                <a:cs typeface="Georgia" pitchFamily="34" charset="-120"/>
              </a:rPr>
              <a:t>13</a:t>
            </a:r>
            <a:endParaRPr lang="en-US" sz="2600" dirty="0"/>
          </a:p>
        </p:txBody>
      </p:sp>
      <p:sp>
        <p:nvSpPr>
          <p:cNvPr id="11" name="Text 9"/>
          <p:cNvSpPr/>
          <p:nvPr/>
        </p:nvSpPr>
        <p:spPr>
          <a:xfrm>
            <a:off x="2578608" y="3291840"/>
            <a:ext cx="19202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Unit Tests</a:t>
            </a:r>
            <a:endParaRPr lang="en-US" sz="1100" dirty="0"/>
          </a:p>
        </p:txBody>
      </p:sp>
      <p:sp>
        <p:nvSpPr>
          <p:cNvPr id="12" name="Shape 10"/>
          <p:cNvSpPr/>
          <p:nvPr/>
        </p:nvSpPr>
        <p:spPr>
          <a:xfrm>
            <a:off x="4700016" y="2578608"/>
            <a:ext cx="1920240" cy="1115568"/>
          </a:xfrm>
          <a:prstGeom prst="rect">
            <a:avLst/>
          </a:prstGeom>
          <a:solidFill>
            <a:srgbClr val="1E3A5F"/>
          </a:solidFill>
          <a:ln w="12700">
            <a:solidFill>
              <a:srgbClr val="0D9488"/>
            </a:solidFill>
            <a:prstDash val="solid"/>
          </a:ln>
        </p:spPr>
      </p:sp>
      <p:sp>
        <p:nvSpPr>
          <p:cNvPr id="13" name="Text 11"/>
          <p:cNvSpPr/>
          <p:nvPr/>
        </p:nvSpPr>
        <p:spPr>
          <a:xfrm>
            <a:off x="4700016" y="2688336"/>
            <a:ext cx="1920240" cy="594360"/>
          </a:xfrm>
          <a:prstGeom prst="rect">
            <a:avLst/>
          </a:prstGeom>
          <a:noFill/>
          <a:ln/>
        </p:spPr>
        <p:txBody>
          <a:bodyPr wrap="square" lIns="0" tIns="0" rIns="0" bIns="0" rtlCol="0" anchor="ctr"/>
          <a:lstStyle/>
          <a:p>
            <a:pPr algn="ctr" indent="0" marL="0">
              <a:buNone/>
            </a:pPr>
            <a:r>
              <a:rPr lang="en-US" sz="2600" b="1" dirty="0">
                <a:solidFill>
                  <a:srgbClr val="14B8A6"/>
                </a:solidFill>
                <a:latin typeface="Georgia" pitchFamily="34" charset="0"/>
                <a:ea typeface="Georgia" pitchFamily="34" charset="-122"/>
                <a:cs typeface="Georgia" pitchFamily="34" charset="-120"/>
              </a:rPr>
              <a:t>4 Stages</a:t>
            </a:r>
            <a:endParaRPr lang="en-US" sz="2600" dirty="0"/>
          </a:p>
        </p:txBody>
      </p:sp>
      <p:sp>
        <p:nvSpPr>
          <p:cNvPr id="14" name="Text 12"/>
          <p:cNvSpPr/>
          <p:nvPr/>
        </p:nvSpPr>
        <p:spPr>
          <a:xfrm>
            <a:off x="4700016" y="3291840"/>
            <a:ext cx="19202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DVC Pipeline</a:t>
            </a:r>
            <a:endParaRPr lang="en-US" sz="1100" dirty="0"/>
          </a:p>
        </p:txBody>
      </p:sp>
      <p:sp>
        <p:nvSpPr>
          <p:cNvPr id="15" name="Shape 13"/>
          <p:cNvSpPr/>
          <p:nvPr/>
        </p:nvSpPr>
        <p:spPr>
          <a:xfrm>
            <a:off x="6821424" y="2578608"/>
            <a:ext cx="1920240" cy="1115568"/>
          </a:xfrm>
          <a:prstGeom prst="rect">
            <a:avLst/>
          </a:prstGeom>
          <a:solidFill>
            <a:srgbClr val="1E3A5F"/>
          </a:solidFill>
          <a:ln w="12700">
            <a:solidFill>
              <a:srgbClr val="0D9488"/>
            </a:solidFill>
            <a:prstDash val="solid"/>
          </a:ln>
        </p:spPr>
      </p:sp>
      <p:sp>
        <p:nvSpPr>
          <p:cNvPr id="16" name="Text 14"/>
          <p:cNvSpPr/>
          <p:nvPr/>
        </p:nvSpPr>
        <p:spPr>
          <a:xfrm>
            <a:off x="6821424" y="2688336"/>
            <a:ext cx="1920240" cy="594360"/>
          </a:xfrm>
          <a:prstGeom prst="rect">
            <a:avLst/>
          </a:prstGeom>
          <a:noFill/>
          <a:ln/>
        </p:spPr>
        <p:txBody>
          <a:bodyPr wrap="square" lIns="0" tIns="0" rIns="0" bIns="0" rtlCol="0" anchor="ctr"/>
          <a:lstStyle/>
          <a:p>
            <a:pPr algn="ctr" indent="0" marL="0">
              <a:buNone/>
            </a:pPr>
            <a:r>
              <a:rPr lang="en-US" sz="2600" b="1" dirty="0">
                <a:solidFill>
                  <a:srgbClr val="14B8A6"/>
                </a:solidFill>
                <a:latin typeface="Georgia" pitchFamily="34" charset="0"/>
                <a:ea typeface="Georgia" pitchFamily="34" charset="-122"/>
                <a:cs typeface="Georgia" pitchFamily="34" charset="-120"/>
              </a:rPr>
              <a:t>AWS SM</a:t>
            </a:r>
            <a:endParaRPr lang="en-US" sz="2600" dirty="0"/>
          </a:p>
        </p:txBody>
      </p:sp>
      <p:sp>
        <p:nvSpPr>
          <p:cNvPr id="17" name="Text 15"/>
          <p:cNvSpPr/>
          <p:nvPr/>
        </p:nvSpPr>
        <p:spPr>
          <a:xfrm>
            <a:off x="6821424" y="3291840"/>
            <a:ext cx="1920240" cy="320040"/>
          </a:xfrm>
          <a:prstGeom prst="rect">
            <a:avLst/>
          </a:prstGeom>
          <a:noFill/>
          <a:ln/>
        </p:spPr>
        <p:txBody>
          <a:bodyPr wrap="square" lIns="0" tIns="0" rIns="0" bIns="0" rtlCol="0" anchor="ctr"/>
          <a:lstStyle/>
          <a:p>
            <a:pPr algn="ctr" indent="0" marL="0">
              <a:buNone/>
            </a:pPr>
            <a:r>
              <a:rPr lang="en-US" sz="1100" dirty="0">
                <a:solidFill>
                  <a:srgbClr val="64748B"/>
                </a:solidFill>
                <a:latin typeface="Calibri" pitchFamily="34" charset="0"/>
                <a:ea typeface="Calibri" pitchFamily="34" charset="-122"/>
                <a:cs typeface="Calibri" pitchFamily="34" charset="-120"/>
              </a:rPr>
              <a:t>Deployment</a:t>
            </a:r>
            <a:endParaRPr lang="en-US" sz="1100" dirty="0"/>
          </a:p>
        </p:txBody>
      </p:sp>
      <p:sp>
        <p:nvSpPr>
          <p:cNvPr id="18" name="Shape 16"/>
          <p:cNvSpPr/>
          <p:nvPr/>
        </p:nvSpPr>
        <p:spPr>
          <a:xfrm>
            <a:off x="457200" y="3913632"/>
            <a:ext cx="5047488" cy="457200"/>
          </a:xfrm>
          <a:prstGeom prst="rect">
            <a:avLst/>
          </a:prstGeom>
          <a:solidFill>
            <a:srgbClr val="1E3A5F"/>
          </a:solidFill>
          <a:ln w="12700">
            <a:solidFill>
              <a:srgbClr val="0D9488"/>
            </a:solidFill>
            <a:prstDash val="solid"/>
          </a:ln>
        </p:spPr>
      </p:sp>
      <p:sp>
        <p:nvSpPr>
          <p:cNvPr id="19" name="Text 17"/>
          <p:cNvSpPr/>
          <p:nvPr/>
        </p:nvSpPr>
        <p:spPr>
          <a:xfrm>
            <a:off x="457200" y="3913632"/>
            <a:ext cx="5047488" cy="457200"/>
          </a:xfrm>
          <a:prstGeom prst="rect">
            <a:avLst/>
          </a:prstGeom>
          <a:noFill/>
          <a:ln/>
        </p:spPr>
        <p:txBody>
          <a:bodyPr wrap="square" lIns="0" tIns="0" rIns="0" bIns="0" rtlCol="0" anchor="ctr"/>
          <a:lstStyle/>
          <a:p>
            <a:pPr algn="ctr" indent="0" marL="0">
              <a:buNone/>
            </a:pPr>
            <a:r>
              <a:rPr lang="en-US" sz="1300" dirty="0">
                <a:solidFill>
                  <a:srgbClr val="14B8A6"/>
                </a:solidFill>
                <a:latin typeface="Calibri" pitchFamily="34" charset="0"/>
                <a:ea typeface="Calibri" pitchFamily="34" charset="-122"/>
                <a:cs typeface="Calibri" pitchFamily="34" charset="-120"/>
              </a:rPr>
              <a:t>github.com/kholostovamk/mlops-credit-scoring</a:t>
            </a:r>
            <a:endParaRPr lang="en-US" sz="1300" dirty="0"/>
          </a:p>
        </p:txBody>
      </p:sp>
      <p:sp>
        <p:nvSpPr>
          <p:cNvPr id="20" name="Text 18"/>
          <p:cNvSpPr/>
          <p:nvPr/>
        </p:nvSpPr>
        <p:spPr>
          <a:xfrm>
            <a:off x="457200" y="4572000"/>
            <a:ext cx="4114800" cy="320040"/>
          </a:xfrm>
          <a:prstGeom prst="rect">
            <a:avLst/>
          </a:prstGeom>
          <a:noFill/>
          <a:ln/>
        </p:spPr>
        <p:txBody>
          <a:bodyPr wrap="square" lIns="0" tIns="0" rIns="0" bIns="0" rtlCol="0" anchor="ctr"/>
          <a:lstStyle/>
          <a:p>
            <a:pPr algn="l" indent="0" marL="0">
              <a:buNone/>
            </a:pPr>
            <a:r>
              <a:rPr lang="en-US" sz="1100" dirty="0">
                <a:solidFill>
                  <a:srgbClr val="64748B"/>
                </a:solidFill>
                <a:latin typeface="Calibri" pitchFamily="34" charset="0"/>
                <a:ea typeface="Calibri" pitchFamily="34" charset="-122"/>
                <a:cs typeface="Calibri" pitchFamily="34" charset="-120"/>
              </a:rPr>
              <a:t>Margo Kholostova  ·  April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Credit Scoring Pipeline</dc:title>
  <dc:subject>PptxGenJS Presentation</dc:subject>
  <dc:creator>Margo Kholostova</dc:creator>
  <cp:lastModifiedBy>Margo Kholostova</cp:lastModifiedBy>
  <cp:revision>1</cp:revision>
  <dcterms:created xsi:type="dcterms:W3CDTF">2026-04-21T00:23:14Z</dcterms:created>
  <dcterms:modified xsi:type="dcterms:W3CDTF">2026-04-21T00:23:14Z</dcterms:modified>
</cp:coreProperties>
</file>